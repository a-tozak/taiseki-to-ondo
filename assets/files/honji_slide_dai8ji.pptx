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授業のはじめに映して、今日の流れを確かめます。上の札は、どのスライドでも同じ位置に出ます。いまの活動の札が黄色になり、「いまここ」が付きます。済んだ札には✓が付きます。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空欄は、子どもの言葉を聞きながら板書でうめます（変わり方のちがいまで）。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輪はまだ見せません。玉だけを班に1つずつ配ります。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黒板には、同じ文の掲示物（A3）を貼ります。空欄に入る言葉を考えさせてから、次のスライドで「金ぞく」を入れます。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付箋は色だけで分けず、はじめに「変わる」「変わらない」と書かせます。書き出せない子には「空気や水のときはどうだったかな」と声をかけます。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理由を「空気や水の学習から」と「生活の中から」に分けて板書します。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ここで初めて輪を見せ、あたためる前の玉がぎりぎり輪を通ることを全員で確かめます。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湯は教師が60℃くらいにしてサーモカップに入れ、各班に配ります。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どの班も玉が輪を通ったことを確かめてから問います。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教科書に載っているレールのつなぎ目の写真を、点線の場所に入れるか、書画カメラで映します。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「あたため方が足りなかったのでは」という考えを取り上げ、検証の方法をふり返ったことを価値づけます。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01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1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1 ふり返り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5387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5387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2 調べる物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0763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80763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3 問題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6139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6139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4 予想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1515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1515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5 実験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689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689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6 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143000"/>
            <a:ext cx="10972800" cy="6858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2328"/>
                </a:solidFill>
                <a:latin typeface="BIZ UDゴシック"/>
                <a:ea typeface="BIZ UDゴシック"/>
              </a:rPr>
              <a:t>今日の流れ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965960"/>
            <a:ext cx="11185855" cy="640080"/>
          </a:xfrm>
          <a:prstGeom prst="roundRect">
            <a:avLst>
              <a:gd name="adj" fmla="val 20000"/>
            </a:avLst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965960"/>
            <a:ext cx="54864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C2410C"/>
                </a:solidFill>
                <a:latin typeface="BIZ UDゴシック"/>
                <a:ea typeface="BIZ UDゴシック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1965960"/>
            <a:ext cx="237744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328"/>
                </a:solidFill>
                <a:latin typeface="BIZ UDゴシック"/>
                <a:ea typeface="BIZ UDゴシック"/>
              </a:rPr>
              <a:t>ふり返り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1965960"/>
            <a:ext cx="768096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>空気と水で分かったことを思い出す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715768"/>
            <a:ext cx="11185855" cy="640080"/>
          </a:xfrm>
          <a:prstGeom prst="roundRect">
            <a:avLst>
              <a:gd name="adj" fmla="val 20000"/>
            </a:avLst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715768"/>
            <a:ext cx="54864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C2410C"/>
                </a:solidFill>
                <a:latin typeface="BIZ UDゴシック"/>
                <a:ea typeface="BIZ UDゴシック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715768"/>
            <a:ext cx="237744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328"/>
                </a:solidFill>
                <a:latin typeface="BIZ UDゴシック"/>
                <a:ea typeface="BIZ UDゴシック"/>
              </a:rPr>
              <a:t>調べる物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715768"/>
            <a:ext cx="768096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>分類表を見て 今日調べる物を知る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465575"/>
            <a:ext cx="11185855" cy="640080"/>
          </a:xfrm>
          <a:prstGeom prst="roundRect">
            <a:avLst>
              <a:gd name="adj" fmla="val 20000"/>
            </a:avLst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65575"/>
            <a:ext cx="54864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C2410C"/>
                </a:solidFill>
                <a:latin typeface="BIZ UDゴシック"/>
                <a:ea typeface="BIZ UDゴシック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465575"/>
            <a:ext cx="237744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328"/>
                </a:solidFill>
                <a:latin typeface="BIZ UDゴシック"/>
                <a:ea typeface="BIZ UDゴシック"/>
              </a:rPr>
              <a:t>問題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465575"/>
            <a:ext cx="768096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>今日の問題をつくる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215383"/>
            <a:ext cx="11185855" cy="640080"/>
          </a:xfrm>
          <a:prstGeom prst="roundRect">
            <a:avLst>
              <a:gd name="adj" fmla="val 20000"/>
            </a:avLst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15383"/>
            <a:ext cx="54864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C2410C"/>
                </a:solidFill>
                <a:latin typeface="BIZ UDゴシック"/>
                <a:ea typeface="BIZ UDゴシック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215383"/>
            <a:ext cx="237744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328"/>
                </a:solidFill>
                <a:latin typeface="BIZ UDゴシック"/>
                <a:ea typeface="BIZ UDゴシック"/>
              </a:rPr>
              <a:t>予想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215383"/>
            <a:ext cx="768096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>ひとりで書く　はんで話す　みんなで話す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965192"/>
            <a:ext cx="11185855" cy="640080"/>
          </a:xfrm>
          <a:prstGeom prst="roundRect">
            <a:avLst>
              <a:gd name="adj" fmla="val 20000"/>
            </a:avLst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65192"/>
            <a:ext cx="54864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C2410C"/>
                </a:solidFill>
                <a:latin typeface="BIZ UDゴシック"/>
                <a:ea typeface="BIZ UDゴシック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965192"/>
            <a:ext cx="237744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328"/>
                </a:solidFill>
                <a:latin typeface="BIZ UDゴシック"/>
                <a:ea typeface="BIZ UDゴシック"/>
              </a:rPr>
              <a:t>実験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65192"/>
            <a:ext cx="768096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>予想をたしかめる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715000"/>
            <a:ext cx="11185855" cy="640080"/>
          </a:xfrm>
          <a:prstGeom prst="roundRect">
            <a:avLst>
              <a:gd name="adj" fmla="val 20000"/>
            </a:avLst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715000"/>
            <a:ext cx="54864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C2410C"/>
                </a:solidFill>
                <a:latin typeface="BIZ UDゴシック"/>
                <a:ea typeface="BIZ UDゴシック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5715000"/>
            <a:ext cx="237744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328"/>
                </a:solidFill>
                <a:latin typeface="BIZ UDゴシック"/>
                <a:ea typeface="BIZ UDゴシック"/>
              </a:rPr>
              <a:t>考える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5715000"/>
            <a:ext cx="7680960" cy="64008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>結果から考えて 次に調べたいことを書く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01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190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1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328"/>
                </a:solidFill>
                <a:latin typeface="BIZ UDゴシック"/>
                <a:ea typeface="BIZ UDゴシック"/>
              </a:rPr>
              <a:t>1 ふり返り</a:t>
            </a:r>
          </a:p>
        </p:txBody>
      </p:sp>
      <p:sp>
        <p:nvSpPr>
          <p:cNvPr id="4" name="Isosceles Triangle 3"/>
          <p:cNvSpPr/>
          <p:nvPr/>
        </p:nvSpPr>
        <p:spPr>
          <a:xfrm rot="10800000">
            <a:off x="1313535" y="841247"/>
            <a:ext cx="237744" cy="128016"/>
          </a:xfrm>
          <a:prstGeom prst="triangl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0011" y="950976"/>
            <a:ext cx="1764792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328"/>
                </a:solidFill>
                <a:latin typeface="BIZ UDゴシック"/>
                <a:ea typeface="BIZ UDゴシック"/>
              </a:rPr>
              <a:t>いまここ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15387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15387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2 調べる物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0763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80763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3 問題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6139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6139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4 予想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1515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1515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5 実験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689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689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6 考える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686800" cy="6858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328"/>
                </a:solidFill>
                <a:latin typeface="BIZ UDゴシック"/>
                <a:ea typeface="BIZ UDゴシック"/>
              </a:rPr>
              <a:t>空気と水は あたためると どうなった？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783080"/>
            <a:ext cx="8686800" cy="4572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5F646B"/>
                </a:solidFill>
                <a:latin typeface="BIZ UDゴシック"/>
                <a:ea typeface="BIZ UDゴシック"/>
              </a:rPr>
              <a:t>写真と学びの足あとを見て 思い出そう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25735" y="1234440"/>
            <a:ext cx="14630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25735" y="1234440"/>
            <a:ext cx="1463040" cy="54864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F2328"/>
                </a:solidFill>
                <a:latin typeface="BIZ UDゴシック"/>
                <a:ea typeface="BIZ UDゴシック"/>
              </a:rPr>
              <a:t>3分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514600"/>
            <a:ext cx="54406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651760"/>
            <a:ext cx="4983480" cy="5486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328"/>
                </a:solidFill>
                <a:latin typeface="BIZ UDゴシック"/>
                <a:ea typeface="BIZ UDゴシック"/>
              </a:rPr>
              <a:t>空気は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4983480" cy="265176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2514600"/>
            <a:ext cx="54406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2651760"/>
            <a:ext cx="4983480" cy="5486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328"/>
                </a:solidFill>
                <a:latin typeface="BIZ UDゴシック"/>
                <a:ea typeface="BIZ UDゴシック"/>
              </a:rPr>
              <a:t>水は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291840"/>
            <a:ext cx="4983480" cy="265176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01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1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1 ふり返り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5387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190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5387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328"/>
                </a:solidFill>
                <a:latin typeface="BIZ UDゴシック"/>
                <a:ea typeface="BIZ UDゴシック"/>
              </a:rPr>
              <a:t>2 調べる物</a:t>
            </a:r>
          </a:p>
        </p:txBody>
      </p:sp>
      <p:sp>
        <p:nvSpPr>
          <p:cNvPr id="6" name="Isosceles Triangle 5"/>
          <p:cNvSpPr/>
          <p:nvPr/>
        </p:nvSpPr>
        <p:spPr>
          <a:xfrm rot="10800000">
            <a:off x="3178911" y="841247"/>
            <a:ext cx="237744" cy="128016"/>
          </a:xfrm>
          <a:prstGeom prst="triangl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15387" y="950976"/>
            <a:ext cx="1764792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328"/>
                </a:solidFill>
                <a:latin typeface="BIZ UDゴシック"/>
                <a:ea typeface="BIZ UDゴシック"/>
              </a:rPr>
              <a:t>いまここ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0763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80763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3 問題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6139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6139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4 予想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1515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1515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5 実験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689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689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6 考える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686800" cy="6858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328"/>
                </a:solidFill>
                <a:latin typeface="BIZ UDゴシック"/>
                <a:ea typeface="BIZ UDゴシック"/>
              </a:rPr>
              <a:t>分類表を見てみよう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25735" y="1234440"/>
            <a:ext cx="14630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5735" y="1234440"/>
            <a:ext cx="1463040" cy="54864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F2328"/>
                </a:solidFill>
                <a:latin typeface="BIZ UDゴシック"/>
                <a:ea typeface="BIZ UDゴシック"/>
              </a:rPr>
              <a:t>4分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514600"/>
            <a:ext cx="11185855" cy="329184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1">
                <a:solidFill>
                  <a:srgbClr val="1F2328"/>
                </a:solidFill>
                <a:latin typeface="BIZ UDゴシック"/>
                <a:ea typeface="BIZ UDゴシック"/>
              </a:rPr>
              <a:t>まだ調べていない物は</a:t>
            </a:r>
          </a:p>
          <a:p>
            <a:pPr algn="ctr">
              <a:lnSpc>
                <a:spcPct val="130000"/>
              </a:lnSpc>
            </a:pPr>
            <a:r>
              <a:rPr sz="4400" b="1">
                <a:solidFill>
                  <a:srgbClr val="1F2328"/>
                </a:solidFill>
                <a:latin typeface="BIZ UDゴシック"/>
                <a:ea typeface="BIZ UDゴシック"/>
              </a:rPr>
              <a:t>どれかな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01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1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1 ふり返り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5387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190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5387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328"/>
                </a:solidFill>
                <a:latin typeface="BIZ UDゴシック"/>
                <a:ea typeface="BIZ UDゴシック"/>
              </a:rPr>
              <a:t>2 調べる物</a:t>
            </a:r>
          </a:p>
        </p:txBody>
      </p:sp>
      <p:sp>
        <p:nvSpPr>
          <p:cNvPr id="6" name="Isosceles Triangle 5"/>
          <p:cNvSpPr/>
          <p:nvPr/>
        </p:nvSpPr>
        <p:spPr>
          <a:xfrm rot="10800000">
            <a:off x="3178911" y="841247"/>
            <a:ext cx="237744" cy="128016"/>
          </a:xfrm>
          <a:prstGeom prst="triangl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15387" y="950976"/>
            <a:ext cx="1764792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328"/>
                </a:solidFill>
                <a:latin typeface="BIZ UDゴシック"/>
                <a:ea typeface="BIZ UDゴシック"/>
              </a:rPr>
              <a:t>いまここ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0763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80763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3 問題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6139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6139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4 予想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1515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1515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5 実験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689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689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6 考える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686800" cy="6858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328"/>
                </a:solidFill>
                <a:latin typeface="BIZ UDゴシック"/>
                <a:ea typeface="BIZ UDゴシック"/>
              </a:rPr>
              <a:t>配られた玉を さわってみよう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514600"/>
            <a:ext cx="11185855" cy="329184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>
                <a:solidFill>
                  <a:srgbClr val="1F2328"/>
                </a:solidFill>
                <a:latin typeface="BIZ UDゴシック"/>
                <a:ea typeface="BIZ UDゴシック"/>
              </a:rPr>
              <a:t>これは 何でできている？</a:t>
            </a:r>
          </a:p>
          <a:p>
            <a:pPr algn="ctr">
              <a:lnSpc>
                <a:spcPct val="130000"/>
              </a:lnSpc>
            </a:pPr>
            <a:r>
              <a:rPr sz="4000" b="1">
                <a:solidFill>
                  <a:srgbClr val="1F2328"/>
                </a:solidFill>
                <a:latin typeface="BIZ UDゴシック"/>
                <a:ea typeface="BIZ UDゴシック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4000" b="1">
                <a:solidFill>
                  <a:srgbClr val="1F2328"/>
                </a:solidFill>
                <a:latin typeface="BIZ UDゴシック"/>
                <a:ea typeface="BIZ UDゴシック"/>
              </a:rPr>
              <a:t>分類表の どこに入る？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01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1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1 ふり返り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5387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5387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2 調べる物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0763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190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80763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328"/>
                </a:solidFill>
                <a:latin typeface="BIZ UDゴシック"/>
                <a:ea typeface="BIZ UDゴシック"/>
              </a:rPr>
              <a:t>3 問題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5044287" y="841247"/>
            <a:ext cx="237744" cy="128016"/>
          </a:xfrm>
          <a:prstGeom prst="triangl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80763" y="950976"/>
            <a:ext cx="1764792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328"/>
                </a:solidFill>
                <a:latin typeface="BIZ UDゴシック"/>
                <a:ea typeface="BIZ UDゴシック"/>
              </a:rPr>
              <a:t>いまここ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6139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6139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4 予想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1515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1515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5 実験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689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689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6 考える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686800" cy="6858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328"/>
                </a:solidFill>
                <a:latin typeface="BIZ UDゴシック"/>
                <a:ea typeface="BIZ UDゴシック"/>
              </a:rPr>
              <a:t>今日の問題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783080"/>
            <a:ext cx="8686800" cy="4572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5F646B"/>
                </a:solidFill>
                <a:latin typeface="BIZ UDゴシック"/>
                <a:ea typeface="BIZ UDゴシック"/>
              </a:rPr>
              <a:t>空気や水のときと 同じ形の文にしよう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25735" y="1234440"/>
            <a:ext cx="14630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25735" y="1234440"/>
            <a:ext cx="1463040" cy="54864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F2328"/>
                </a:solidFill>
                <a:latin typeface="BIZ UDゴシック"/>
                <a:ea typeface="BIZ UDゴシック"/>
              </a:rPr>
              <a:t>3分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514600"/>
            <a:ext cx="11185855" cy="3291840"/>
          </a:xfrm>
          <a:prstGeom prst="rect">
            <a:avLst/>
          </a:prstGeom>
          <a:solidFill>
            <a:srgbClr val="FFFFFF"/>
          </a:solidFill>
          <a:ln w="381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2788920"/>
            <a:ext cx="10058400" cy="27432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4000" b="1">
                <a:solidFill>
                  <a:srgbClr val="1F2328"/>
                </a:solidFill>
                <a:latin typeface="BIZ UDゴシック"/>
                <a:ea typeface="BIZ UDゴシック"/>
              </a:rPr>
              <a:t>［　　　　］は あたためたり</a:t>
            </a:r>
          </a:p>
          <a:p>
            <a:pPr algn="l">
              <a:lnSpc>
                <a:spcPct val="145000"/>
              </a:lnSpc>
            </a:pPr>
            <a:r>
              <a:rPr sz="4000" b="1">
                <a:solidFill>
                  <a:srgbClr val="1F2328"/>
                </a:solidFill>
                <a:latin typeface="BIZ UDゴシック"/>
                <a:ea typeface="BIZ UDゴシック"/>
              </a:rPr>
              <a:t>冷やしたりすると</a:t>
            </a:r>
          </a:p>
          <a:p>
            <a:pPr algn="l">
              <a:lnSpc>
                <a:spcPct val="145000"/>
              </a:lnSpc>
            </a:pPr>
            <a:r>
              <a:rPr sz="4000" b="1">
                <a:solidFill>
                  <a:srgbClr val="1F2328"/>
                </a:solidFill>
                <a:latin typeface="BIZ UDゴシック"/>
                <a:ea typeface="BIZ UDゴシック"/>
              </a:rPr>
              <a:t>体積は変わるのだろうか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01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1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1 ふり返り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5387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5387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2 調べる物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0763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190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80763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328"/>
                </a:solidFill>
                <a:latin typeface="BIZ UDゴシック"/>
                <a:ea typeface="BIZ UDゴシック"/>
              </a:rPr>
              <a:t>3 問題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5044287" y="841247"/>
            <a:ext cx="237744" cy="128016"/>
          </a:xfrm>
          <a:prstGeom prst="triangl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80763" y="950976"/>
            <a:ext cx="1764792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328"/>
                </a:solidFill>
                <a:latin typeface="BIZ UDゴシック"/>
                <a:ea typeface="BIZ UDゴシック"/>
              </a:rPr>
              <a:t>いまここ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6139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6139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4 予想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1515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1515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5 実験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689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689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6 考える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686800" cy="6858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328"/>
                </a:solidFill>
                <a:latin typeface="BIZ UDゴシック"/>
                <a:ea typeface="BIZ UDゴシック"/>
              </a:rPr>
              <a:t>今日の問題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14600"/>
            <a:ext cx="11185855" cy="3291840"/>
          </a:xfrm>
          <a:prstGeom prst="rect">
            <a:avLst/>
          </a:prstGeom>
          <a:solidFill>
            <a:srgbClr val="FFFFFF"/>
          </a:solidFill>
          <a:ln w="381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788920"/>
            <a:ext cx="10058400" cy="27432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4000" b="1">
                <a:solidFill>
                  <a:srgbClr val="C2410C"/>
                </a:solidFill>
                <a:latin typeface="BIZ UDゴシック"/>
                <a:ea typeface="BIZ UDゴシック"/>
              </a:rPr>
              <a:t>金ぞく</a:t>
            </a:r>
            <a:r>
              <a:rPr sz="4000" b="1">
                <a:solidFill>
                  <a:srgbClr val="1F2328"/>
                </a:solidFill>
                <a:latin typeface="BIZ UDゴシック"/>
                <a:ea typeface="BIZ UDゴシック"/>
              </a:rPr>
              <a:t>は あたためたり</a:t>
            </a:r>
          </a:p>
          <a:p>
            <a:pPr algn="l">
              <a:lnSpc>
                <a:spcPct val="145000"/>
              </a:lnSpc>
            </a:pPr>
            <a:r>
              <a:rPr sz="4000" b="1">
                <a:solidFill>
                  <a:srgbClr val="1F2328"/>
                </a:solidFill>
                <a:latin typeface="BIZ UDゴシック"/>
                <a:ea typeface="BIZ UDゴシック"/>
              </a:rPr>
              <a:t>冷やしたりすると</a:t>
            </a:r>
          </a:p>
          <a:p>
            <a:pPr algn="l">
              <a:lnSpc>
                <a:spcPct val="145000"/>
              </a:lnSpc>
            </a:pPr>
            <a:r>
              <a:rPr sz="4000" b="1">
                <a:solidFill>
                  <a:srgbClr val="1F2328"/>
                </a:solidFill>
                <a:latin typeface="BIZ UDゴシック"/>
                <a:ea typeface="BIZ UDゴシック"/>
              </a:rPr>
              <a:t>体積は変わるのだろうか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01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1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1 ふり返り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5387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5387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2 調べる物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0763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80763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3 問題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6139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190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6139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328"/>
                </a:solidFill>
                <a:latin typeface="BIZ UDゴシック"/>
                <a:ea typeface="BIZ UDゴシック"/>
              </a:rPr>
              <a:t>4 予想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6909663" y="841247"/>
            <a:ext cx="237744" cy="128016"/>
          </a:xfrm>
          <a:prstGeom prst="triangl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6139" y="950976"/>
            <a:ext cx="1764792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328"/>
                </a:solidFill>
                <a:latin typeface="BIZ UDゴシック"/>
                <a:ea typeface="BIZ UDゴシック"/>
              </a:rPr>
              <a:t>いまここ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1515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1515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5 実験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689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689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6 考える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686800" cy="6858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328"/>
                </a:solidFill>
                <a:latin typeface="BIZ UDゴシック"/>
                <a:ea typeface="BIZ UDゴシック"/>
              </a:rPr>
              <a:t>（1）ひとりで ふせんに書こう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25735" y="1234440"/>
            <a:ext cx="14630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5735" y="1234440"/>
            <a:ext cx="1463040" cy="54864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F2328"/>
                </a:solidFill>
                <a:latin typeface="BIZ UDゴシック"/>
                <a:ea typeface="BIZ UDゴシック"/>
              </a:rPr>
              <a:t>4分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103120"/>
            <a:ext cx="5440680" cy="2514600"/>
          </a:xfrm>
          <a:prstGeom prst="roundRect">
            <a:avLst>
              <a:gd name="adj" fmla="val 8000"/>
            </a:avLst>
          </a:prstGeom>
          <a:solidFill>
            <a:srgbClr val="D7F0FC"/>
          </a:solidFill>
          <a:ln w="31750">
            <a:solidFill>
              <a:srgbClr val="1F8A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240279"/>
            <a:ext cx="4983480" cy="5486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8AC0"/>
                </a:solidFill>
                <a:latin typeface="BIZ UDゴシック"/>
                <a:ea typeface="BIZ UDゴシック"/>
              </a:rPr>
              <a:t>変わる と思う人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880360"/>
            <a:ext cx="4983480" cy="16002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>水色のふせん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>① はじめに「変わる」と書く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>② つぎに 理由を書く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2103120"/>
            <a:ext cx="5440680" cy="2514600"/>
          </a:xfrm>
          <a:prstGeom prst="roundRect">
            <a:avLst>
              <a:gd name="adj" fmla="val 8000"/>
            </a:avLst>
          </a:prstGeom>
          <a:solidFill>
            <a:srgbClr val="FFE0EC"/>
          </a:solidFill>
          <a:ln w="31750">
            <a:solidFill>
              <a:srgbClr val="D446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240279"/>
            <a:ext cx="4983480" cy="5486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D4467C"/>
                </a:solidFill>
                <a:latin typeface="BIZ UDゴシック"/>
                <a:ea typeface="BIZ UDゴシック"/>
              </a:rPr>
              <a:t>変わらない と思う人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880360"/>
            <a:ext cx="4983480" cy="16002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>ピンクのふせん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>① はじめに「変わらない」と書く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>② つぎに 理由を書く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46320"/>
            <a:ext cx="11185855" cy="1371600"/>
          </a:xfrm>
          <a:prstGeom prst="roundRect">
            <a:avLst>
              <a:gd name="adj" fmla="val 12000"/>
            </a:avLst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2194560" cy="13716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2410C"/>
                </a:solidFill>
                <a:latin typeface="BIZ UDゴシック"/>
                <a:ea typeface="BIZ UDゴシック"/>
              </a:rPr>
              <a:t>理由の</a:t>
            </a:r>
          </a:p>
          <a:p>
            <a:pPr algn="l">
              <a:lnSpc>
                <a:spcPct val="115000"/>
              </a:lnSpc>
            </a:pPr>
            <a:r>
              <a:rPr sz="2200" b="1">
                <a:solidFill>
                  <a:srgbClr val="C2410C"/>
                </a:solidFill>
                <a:latin typeface="BIZ UDゴシック"/>
                <a:ea typeface="BIZ UDゴシック"/>
              </a:rPr>
              <a:t>ヒント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846320"/>
            <a:ext cx="8503920" cy="13716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>空気や水の学習から　（写真や学びの足あとを見よう）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>生活の中で 見たこと 聞いたことから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01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1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1 ふり返り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5387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5387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2 調べる物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0763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80763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3 問題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6139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190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6139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328"/>
                </a:solidFill>
                <a:latin typeface="BIZ UDゴシック"/>
                <a:ea typeface="BIZ UDゴシック"/>
              </a:rPr>
              <a:t>4 予想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6909663" y="841247"/>
            <a:ext cx="237744" cy="128016"/>
          </a:xfrm>
          <a:prstGeom prst="triangl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6139" y="950976"/>
            <a:ext cx="1764792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328"/>
                </a:solidFill>
                <a:latin typeface="BIZ UDゴシック"/>
                <a:ea typeface="BIZ UDゴシック"/>
              </a:rPr>
              <a:t>いまここ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1515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1515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5 実験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689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689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6 考える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686800" cy="6858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328"/>
                </a:solidFill>
                <a:latin typeface="BIZ UDゴシック"/>
                <a:ea typeface="BIZ UDゴシック"/>
              </a:rPr>
              <a:t>（2）はんで 予想と理由を伝え合おう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25735" y="1234440"/>
            <a:ext cx="14630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5735" y="1234440"/>
            <a:ext cx="1463040" cy="54864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F2328"/>
                </a:solidFill>
                <a:latin typeface="BIZ UDゴシック"/>
                <a:ea typeface="BIZ UDゴシック"/>
              </a:rPr>
              <a:t>6分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103120"/>
            <a:ext cx="54406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240280"/>
            <a:ext cx="4937760" cy="5486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C2410C"/>
                </a:solidFill>
                <a:latin typeface="BIZ UDゴシック"/>
                <a:ea typeface="BIZ UDゴシック"/>
              </a:rPr>
              <a:t>司会のことば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926080"/>
            <a:ext cx="4937760" cy="30175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1F2328"/>
                </a:solidFill>
                <a:latin typeface="BIZ UDゴシック"/>
                <a:ea typeface="BIZ UDゴシック"/>
              </a:rPr>
              <a:t>「どう思う？」</a:t>
            </a:r>
          </a:p>
          <a:p>
            <a:pPr algn="l">
              <a:lnSpc>
                <a:spcPct val="120000"/>
              </a:lnSpc>
            </a:pPr>
            <a:r>
              <a:rPr sz="2700" b="1">
                <a:solidFill>
                  <a:srgbClr val="1F2328"/>
                </a:solidFill>
                <a:latin typeface="BIZ UDゴシック"/>
                <a:ea typeface="BIZ UDゴシック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700" b="1">
                <a:solidFill>
                  <a:srgbClr val="1F2328"/>
                </a:solidFill>
                <a:latin typeface="BIZ UDゴシック"/>
                <a:ea typeface="BIZ UDゴシック"/>
              </a:rPr>
              <a:t>「どうして そう思ったの？」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2103120"/>
            <a:ext cx="5440680" cy="402336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240280"/>
            <a:ext cx="4937760" cy="5486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C2410C"/>
                </a:solidFill>
                <a:latin typeface="BIZ UDゴシック"/>
                <a:ea typeface="BIZ UDゴシック"/>
              </a:rPr>
              <a:t>やくそく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926080"/>
            <a:ext cx="4937760" cy="301752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1F2328"/>
                </a:solidFill>
                <a:latin typeface="BIZ UDゴシック"/>
                <a:ea typeface="BIZ UDゴシック"/>
              </a:rPr>
              <a:t>・全員が 話す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1F2328"/>
                </a:solidFill>
                <a:latin typeface="BIZ UDゴシック"/>
                <a:ea typeface="BIZ UDゴシック"/>
              </a:rPr>
              <a:t>・理由まで 言う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1F2328"/>
                </a:solidFill>
                <a:latin typeface="BIZ UDゴシック"/>
                <a:ea typeface="BIZ UDゴシック"/>
              </a:rPr>
              <a:t>・ちがう考えも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1F2328"/>
                </a:solidFill>
                <a:latin typeface="BIZ UDゴシック"/>
                <a:ea typeface="BIZ UDゴシック"/>
              </a:rPr>
              <a:t>　さいごまで聞く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01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1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1 ふり返り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5387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5387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2 調べる物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0763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80763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3 問題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6139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190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6139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328"/>
                </a:solidFill>
                <a:latin typeface="BIZ UDゴシック"/>
                <a:ea typeface="BIZ UDゴシック"/>
              </a:rPr>
              <a:t>4 予想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6909663" y="841247"/>
            <a:ext cx="237744" cy="128016"/>
          </a:xfrm>
          <a:prstGeom prst="triangl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6139" y="950976"/>
            <a:ext cx="1764792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328"/>
                </a:solidFill>
                <a:latin typeface="BIZ UDゴシック"/>
                <a:ea typeface="BIZ UDゴシック"/>
              </a:rPr>
              <a:t>いまここ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1515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1515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5 実験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689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689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6 考える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686800" cy="6858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328"/>
                </a:solidFill>
                <a:latin typeface="BIZ UDゴシック"/>
                <a:ea typeface="BIZ UDゴシック"/>
              </a:rPr>
              <a:t>（3）みんなで 話し合おう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25735" y="1234440"/>
            <a:ext cx="14630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5735" y="1234440"/>
            <a:ext cx="1463040" cy="54864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F2328"/>
                </a:solidFill>
                <a:latin typeface="BIZ UDゴシック"/>
                <a:ea typeface="BIZ UDゴシック"/>
              </a:rPr>
              <a:t>5分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514600"/>
            <a:ext cx="11185855" cy="329184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800" b="1">
                <a:solidFill>
                  <a:srgbClr val="1F2328"/>
                </a:solidFill>
                <a:latin typeface="BIZ UDゴシック"/>
                <a:ea typeface="BIZ UDゴシック"/>
              </a:rPr>
              <a:t>はんの台紙を 黒板にはろう</a:t>
            </a:r>
          </a:p>
          <a:p>
            <a:pPr algn="ctr">
              <a:lnSpc>
                <a:spcPct val="130000"/>
              </a:lnSpc>
            </a:pPr>
            <a:r>
              <a:rPr sz="3800" b="1">
                <a:solidFill>
                  <a:srgbClr val="1F2328"/>
                </a:solidFill>
                <a:latin typeface="BIZ UDゴシック"/>
                <a:ea typeface="BIZ UDゴシック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3800" b="1">
                <a:solidFill>
                  <a:srgbClr val="1F2328"/>
                </a:solidFill>
                <a:latin typeface="BIZ UDゴシック"/>
                <a:ea typeface="BIZ UDゴシック"/>
              </a:rPr>
              <a:t>同じところは？　ちがうところは？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01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1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1 ふり返り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5387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5387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2 調べる物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0763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80763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3 問題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6139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6139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4 予想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1515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190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1515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328"/>
                </a:solidFill>
                <a:latin typeface="BIZ UDゴシック"/>
                <a:ea typeface="BIZ UDゴシック"/>
              </a:rPr>
              <a:t>5 実験</a:t>
            </a: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8775039" y="841247"/>
            <a:ext cx="237744" cy="128016"/>
          </a:xfrm>
          <a:prstGeom prst="triangl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1515" y="950976"/>
            <a:ext cx="1764792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328"/>
                </a:solidFill>
                <a:latin typeface="BIZ UDゴシック"/>
                <a:ea typeface="BIZ UDゴシック"/>
              </a:rPr>
              <a:t>いまここ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689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689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6 考える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686800" cy="6858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328"/>
                </a:solidFill>
                <a:latin typeface="BIZ UDゴシック"/>
                <a:ea typeface="BIZ UDゴシック"/>
              </a:rPr>
              <a:t>（1）どうやって たしかめる？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25735" y="1234440"/>
            <a:ext cx="14630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5735" y="1234440"/>
            <a:ext cx="1463040" cy="54864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F2328"/>
                </a:solidFill>
                <a:latin typeface="BIZ UDゴシック"/>
                <a:ea typeface="BIZ UDゴシック"/>
              </a:rPr>
              <a:t>12分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514600"/>
            <a:ext cx="11185855" cy="329184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1">
                <a:solidFill>
                  <a:srgbClr val="1F2328"/>
                </a:solidFill>
                <a:latin typeface="BIZ UDゴシック"/>
                <a:ea typeface="BIZ UDゴシック"/>
              </a:rPr>
              <a:t>空気や水のときは</a:t>
            </a:r>
          </a:p>
          <a:p>
            <a:pPr algn="ctr">
              <a:lnSpc>
                <a:spcPct val="130000"/>
              </a:lnSpc>
            </a:pPr>
            <a:r>
              <a:rPr sz="4400" b="1">
                <a:solidFill>
                  <a:srgbClr val="1F2328"/>
                </a:solidFill>
                <a:latin typeface="BIZ UDゴシック"/>
                <a:ea typeface="BIZ UDゴシック"/>
              </a:rPr>
              <a:t>どうやって調べたかな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01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1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1 ふり返り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5387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5387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2 調べる物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0763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80763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3 問題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6139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6139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4 予想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1515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190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1515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328"/>
                </a:solidFill>
                <a:latin typeface="BIZ UDゴシック"/>
                <a:ea typeface="BIZ UDゴシック"/>
              </a:rPr>
              <a:t>5 実験</a:t>
            </a: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8775039" y="841247"/>
            <a:ext cx="237744" cy="128016"/>
          </a:xfrm>
          <a:prstGeom prst="triangl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1515" y="950976"/>
            <a:ext cx="1764792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328"/>
                </a:solidFill>
                <a:latin typeface="BIZ UDゴシック"/>
                <a:ea typeface="BIZ UDゴシック"/>
              </a:rPr>
              <a:t>いまここ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689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689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6 考える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686800" cy="6858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328"/>
                </a:solidFill>
                <a:latin typeface="BIZ UDゴシック"/>
                <a:ea typeface="BIZ UDゴシック"/>
              </a:rPr>
              <a:t>（1）実験の計画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103120"/>
            <a:ext cx="11185855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103120"/>
            <a:ext cx="1463040" cy="13716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2410C"/>
                </a:solidFill>
                <a:latin typeface="BIZ UDゴシック"/>
                <a:ea typeface="BIZ UDゴシック"/>
              </a:rPr>
              <a:t>計画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103120"/>
            <a:ext cx="9144000" cy="13716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1F2328"/>
                </a:solidFill>
                <a:latin typeface="BIZ UDゴシック"/>
                <a:ea typeface="BIZ UDゴシック"/>
              </a:rPr>
              <a:t>玉を湯であたためて</a:t>
            </a:r>
          </a:p>
          <a:p>
            <a:pPr algn="l">
              <a:lnSpc>
                <a:spcPct val="120000"/>
              </a:lnSpc>
            </a:pPr>
            <a:r>
              <a:rPr sz="3200" b="1">
                <a:solidFill>
                  <a:srgbClr val="1F2328"/>
                </a:solidFill>
                <a:latin typeface="BIZ UDゴシック"/>
                <a:ea typeface="BIZ UDゴシック"/>
              </a:rPr>
              <a:t>輪を通るかどうかを調べる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49039"/>
            <a:ext cx="11185855" cy="237744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1">
                <a:solidFill>
                  <a:srgbClr val="1F2328"/>
                </a:solidFill>
                <a:latin typeface="BIZ UDゴシック"/>
                <a:ea typeface="BIZ UDゴシック"/>
              </a:rPr>
              <a:t>予想が正しければ</a:t>
            </a:r>
          </a:p>
          <a:p>
            <a:pPr algn="ctr">
              <a:lnSpc>
                <a:spcPct val="130000"/>
              </a:lnSpc>
            </a:pPr>
            <a:r>
              <a:rPr sz="3400" b="1">
                <a:solidFill>
                  <a:srgbClr val="1F2328"/>
                </a:solidFill>
                <a:latin typeface="BIZ UDゴシック"/>
                <a:ea typeface="BIZ UDゴシック"/>
              </a:rPr>
              <a:t>あたためた玉は 輪を 通る？　通らない？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01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1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1 ふり返り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5387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5387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2 調べる物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0763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80763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3 問題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6139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6139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4 予想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1515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190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1515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328"/>
                </a:solidFill>
                <a:latin typeface="BIZ UDゴシック"/>
                <a:ea typeface="BIZ UDゴシック"/>
              </a:rPr>
              <a:t>5 実験</a:t>
            </a: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8775039" y="841247"/>
            <a:ext cx="237744" cy="128016"/>
          </a:xfrm>
          <a:prstGeom prst="triangl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1515" y="950976"/>
            <a:ext cx="1764792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328"/>
                </a:solidFill>
                <a:latin typeface="BIZ UDゴシック"/>
                <a:ea typeface="BIZ UDゴシック"/>
              </a:rPr>
              <a:t>いまここ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689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689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F646B"/>
                </a:solidFill>
                <a:latin typeface="BIZ UDゴシック"/>
                <a:ea typeface="BIZ UDゴシック"/>
              </a:rPr>
              <a:t>6 考える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686800" cy="6858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328"/>
                </a:solidFill>
                <a:latin typeface="BIZ UDゴシック"/>
                <a:ea typeface="BIZ UDゴシック"/>
              </a:rPr>
              <a:t>（2）実験のやくそく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057400"/>
            <a:ext cx="11185855" cy="731520"/>
          </a:xfrm>
          <a:prstGeom prst="roundRect">
            <a:avLst>
              <a:gd name="adj" fmla="val 20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057400"/>
            <a:ext cx="548640" cy="7315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2410C"/>
                </a:solidFill>
                <a:latin typeface="BIZ UDゴシック"/>
                <a:ea typeface="BIZ UDゴシック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057400"/>
            <a:ext cx="9875520" cy="7315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328"/>
                </a:solidFill>
                <a:latin typeface="BIZ UDゴシック"/>
                <a:ea typeface="BIZ UDゴシック"/>
              </a:rPr>
              <a:t>湯は あつい（60℃くらい）　さわらない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898648"/>
            <a:ext cx="11185855" cy="731520"/>
          </a:xfrm>
          <a:prstGeom prst="roundRect">
            <a:avLst>
              <a:gd name="adj" fmla="val 20000"/>
            </a:avLst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898648"/>
            <a:ext cx="548640" cy="7315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2410C"/>
                </a:solidFill>
                <a:latin typeface="BIZ UDゴシック"/>
                <a:ea typeface="BIZ UDゴシック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898648"/>
            <a:ext cx="9875520" cy="7315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328"/>
                </a:solidFill>
                <a:latin typeface="BIZ UDゴシック"/>
                <a:ea typeface="BIZ UDゴシック"/>
              </a:rPr>
              <a:t>玉は 持つところを持つ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39896"/>
            <a:ext cx="11185855" cy="731520"/>
          </a:xfrm>
          <a:prstGeom prst="roundRect">
            <a:avLst>
              <a:gd name="adj" fmla="val 20000"/>
            </a:avLst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39896"/>
            <a:ext cx="548640" cy="7315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2410C"/>
                </a:solidFill>
                <a:latin typeface="BIZ UDゴシック"/>
                <a:ea typeface="BIZ UDゴシック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739896"/>
            <a:ext cx="9875520" cy="7315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328"/>
                </a:solidFill>
                <a:latin typeface="BIZ UDゴシック"/>
                <a:ea typeface="BIZ UDゴシック"/>
              </a:rPr>
              <a:t>湯に 1分 つけてから 輪に通す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81144"/>
            <a:ext cx="11185855" cy="731520"/>
          </a:xfrm>
          <a:prstGeom prst="roundRect">
            <a:avLst>
              <a:gd name="adj" fmla="val 20000"/>
            </a:avLst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81144"/>
            <a:ext cx="548640" cy="7315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2410C"/>
                </a:solidFill>
                <a:latin typeface="BIZ UDゴシック"/>
                <a:ea typeface="BIZ UDゴシック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581144"/>
            <a:ext cx="9875520" cy="7315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328"/>
                </a:solidFill>
                <a:latin typeface="BIZ UDゴシック"/>
                <a:ea typeface="BIZ UDゴシック"/>
              </a:rPr>
              <a:t>こぼしたら すぐに 先生に言う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422392"/>
            <a:ext cx="11185855" cy="731520"/>
          </a:xfrm>
          <a:prstGeom prst="roundRect">
            <a:avLst>
              <a:gd name="adj" fmla="val 20000"/>
            </a:avLst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422392"/>
            <a:ext cx="548640" cy="7315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2410C"/>
                </a:solidFill>
                <a:latin typeface="BIZ UDゴシック"/>
                <a:ea typeface="BIZ UDゴシック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422392"/>
            <a:ext cx="9875520" cy="7315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328"/>
                </a:solidFill>
                <a:latin typeface="BIZ UDゴシック"/>
                <a:ea typeface="BIZ UDゴシック"/>
              </a:rPr>
              <a:t>結果を はんで たしかめる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01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1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1 ふり返り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5387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5387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2 調べる物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0763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80763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3 問題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6139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6139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4 予想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1515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1515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5 実験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689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190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689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328"/>
                </a:solidFill>
                <a:latin typeface="BIZ UDゴシック"/>
                <a:ea typeface="BIZ UDゴシック"/>
              </a:rPr>
              <a:t>6 考える</a:t>
            </a: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0640415" y="841247"/>
            <a:ext cx="237744" cy="128016"/>
          </a:xfrm>
          <a:prstGeom prst="triangl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6891" y="950976"/>
            <a:ext cx="1764792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328"/>
                </a:solidFill>
                <a:latin typeface="BIZ UDゴシック"/>
                <a:ea typeface="BIZ UDゴシック"/>
              </a:rPr>
              <a:t>いまここ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686800" cy="6858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328"/>
                </a:solidFill>
                <a:latin typeface="BIZ UDゴシック"/>
                <a:ea typeface="BIZ UDゴシック"/>
              </a:rPr>
              <a:t>（1）結果から考えよう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25735" y="1234440"/>
            <a:ext cx="14630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5735" y="1234440"/>
            <a:ext cx="1463040" cy="54864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F2328"/>
                </a:solidFill>
                <a:latin typeface="BIZ UDゴシック"/>
                <a:ea typeface="BIZ UDゴシック"/>
              </a:rPr>
              <a:t>8分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514600"/>
            <a:ext cx="11185855" cy="329184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5200" b="1">
                <a:solidFill>
                  <a:srgbClr val="1F2328"/>
                </a:solidFill>
                <a:latin typeface="BIZ UDゴシック"/>
                <a:ea typeface="BIZ UDゴシック"/>
              </a:rPr>
              <a:t>この結果から</a:t>
            </a:r>
          </a:p>
          <a:p>
            <a:pPr algn="ctr">
              <a:lnSpc>
                <a:spcPct val="130000"/>
              </a:lnSpc>
            </a:pPr>
            <a:r>
              <a:rPr sz="5200" b="1">
                <a:solidFill>
                  <a:srgbClr val="1F2328"/>
                </a:solidFill>
                <a:latin typeface="BIZ UDゴシック"/>
                <a:ea typeface="BIZ UDゴシック"/>
              </a:rPr>
              <a:t>どうまとめる？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01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1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1 ふり返り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5387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5387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2 調べる物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0763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80763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3 問題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6139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6139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4 予想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1515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1515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5 実験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689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190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689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328"/>
                </a:solidFill>
                <a:latin typeface="BIZ UDゴシック"/>
                <a:ea typeface="BIZ UDゴシック"/>
              </a:rPr>
              <a:t>6 考える</a:t>
            </a: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0640415" y="841247"/>
            <a:ext cx="237744" cy="128016"/>
          </a:xfrm>
          <a:prstGeom prst="triangl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6891" y="950976"/>
            <a:ext cx="1764792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328"/>
                </a:solidFill>
                <a:latin typeface="BIZ UDゴシック"/>
                <a:ea typeface="BIZ UDゴシック"/>
              </a:rPr>
              <a:t>いまここ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686800" cy="6858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328"/>
                </a:solidFill>
                <a:latin typeface="BIZ UDゴシック"/>
                <a:ea typeface="BIZ UDゴシック"/>
              </a:rPr>
              <a:t>（2）線路のつなぎ目を見てみよう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103120"/>
            <a:ext cx="676656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0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03120"/>
            <a:ext cx="6766560" cy="41605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8A9097"/>
                </a:solidFill>
                <a:latin typeface="BIZ UDゴシック"/>
                <a:ea typeface="BIZ UDゴシック"/>
              </a:rPr>
              <a:t>教科書の写真</a:t>
            </a:r>
          </a:p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8A9097"/>
                </a:solidFill>
                <a:latin typeface="BIZ UDゴシック"/>
                <a:ea typeface="BIZ UDゴシック"/>
              </a:rPr>
              <a:t>（ここに入れる）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377440"/>
            <a:ext cx="4023360" cy="365760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1F2328"/>
                </a:solidFill>
                <a:latin typeface="BIZ UDゴシック"/>
                <a:ea typeface="BIZ UDゴシック"/>
              </a:rPr>
              <a:t>なぜ</a:t>
            </a:r>
          </a:p>
          <a:p>
            <a:pPr algn="l">
              <a:lnSpc>
                <a:spcPct val="130000"/>
              </a:lnSpc>
            </a:pPr>
            <a:r>
              <a:rPr sz="3600" b="1">
                <a:solidFill>
                  <a:srgbClr val="1F2328"/>
                </a:solidFill>
                <a:latin typeface="BIZ UDゴシック"/>
                <a:ea typeface="BIZ UDゴシック"/>
              </a:rPr>
              <a:t>すきまを</a:t>
            </a:r>
          </a:p>
          <a:p>
            <a:pPr algn="l">
              <a:lnSpc>
                <a:spcPct val="130000"/>
              </a:lnSpc>
            </a:pPr>
            <a:r>
              <a:rPr sz="3600" b="1">
                <a:solidFill>
                  <a:srgbClr val="1F2328"/>
                </a:solidFill>
                <a:latin typeface="BIZ UDゴシック"/>
                <a:ea typeface="BIZ UDゴシック"/>
              </a:rPr>
              <a:t>あけて</a:t>
            </a:r>
          </a:p>
          <a:p>
            <a:pPr algn="l">
              <a:lnSpc>
                <a:spcPct val="130000"/>
              </a:lnSpc>
            </a:pPr>
            <a:r>
              <a:rPr sz="3600" b="1">
                <a:solidFill>
                  <a:srgbClr val="1F2328"/>
                </a:solidFill>
                <a:latin typeface="BIZ UDゴシック"/>
                <a:ea typeface="BIZ UDゴシック"/>
              </a:rPr>
              <a:t>いるのだろう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001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001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1 ふり返り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5387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15387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2 調べる物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0763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80763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3 問題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6139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6139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4 予想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1515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E7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1515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A9097"/>
                </a:solidFill>
                <a:latin typeface="BIZ UDゴシック"/>
                <a:ea typeface="BIZ UDゴシック"/>
              </a:rPr>
              <a:t>✓ 5 実験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6891" y="274320"/>
            <a:ext cx="1764792" cy="53035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 w="1905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6891" y="274320"/>
            <a:ext cx="1764792" cy="530352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2328"/>
                </a:solidFill>
                <a:latin typeface="BIZ UDゴシック"/>
                <a:ea typeface="BIZ UDゴシック"/>
              </a:rPr>
              <a:t>6 考える</a:t>
            </a: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0640415" y="841247"/>
            <a:ext cx="237744" cy="128016"/>
          </a:xfrm>
          <a:prstGeom prst="triangle">
            <a:avLst/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6891" y="950976"/>
            <a:ext cx="1764792" cy="292608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2328"/>
                </a:solidFill>
                <a:latin typeface="BIZ UDゴシック"/>
                <a:ea typeface="BIZ UDゴシック"/>
              </a:rPr>
              <a:t>いまここ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43000"/>
            <a:ext cx="8686800" cy="68580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328"/>
                </a:solidFill>
                <a:latin typeface="BIZ UDゴシック"/>
                <a:ea typeface="BIZ UDゴシック"/>
              </a:rPr>
              <a:t>（3）学びの足あとに書こう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103120"/>
            <a:ext cx="54406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240279"/>
            <a:ext cx="4983480" cy="5486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328"/>
                </a:solidFill>
                <a:latin typeface="BIZ UDゴシック"/>
                <a:ea typeface="BIZ UDゴシック"/>
              </a:rPr>
              <a:t>今日 分かったこと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880360"/>
            <a:ext cx="4983480" cy="310896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2103120"/>
            <a:ext cx="54406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6D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240279"/>
            <a:ext cx="4983480" cy="54864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328"/>
                </a:solidFill>
                <a:latin typeface="BIZ UDゴシック"/>
                <a:ea typeface="BIZ UDゴシック"/>
              </a:rPr>
              <a:t>次に 調べたいこと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880360"/>
            <a:ext cx="4983480" cy="3108960"/>
          </a:xfrm>
          <a:prstGeom prst="rect">
            <a:avLst/>
          </a:prstGeom>
          <a:noFill/>
        </p:spPr>
        <p:txBody>
          <a:bodyPr wrap="none" lIns="73152" rIns="73152" tIns="36576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1F2328"/>
                </a:solidFill>
                <a:latin typeface="BIZ UDゴシック"/>
                <a:ea typeface="BIZ UDゴシック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
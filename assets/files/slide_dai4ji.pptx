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単元と時間"/>
          <p:cNvSpPr txBox="1"/>
          <p:nvPr/>
        </p:nvSpPr>
        <p:spPr>
          <a:xfrm>
            <a:off x="411480" y="256032"/>
            <a:ext cx="5486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B6F76"/>
                </a:solidFill>
                <a:latin typeface="BIZ UDゴシック"/>
                <a:ea typeface="BIZ UDゴシック"/>
              </a:rPr>
              <a:t>物の体積と温度　第4時</a:t>
            </a:r>
          </a:p>
        </p:txBody>
      </p:sp>
      <p:sp>
        <p:nvSpPr>
          <p:cNvPr id="3" name="問いの線"/>
          <p:cNvSpPr/>
          <p:nvPr/>
        </p:nvSpPr>
        <p:spPr>
          <a:xfrm>
            <a:off x="411480" y="658368"/>
            <a:ext cx="82296" cy="713232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問い"/>
          <p:cNvSpPr txBox="1"/>
          <p:nvPr/>
        </p:nvSpPr>
        <p:spPr>
          <a:xfrm>
            <a:off x="667512" y="658368"/>
            <a:ext cx="11155680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F2328"/>
                </a:solidFill>
                <a:latin typeface="BIZ UDゴシック"/>
                <a:ea typeface="BIZ UDゴシック"/>
              </a:rPr>
              <a:t>ほかに あたためると体積が変わる物は？</a:t>
            </a:r>
          </a:p>
        </p:txBody>
      </p:sp>
      <p:sp>
        <p:nvSpPr>
          <p:cNvPr id="5" name="列_体積が 変わりそう"/>
          <p:cNvSpPr/>
          <p:nvPr/>
        </p:nvSpPr>
        <p:spPr>
          <a:xfrm>
            <a:off x="411480" y="1627632"/>
            <a:ext cx="4443984" cy="3127248"/>
          </a:xfrm>
          <a:prstGeom prst="rect">
            <a:avLst/>
          </a:prstGeom>
          <a:noFill/>
          <a:ln w="28575">
            <a:solidFill>
              <a:srgbClr val="2A5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見出し_体積が 変わりそう"/>
          <p:cNvSpPr/>
          <p:nvPr/>
        </p:nvSpPr>
        <p:spPr>
          <a:xfrm>
            <a:off x="411480" y="1627632"/>
            <a:ext cx="4443984" cy="475488"/>
          </a:xfrm>
          <a:prstGeom prst="rect">
            <a:avLst/>
          </a:prstGeom>
          <a:solidFill>
            <a:srgbClr val="2A5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見出し文字_体積が 変わりそう"/>
          <p:cNvSpPr txBox="1"/>
          <p:nvPr/>
        </p:nvSpPr>
        <p:spPr>
          <a:xfrm>
            <a:off x="411480" y="1627632"/>
            <a:ext cx="4443984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IZ UDゴシック"/>
                <a:ea typeface="BIZ UDゴシック"/>
              </a:rPr>
              <a:t>体積が 変わりそう</a:t>
            </a:r>
          </a:p>
        </p:txBody>
      </p:sp>
      <p:sp>
        <p:nvSpPr>
          <p:cNvPr id="8" name="列_意見が分かれた"/>
          <p:cNvSpPr/>
          <p:nvPr/>
        </p:nvSpPr>
        <p:spPr>
          <a:xfrm>
            <a:off x="5010912" y="1627632"/>
            <a:ext cx="1892807" cy="3127248"/>
          </a:xfrm>
          <a:prstGeom prst="rect">
            <a:avLst/>
          </a:prstGeom>
          <a:noFill/>
          <a:ln w="28575">
            <a:solidFill>
              <a:srgbClr val="6B6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見出し_意見が分かれた"/>
          <p:cNvSpPr/>
          <p:nvPr/>
        </p:nvSpPr>
        <p:spPr>
          <a:xfrm>
            <a:off x="5010912" y="1627632"/>
            <a:ext cx="1892807" cy="475488"/>
          </a:xfrm>
          <a:prstGeom prst="rect">
            <a:avLst/>
          </a:prstGeom>
          <a:solidFill>
            <a:srgbClr val="6B6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見出し文字_意見が分かれた"/>
          <p:cNvSpPr txBox="1"/>
          <p:nvPr/>
        </p:nvSpPr>
        <p:spPr>
          <a:xfrm>
            <a:off x="5010912" y="1627632"/>
            <a:ext cx="1892807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BIZ UDゴシック"/>
                <a:ea typeface="BIZ UDゴシック"/>
              </a:rPr>
              <a:t>意見が分かれた</a:t>
            </a:r>
          </a:p>
        </p:txBody>
      </p:sp>
      <p:sp>
        <p:nvSpPr>
          <p:cNvPr id="11" name="列_体積が 変わらなそう"/>
          <p:cNvSpPr/>
          <p:nvPr/>
        </p:nvSpPr>
        <p:spPr>
          <a:xfrm>
            <a:off x="7059168" y="1627632"/>
            <a:ext cx="4443984" cy="3127248"/>
          </a:xfrm>
          <a:prstGeom prst="rect">
            <a:avLst/>
          </a:prstGeom>
          <a:noFill/>
          <a:ln w="28575">
            <a:solidFill>
              <a:srgbClr val="C83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見出し_体積が 変わらなそう"/>
          <p:cNvSpPr/>
          <p:nvPr/>
        </p:nvSpPr>
        <p:spPr>
          <a:xfrm>
            <a:off x="7059168" y="1627632"/>
            <a:ext cx="4443984" cy="475488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見出し文字_体積が 変わらなそう"/>
          <p:cNvSpPr txBox="1"/>
          <p:nvPr/>
        </p:nvSpPr>
        <p:spPr>
          <a:xfrm>
            <a:off x="7059168" y="1627632"/>
            <a:ext cx="4443984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IZ UDゴシック"/>
                <a:ea typeface="BIZ UDゴシック"/>
              </a:rPr>
              <a:t>体積が 変わらなそう</a:t>
            </a:r>
          </a:p>
        </p:txBody>
      </p:sp>
      <p:sp>
        <p:nvSpPr>
          <p:cNvPr id="14" name="置き場の説明"/>
          <p:cNvSpPr txBox="1"/>
          <p:nvPr/>
        </p:nvSpPr>
        <p:spPr>
          <a:xfrm>
            <a:off x="2124739" y="4937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6B6F76"/>
                </a:solidFill>
                <a:latin typeface="BIZ UDゴシック"/>
                <a:ea typeface="BIZ UDゴシック"/>
              </a:rPr>
              <a:t>カードを動かして分けよう</a:t>
            </a:r>
          </a:p>
        </p:txBody>
      </p:sp>
      <p:pic>
        <p:nvPicPr>
          <p:cNvPr id="15" name="カード_金ぞく" descr="card_riko_hasa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739" y="5266944"/>
            <a:ext cx="1019287" cy="1426463"/>
          </a:xfrm>
          <a:prstGeom prst="rect">
            <a:avLst/>
          </a:prstGeom>
        </p:spPr>
      </p:pic>
      <p:pic>
        <p:nvPicPr>
          <p:cNvPr id="16" name="カード_空気" descr="card_riko_kuu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401" y="5266944"/>
            <a:ext cx="1019287" cy="1426463"/>
          </a:xfrm>
          <a:prstGeom prst="rect">
            <a:avLst/>
          </a:prstGeom>
        </p:spPr>
      </p:pic>
      <p:pic>
        <p:nvPicPr>
          <p:cNvPr id="17" name="カード_木" descr="card_riko_is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064" y="5266944"/>
            <a:ext cx="1019287" cy="1426463"/>
          </a:xfrm>
          <a:prstGeom prst="rect">
            <a:avLst/>
          </a:prstGeom>
        </p:spPr>
      </p:pic>
      <p:pic>
        <p:nvPicPr>
          <p:cNvPr id="18" name="カード_水" descr="card_riko_miz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7" y="5266944"/>
            <a:ext cx="1019287" cy="1426463"/>
          </a:xfrm>
          <a:prstGeom prst="rect">
            <a:avLst/>
          </a:prstGeom>
        </p:spPr>
      </p:pic>
      <p:pic>
        <p:nvPicPr>
          <p:cNvPr id="19" name="カード_プラスチック" descr="card_riko_joug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3390" y="5266944"/>
            <a:ext cx="1019287" cy="1426463"/>
          </a:xfrm>
          <a:prstGeom prst="rect">
            <a:avLst/>
          </a:prstGeom>
        </p:spPr>
      </p:pic>
      <p:pic>
        <p:nvPicPr>
          <p:cNvPr id="20" name="カード_ガラス" descr="card_riko_kop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053" y="5266944"/>
            <a:ext cx="1019287" cy="1426463"/>
          </a:xfrm>
          <a:prstGeom prst="rect">
            <a:avLst/>
          </a:prstGeom>
        </p:spPr>
      </p:pic>
      <p:sp>
        <p:nvSpPr>
          <p:cNvPr id="21" name="クレジット"/>
          <p:cNvSpPr txBox="1"/>
          <p:nvPr/>
        </p:nvSpPr>
        <p:spPr>
          <a:xfrm>
            <a:off x="9037015" y="6583680"/>
            <a:ext cx="27432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A3A7AD"/>
                </a:solidFill>
                <a:latin typeface="BIZ UDゴシック"/>
                <a:ea typeface="BIZ UDゴシック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
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E03C1F"/>
          </a:solidFill>
          <a:ln w="15875">
            <a:solidFill>
              <a:srgbClr val="E03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5400" b="1">
                <a:solidFill>
                  <a:srgbClr val="1F2328"/>
                </a:solidFill>
                <a:latin typeface="BIZ UDゴシック"/>
                <a:ea typeface="BIZ UDゴシック"/>
              </a:rPr>
              <a:t>　はんの発表</a:t>
            </a:r>
          </a:p>
        </p:txBody>
      </p:sp>
      <p:sp>
        <p:nvSpPr>
          <p:cNvPr id="17" name="札_問題"/>
          <p:cNvSpPr/>
          <p:nvPr/>
        </p:nvSpPr>
        <p:spPr>
          <a:xfrm>
            <a:off x="457200" y="2240280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E03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BIZ UDゴシック"/>
                <a:ea typeface="BIZ UDゴシック"/>
              </a:rPr>
              <a:t>1 ■</a:t>
            </a:r>
          </a:p>
        </p:txBody>
      </p:sp>
      <p:sp>
        <p:nvSpPr>
          <p:cNvPr id="19" name="見出し_問題"/>
          <p:cNvSpPr txBox="1"/>
          <p:nvPr/>
        </p:nvSpPr>
        <p:spPr>
          <a:xfrm>
            <a:off x="1490472" y="2240280"/>
            <a:ext cx="954024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問題</a:t>
            </a:r>
          </a:p>
        </p:txBody>
      </p:sp>
      <p:sp>
        <p:nvSpPr>
          <p:cNvPr id="20" name="問題の欄"/>
          <p:cNvSpPr/>
          <p:nvPr/>
        </p:nvSpPr>
        <p:spPr>
          <a:xfrm>
            <a:off x="457200" y="2971800"/>
            <a:ext cx="11277295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03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問題の欄_書くところ"/>
          <p:cNvSpPr txBox="1"/>
          <p:nvPr/>
        </p:nvSpPr>
        <p:spPr>
          <a:xfrm>
            <a:off x="548640" y="3044952"/>
            <a:ext cx="11094415" cy="186537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3400" b="1">
                <a:solidFill>
                  <a:srgbClr val="8A9097"/>
                </a:solidFill>
                <a:latin typeface="BIZ UDゴシック"/>
                <a:ea typeface="BIZ UDゴシック"/>
              </a:rPr>
              <a:t>黒板の問題を そのまま書く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11277295" cy="8229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5F646B"/>
                </a:solidFill>
                <a:latin typeface="BIZ UDゴシック"/>
                <a:ea typeface="BIZ UDゴシック"/>
              </a:rPr>
              <a:t>発表する人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6AA00"/>
          </a:solidFill>
          <a:ln w="15875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札_予想"/>
          <p:cNvSpPr/>
          <p:nvPr/>
        </p:nvSpPr>
        <p:spPr>
          <a:xfrm>
            <a:off x="457200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F6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2 ●</a:t>
            </a:r>
          </a:p>
        </p:txBody>
      </p:sp>
      <p:sp>
        <p:nvSpPr>
          <p:cNvPr id="18" name="見出し_予想"/>
          <p:cNvSpPr txBox="1"/>
          <p:nvPr/>
        </p:nvSpPr>
        <p:spPr>
          <a:xfrm>
            <a:off x="1490472" y="896112"/>
            <a:ext cx="954024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予想</a:t>
            </a:r>
          </a:p>
        </p:txBody>
      </p:sp>
      <p:sp>
        <p:nvSpPr>
          <p:cNvPr id="19" name="予想の欄"/>
          <p:cNvSpPr/>
          <p:nvPr/>
        </p:nvSpPr>
        <p:spPr>
          <a:xfrm>
            <a:off x="457200" y="1627632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予想の欄_書くところ"/>
          <p:cNvSpPr txBox="1"/>
          <p:nvPr/>
        </p:nvSpPr>
        <p:spPr>
          <a:xfrm>
            <a:off x="548640" y="1700784"/>
            <a:ext cx="5212080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わたしたちの予想は</a:t>
            </a:r>
          </a:p>
        </p:txBody>
      </p:sp>
      <p:sp>
        <p:nvSpPr>
          <p:cNvPr id="21" name="札_理由"/>
          <p:cNvSpPr/>
          <p:nvPr/>
        </p:nvSpPr>
        <p:spPr>
          <a:xfrm>
            <a:off x="6336792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F6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2 ●</a:t>
            </a:r>
          </a:p>
        </p:txBody>
      </p:sp>
      <p:sp>
        <p:nvSpPr>
          <p:cNvPr id="23" name="見出し_理由"/>
          <p:cNvSpPr txBox="1"/>
          <p:nvPr/>
        </p:nvSpPr>
        <p:spPr>
          <a:xfrm>
            <a:off x="7370063" y="896112"/>
            <a:ext cx="954024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理由</a:t>
            </a:r>
          </a:p>
        </p:txBody>
      </p:sp>
      <p:sp>
        <p:nvSpPr>
          <p:cNvPr id="24" name="理由の欄"/>
          <p:cNvSpPr/>
          <p:nvPr/>
        </p:nvSpPr>
        <p:spPr>
          <a:xfrm>
            <a:off x="6336792" y="1627632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理由の欄_書くところ"/>
          <p:cNvSpPr txBox="1"/>
          <p:nvPr/>
        </p:nvSpPr>
        <p:spPr>
          <a:xfrm>
            <a:off x="6428231" y="1700784"/>
            <a:ext cx="5212080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そう考えた理由は</a:t>
            </a:r>
          </a:p>
        </p:txBody>
      </p:sp>
      <p:sp>
        <p:nvSpPr>
          <p:cNvPr id="26" name="図の欄"/>
          <p:cNvSpPr/>
          <p:nvPr/>
        </p:nvSpPr>
        <p:spPr>
          <a:xfrm>
            <a:off x="457200" y="3310128"/>
            <a:ext cx="11277295" cy="3044952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2222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図の欄_説明"/>
          <p:cNvSpPr txBox="1"/>
          <p:nvPr/>
        </p:nvSpPr>
        <p:spPr>
          <a:xfrm>
            <a:off x="457200" y="3310128"/>
            <a:ext cx="11277295" cy="3044952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8A9097"/>
                </a:solidFill>
                <a:latin typeface="BIZ UDゴシック"/>
                <a:ea typeface="BIZ UDゴシック"/>
              </a:rPr>
              <a:t>図や写真をはる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6AA00"/>
          </a:solidFill>
          <a:ln w="15875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札_予想が正しければ"/>
          <p:cNvSpPr/>
          <p:nvPr/>
        </p:nvSpPr>
        <p:spPr>
          <a:xfrm>
            <a:off x="457200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F6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2 ●</a:t>
            </a:r>
          </a:p>
        </p:txBody>
      </p:sp>
      <p:sp>
        <p:nvSpPr>
          <p:cNvPr id="18" name="見出し_予想が正しければ"/>
          <p:cNvSpPr txBox="1"/>
          <p:nvPr/>
        </p:nvSpPr>
        <p:spPr>
          <a:xfrm>
            <a:off x="1490472" y="896112"/>
            <a:ext cx="2855976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予想が正しければ</a:t>
            </a:r>
          </a:p>
        </p:txBody>
      </p:sp>
      <p:sp>
        <p:nvSpPr>
          <p:cNvPr id="19" name="見通しの欄"/>
          <p:cNvSpPr/>
          <p:nvPr/>
        </p:nvSpPr>
        <p:spPr>
          <a:xfrm>
            <a:off x="457200" y="1627632"/>
            <a:ext cx="1127729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見通しの欄_書くところ"/>
          <p:cNvSpPr txBox="1"/>
          <p:nvPr/>
        </p:nvSpPr>
        <p:spPr>
          <a:xfrm>
            <a:off x="548640" y="1700784"/>
            <a:ext cx="11094415" cy="122529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3000" b="1">
                <a:solidFill>
                  <a:srgbClr val="8A9097"/>
                </a:solidFill>
                <a:latin typeface="BIZ UDゴシック"/>
                <a:ea typeface="BIZ UDゴシック"/>
              </a:rPr>
              <a:t>予想が正しければ　　　　　　　　　はずです</a:t>
            </a:r>
          </a:p>
        </p:txBody>
      </p:sp>
      <p:sp>
        <p:nvSpPr>
          <p:cNvPr id="21" name="札_計画"/>
          <p:cNvSpPr/>
          <p:nvPr/>
        </p:nvSpPr>
        <p:spPr>
          <a:xfrm>
            <a:off x="457200" y="3218688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F6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2 ●</a:t>
            </a:r>
          </a:p>
        </p:txBody>
      </p:sp>
      <p:sp>
        <p:nvSpPr>
          <p:cNvPr id="23" name="見出し_計画"/>
          <p:cNvSpPr txBox="1"/>
          <p:nvPr/>
        </p:nvSpPr>
        <p:spPr>
          <a:xfrm>
            <a:off x="1490472" y="3218688"/>
            <a:ext cx="954024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計画</a:t>
            </a:r>
          </a:p>
        </p:txBody>
      </p:sp>
      <p:sp>
        <p:nvSpPr>
          <p:cNvPr id="24" name="計画の欄"/>
          <p:cNvSpPr/>
          <p:nvPr/>
        </p:nvSpPr>
        <p:spPr>
          <a:xfrm>
            <a:off x="457200" y="3950208"/>
            <a:ext cx="5394960" cy="2404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6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計画の欄_書くところ"/>
          <p:cNvSpPr txBox="1"/>
          <p:nvPr/>
        </p:nvSpPr>
        <p:spPr>
          <a:xfrm>
            <a:off x="548640" y="4023360"/>
            <a:ext cx="5212080" cy="225856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調べ方を書く</a:t>
            </a:r>
          </a:p>
        </p:txBody>
      </p:sp>
      <p:sp>
        <p:nvSpPr>
          <p:cNvPr id="26" name="図の欄"/>
          <p:cNvSpPr/>
          <p:nvPr/>
        </p:nvSpPr>
        <p:spPr>
          <a:xfrm>
            <a:off x="6336792" y="3218688"/>
            <a:ext cx="5394960" cy="3136392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2222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図の欄_説明"/>
          <p:cNvSpPr txBox="1"/>
          <p:nvPr/>
        </p:nvSpPr>
        <p:spPr>
          <a:xfrm>
            <a:off x="6336792" y="3218688"/>
            <a:ext cx="5394960" cy="3136392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8A9097"/>
                </a:solidFill>
                <a:latin typeface="BIZ UDゴシック"/>
                <a:ea typeface="BIZ UDゴシック"/>
              </a:rPr>
              <a:t>図や写真をはる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4DC4FF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札_結果"/>
          <p:cNvSpPr/>
          <p:nvPr/>
        </p:nvSpPr>
        <p:spPr>
          <a:xfrm>
            <a:off x="457200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3 ▲</a:t>
            </a:r>
          </a:p>
        </p:txBody>
      </p:sp>
      <p:sp>
        <p:nvSpPr>
          <p:cNvPr id="18" name="見出し_結果"/>
          <p:cNvSpPr txBox="1"/>
          <p:nvPr/>
        </p:nvSpPr>
        <p:spPr>
          <a:xfrm>
            <a:off x="1490472" y="896112"/>
            <a:ext cx="954024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結果</a:t>
            </a:r>
          </a:p>
        </p:txBody>
      </p:sp>
      <p:sp>
        <p:nvSpPr>
          <p:cNvPr id="19" name="写真の欄"/>
          <p:cNvSpPr/>
          <p:nvPr/>
        </p:nvSpPr>
        <p:spPr>
          <a:xfrm>
            <a:off x="45720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2222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写真の欄_説明"/>
          <p:cNvSpPr txBox="1"/>
          <p:nvPr/>
        </p:nvSpPr>
        <p:spPr>
          <a:xfrm>
            <a:off x="457200" y="1627632"/>
            <a:ext cx="6766560" cy="47274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8A9097"/>
                </a:solidFill>
                <a:latin typeface="BIZ UDゴシック"/>
                <a:ea typeface="BIZ UDゴシック"/>
              </a:rPr>
              <a:t>図や写真をはる</a:t>
            </a:r>
          </a:p>
        </p:txBody>
      </p:sp>
      <p:sp>
        <p:nvSpPr>
          <p:cNvPr id="21" name="結果の欄"/>
          <p:cNvSpPr/>
          <p:nvPr/>
        </p:nvSpPr>
        <p:spPr>
          <a:xfrm>
            <a:off x="7452360" y="1627632"/>
            <a:ext cx="4279392" cy="4727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結果の欄_書くところ"/>
          <p:cNvSpPr txBox="1"/>
          <p:nvPr/>
        </p:nvSpPr>
        <p:spPr>
          <a:xfrm>
            <a:off x="7543800" y="1700784"/>
            <a:ext cx="4096511" cy="4581144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結果は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1F2328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札_分かったこと"/>
          <p:cNvSpPr/>
          <p:nvPr/>
        </p:nvSpPr>
        <p:spPr>
          <a:xfrm>
            <a:off x="457200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BIZ UDゴシック"/>
                <a:ea typeface="BIZ UDゴシック"/>
              </a:rPr>
              <a:t>4 ◆</a:t>
            </a:r>
          </a:p>
        </p:txBody>
      </p:sp>
      <p:sp>
        <p:nvSpPr>
          <p:cNvPr id="18" name="見出し_分かったこと"/>
          <p:cNvSpPr txBox="1"/>
          <p:nvPr/>
        </p:nvSpPr>
        <p:spPr>
          <a:xfrm>
            <a:off x="1490472" y="896112"/>
            <a:ext cx="2221992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分かったこと</a:t>
            </a:r>
          </a:p>
        </p:txBody>
      </p:sp>
      <p:sp>
        <p:nvSpPr>
          <p:cNvPr id="19" name="分かったことの欄"/>
          <p:cNvSpPr/>
          <p:nvPr/>
        </p:nvSpPr>
        <p:spPr>
          <a:xfrm>
            <a:off x="457200" y="1627632"/>
            <a:ext cx="1127729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分かったことの欄_書くところ"/>
          <p:cNvSpPr txBox="1"/>
          <p:nvPr/>
        </p:nvSpPr>
        <p:spPr>
          <a:xfrm>
            <a:off x="548640" y="1700784"/>
            <a:ext cx="11094415" cy="1956815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3000" b="1">
                <a:solidFill>
                  <a:srgbClr val="8A9097"/>
                </a:solidFill>
                <a:latin typeface="BIZ UDゴシック"/>
                <a:ea typeface="BIZ UDゴシック"/>
              </a:rPr>
              <a:t>このことから</a:t>
            </a:r>
          </a:p>
        </p:txBody>
      </p:sp>
      <p:sp>
        <p:nvSpPr>
          <p:cNvPr id="21" name="札_気づいたこと"/>
          <p:cNvSpPr/>
          <p:nvPr/>
        </p:nvSpPr>
        <p:spPr>
          <a:xfrm>
            <a:off x="457200" y="3950208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8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2328"/>
                </a:solidFill>
                <a:latin typeface="BIZ UDゴシック"/>
                <a:ea typeface="BIZ UDゴシック"/>
              </a:rPr>
              <a:t>3 ▲</a:t>
            </a:r>
          </a:p>
        </p:txBody>
      </p:sp>
      <p:sp>
        <p:nvSpPr>
          <p:cNvPr id="23" name="見出し_気づいたこと"/>
          <p:cNvSpPr txBox="1"/>
          <p:nvPr/>
        </p:nvSpPr>
        <p:spPr>
          <a:xfrm>
            <a:off x="1490472" y="3950208"/>
            <a:ext cx="2221992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気づいたこと</a:t>
            </a:r>
          </a:p>
        </p:txBody>
      </p:sp>
      <p:sp>
        <p:nvSpPr>
          <p:cNvPr id="24" name="気づいたことの欄"/>
          <p:cNvSpPr/>
          <p:nvPr/>
        </p:nvSpPr>
        <p:spPr>
          <a:xfrm>
            <a:off x="457200" y="4681728"/>
            <a:ext cx="11277295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気づいたことの欄_書くところ"/>
          <p:cNvSpPr txBox="1"/>
          <p:nvPr/>
        </p:nvSpPr>
        <p:spPr>
          <a:xfrm>
            <a:off x="548640" y="4754880"/>
            <a:ext cx="11094415" cy="15270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気づいたのは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5F646B"/>
                </a:solidFill>
                <a:latin typeface="BIZ UDゴシック"/>
                <a:ea typeface="BIZ UDゴシック"/>
              </a:rPr>
              <a:t>物の体積と温度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60520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1■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6672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2● 予想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2824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3▲ 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8A9097"/>
                </a:solidFill>
                <a:latin typeface="BIZ UDゴシック"/>
                <a:ea typeface="BIZ UDゴシック"/>
              </a:rPr>
              <a:t>4◆ まとめ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82880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8A3FB8"/>
          </a:solidFill>
          <a:ln w="15875">
            <a:solidFill>
              <a:srgbClr val="8A3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82880"/>
            <a:ext cx="11430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IZ UDゴシック"/>
                <a:ea typeface="BIZ UDゴシック"/>
              </a:rPr>
              <a:t>5★ 次へ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182880"/>
            <a:ext cx="1371600" cy="384048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5F646B"/>
                </a:solidFill>
                <a:latin typeface="BIZ UDゴシック"/>
                <a:ea typeface="BIZ UDゴシック"/>
              </a:rPr>
              <a:t>はん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76656"/>
            <a:ext cx="11277295" cy="36576"/>
          </a:xfrm>
          <a:prstGeom prst="rect">
            <a:avLst/>
          </a:prstGeom>
          <a:solidFill>
            <a:srgbClr val="C4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295" y="6528816"/>
            <a:ext cx="2743200" cy="219456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  <p:sp>
        <p:nvSpPr>
          <p:cNvPr id="16" name="札_ぎもん"/>
          <p:cNvSpPr/>
          <p:nvPr/>
        </p:nvSpPr>
        <p:spPr>
          <a:xfrm>
            <a:off x="457200" y="896112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8A3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896112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BIZ UDゴシック"/>
                <a:ea typeface="BIZ UDゴシック"/>
              </a:rPr>
              <a:t>5 ★</a:t>
            </a:r>
          </a:p>
        </p:txBody>
      </p:sp>
      <p:sp>
        <p:nvSpPr>
          <p:cNvPr id="18" name="見出し_ぎもん"/>
          <p:cNvSpPr txBox="1"/>
          <p:nvPr/>
        </p:nvSpPr>
        <p:spPr>
          <a:xfrm>
            <a:off x="1490472" y="896112"/>
            <a:ext cx="1271016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ぎもん</a:t>
            </a:r>
          </a:p>
        </p:txBody>
      </p:sp>
      <p:sp>
        <p:nvSpPr>
          <p:cNvPr id="19" name="ぎもんの欄"/>
          <p:cNvSpPr/>
          <p:nvPr/>
        </p:nvSpPr>
        <p:spPr>
          <a:xfrm>
            <a:off x="457200" y="1627632"/>
            <a:ext cx="1127729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8A3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ぎもんの欄_書くところ"/>
          <p:cNvSpPr txBox="1"/>
          <p:nvPr/>
        </p:nvSpPr>
        <p:spPr>
          <a:xfrm>
            <a:off x="548640" y="1700784"/>
            <a:ext cx="11094415" cy="1956815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3000" b="1">
                <a:solidFill>
                  <a:srgbClr val="8A9097"/>
                </a:solidFill>
                <a:latin typeface="BIZ UDゴシック"/>
                <a:ea typeface="BIZ UDゴシック"/>
              </a:rPr>
              <a:t>ふしぎに思ったのは</a:t>
            </a:r>
          </a:p>
        </p:txBody>
      </p:sp>
      <p:sp>
        <p:nvSpPr>
          <p:cNvPr id="21" name="札_次に調べたいこと"/>
          <p:cNvSpPr/>
          <p:nvPr/>
        </p:nvSpPr>
        <p:spPr>
          <a:xfrm>
            <a:off x="457200" y="3950208"/>
            <a:ext cx="960120" cy="603504"/>
          </a:xfrm>
          <a:prstGeom prst="roundRect">
            <a:avLst>
              <a:gd name="adj" fmla="val 18000"/>
            </a:avLst>
          </a:prstGeom>
          <a:solidFill>
            <a:srgbClr val="8A3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8"/>
            <a:ext cx="960120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BIZ UDゴシック"/>
                <a:ea typeface="BIZ UDゴシック"/>
              </a:rPr>
              <a:t>5 ★</a:t>
            </a:r>
          </a:p>
        </p:txBody>
      </p:sp>
      <p:sp>
        <p:nvSpPr>
          <p:cNvPr id="23" name="見出し_次に調べたいこと"/>
          <p:cNvSpPr txBox="1"/>
          <p:nvPr/>
        </p:nvSpPr>
        <p:spPr>
          <a:xfrm>
            <a:off x="1490472" y="3950208"/>
            <a:ext cx="2855976" cy="603504"/>
          </a:xfrm>
          <a:prstGeom prst="rect">
            <a:avLst/>
          </a:prstGeom>
          <a:noFill/>
        </p:spPr>
        <p:txBody>
          <a:bodyPr wrap="none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F2328"/>
                </a:solidFill>
                <a:latin typeface="BIZ UDゴシック"/>
                <a:ea typeface="BIZ UDゴシック"/>
              </a:rPr>
              <a:t>次に調べたいこと</a:t>
            </a:r>
          </a:p>
        </p:txBody>
      </p:sp>
      <p:sp>
        <p:nvSpPr>
          <p:cNvPr id="24" name="次に調べたいことの欄"/>
          <p:cNvSpPr/>
          <p:nvPr/>
        </p:nvSpPr>
        <p:spPr>
          <a:xfrm>
            <a:off x="457200" y="4681728"/>
            <a:ext cx="11277295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8A3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次に調べたいことの欄_書くところ"/>
          <p:cNvSpPr txBox="1"/>
          <p:nvPr/>
        </p:nvSpPr>
        <p:spPr>
          <a:xfrm>
            <a:off x="548640" y="4754880"/>
            <a:ext cx="11094415" cy="15270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/>
            <a:r>
              <a:rPr sz="2800" b="1">
                <a:solidFill>
                  <a:srgbClr val="8A9097"/>
                </a:solidFill>
                <a:latin typeface="BIZ UDゴシック"/>
                <a:ea typeface="BIZ UDゴシック"/>
              </a:rPr>
              <a:t>次は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
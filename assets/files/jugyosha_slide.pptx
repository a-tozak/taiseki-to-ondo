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研究主題と副題は、小理研の研究主題のとおりです。スライドでは句読点を使わないため、読点の位置で改行しています。本単元は全10時間で、本時は第8時です。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学習指導要領の本文です（第4学年 内容A(2)）。</a:t>
            </a:r>
          </a:p>
          <a:p>
            <a:r>
              <a:t>「金属，水及び空気の性質について，体積や状態の変化，熱の伝わり方に着目して，それらと温度の変化とを関係付けて調べる活動を通して，次の事項を身に付けることができるよう指導する。」</a:t>
            </a:r>
          </a:p>
          <a:p>
            <a:r>
              <a:t>ア（ア）「金属，水及び空気は，温めたり冷やしたりすると，それらの体積が変わるが，その程度には違いがあること。」</a:t>
            </a:r>
          </a:p>
          <a:p>
            <a:r>
              <a:t>イ「金属，水及び空気の性質について追究する中で，既習の内容や生活経験を基に，金属，水及び空気の温度を変化させたときの体積や状態の変化，熱の伝わり方について，根拠のある予想や仮説を発想し，表現すること。」</a:t>
            </a:r>
          </a:p>
          <a:p>
            <a:r>
              <a:t>解説（p.49）は「これらの中では空気の温度による体積の変化が最も大きいことを捉えるようにする」としています。本単元はア（ア）とイを扱い、（イ）熱の伝わり方は次の単元「物のあたたまり方」で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解説p.17「第４学年では，主に既習の内容や生活経験を基に，根拠のある予想や仮説を発想するといった問題解決の力の育成を目指している。この力を育成するためには，自然の事物・現象同士を関係付けたり，自然の事物・現象と既習の内容や生活経験と関係付けたりすることが大切である。」</a:t>
            </a:r>
          </a:p>
          <a:p>
            <a:r>
              <a:t>解説p.13〜14「「関係付け」には，変化とそれに関わる要因を結び付けたり，既習の内容や生活経験と結び付けたりすることなどがある。」</a:t>
            </a:r>
          </a:p>
          <a:p>
            <a:r>
              <a:t>本単元では、体積の変化と温度の変化を関係付けます。予想の根拠は、前の単元の既習、前の次で導きだした結論、生活経験の三つです。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着眼１は、空気について導きだした結論から「物は、あたためると大きくなり、冷やすと小さくなるのではないか。でも、それは空気だけなのか、ほかの物もそうなのか」という問いを生み、第4時に1時間とって身の回りの物を考えることで、水だけでなく金属も調べようという追究の意欲を生む単元構成です。木や金属だけでなく、ほかの物を考えてもかまいません。</a:t>
            </a:r>
          </a:p>
          <a:p>
            <a:r>
              <a:t>着眼２は、空気も水も大きくなったから金属も大きくなるという考えと、生活経験から金属は大きくならないという考えのずれを、金属の玉だけを配る事象提示で引き出すことです。本時はさらに、湯であたためても玉が輪を通る結果のあとに、レールのつなぎ目のすきまの写真を見せ、結果とのずれからあたため方を見直す必要感をもたせ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指導は空気、水、金属の順に進みます。空気は膜がふくらみ、水は水面が動きます。金属は輪を通らなくなることは分かっても、ふくらみそのものは目に見えません。この見えなさが単元の山場です（指導案 教材観）。</a:t>
            </a:r>
          </a:p>
          <a:p>
            <a:r>
              <a:t>各次で導きだした結論が、次の次の予想の根拠になるように組んでいます。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空気について導きだした結論から「物は、あたためると大きくなり、冷やすと小さくなるのではないか」と考え、「それは空気だけなのか、ほかの物もそうなのか」という問いをもたせます。第4時に1時間とって身の回りの物を分けることで、水だけでなく金属も調べようという追究の意欲を生みます。木や金属だけでなく、ほかの物を考えてもかまいません。</a:t>
            </a:r>
          </a:p>
          <a:p>
            <a:r>
              <a:t>素材カードの絵は、子どもにとって身近な物（はさみ、いす、じょうぎ、コップ）にし、言葉は材料の名前だけにしました。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教材観より。「児童は『かたい金属が変わるはずがない』と考える一方で、『空気も水も変わったのだから、金属も変わるはずだ』とも考える。この児童どうしの考えのずれと、湯につけても金属の玉が輪を通り抜けてしまうという予想と結果のずれから追究意欲を引き出し、目に見えない金属のふくらみを実感させることができる。」</a:t>
            </a:r>
          </a:p>
          <a:p>
            <a:r>
              <a:t>本時（第8時）は、予想の話し合いで1つ目のずれを、湯の実験とレールのつなぎ目の写真で2つ目のずれを起こします。炎で熱して確かめるのは第9時です。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指導案の着眼２の表のとおりです。本時（第3次の最初）は、予想と理由を伝え合う中で考えのずれに気づかせます。そのうえで湯であたためて調べ、玉が輪を通る結果とレールのつなぎ目のすきまの写真とのずれから、あたため方を見直す必要感をもたせ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指導案の着眼１の表（第３次）です。本時は「見いだす・つかむ」「見通す」と、「調べる」のうち湯の実験までを扱います。炎で熱したり冷やしたりして確かめるのは第9時、まとめと焼きばめは第10時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時は手書きメモの6つの流れです。空気と水の学習をふり返り、分類表から次は形のある物の番だと確かめ、金属膨張試験器の玉だけを配って金属だと気づかせます。空気や水と同じ形の問題をつくり、予想を個人、班、全体の順に出し合います。そのあと空気や水の方法を思い出して、60℃くらいの湯で玉をあたためて輪に通します。玉は輪を通るので「金ぞくは変わらない」に傾いたところで、教科書に載っているレールのつなぎ目のすきまの写真を見せ、結果とのずれから次時のあたため方の見直しにつなげます。</a:t>
            </a:r>
          </a:p>
          <a:p>
            <a:r>
              <a:t>時間の目安（45分）：1は3分、2は4分、3は3分、4は15分、5は12分、6は8分。</a:t>
            </a:r>
          </a:p>
          <a:p>
            <a:r>
              <a:t>黄色の場面（2・4・6）が、ずれを引き出す手立てです。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までの学習の足あとを、本時の予想の根拠にできるように掲示します。空気、分類表、水の3まいと、本時に書き足す金属の1まいです。本時は場面1のふり返りと、場面4の予想の理由で使います。写真の欄は見本の絵を仮に置いています。実際は、授業で撮った子どもの写真と実験のようすに差しかえ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本時の流れに合わせた板書の案です。単元サイトの板書計画（マス目プリントメーカーで作ったもの）は、まだ前の流れ（本時が第7時）のままです。問題と計画の文は指導案と同じです。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第9時は、本時の「湯でも玉が通った」結果とレールのつなぎ目のすきまとのずれから、あたため方を見直させ、炎で熱したり冷やしたりします。炎で熱するのは子どもです（2026-10-08 決定）。はじめに教師が手本を見せ、班ごとに火の係と玉の係を決めて行います。教師は全部の班を見て回ります。</a:t>
            </a:r>
          </a:p>
          <a:p>
            <a:r>
              <a:t>第10時に空気、水、金属の結果を比べてまとめ、焼きばめにつなげます。</a:t>
            </a:r>
          </a:p>
          <a:p>
            <a:r>
              <a:t>解説p.50「火を使用して実験したり，熱した湯の様子を観察したりする際に火傷などの危険を伴うので，保護眼鏡を着用することや使用前に器具の点検を行うこと，加熱器具などの適切な操作を確認することなど，安全に配慮するように指導す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の公的資料（学習指導要領解説、教育支援の手引、色覚の資料）と海外の研究を調べました。詳しくは「00_文献の調べと使い方.html」にまとめています。視覚支援を用意する方向は支持されていますが、話し方の型の掲示そのものの効果を比べて確かめた研究は見つかり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回目の試作を、文献にもとづいて直した2回目です。班（5〜6人）に卓上カードを1つ置き、ひとりで書く、となりの人に言う、班で全員が話す、書き足す、前で話す人を決める、の順で進めます。指導案にはまだ書いていない手立てで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685800"/>
            <a:ext cx="6400800" cy="329184"/>
          </a:xfrm>
          <a:prstGeom prst="rect">
            <a:avLst/>
          </a:prstGeom>
          <a:noFill/>
        </p:spPr>
        <p:txBody>
          <a:bodyPr wrap="square" lIns="73152" rIns="73152" tIns="36576" bIns="36576" anchor="t">
            <a:spAutoFit/>
          </a:bodyPr>
          <a:lstStyle/>
          <a:p>
            <a:pPr algn="l">
              <a:lnSpc>
                <a:spcPct val="118000"/>
              </a:lnSpc>
            </a:pPr>
            <a:r>
              <a:rPr sz="1400" b="1">
                <a:solidFill>
                  <a:srgbClr val="5F646B"/>
                </a:solidFill>
                <a:latin typeface="BIZ UDゴシック"/>
                <a:ea typeface="BIZ UDゴシック"/>
              </a:rPr>
              <a:t>小理研 研究授業　授業者説明</a:t>
            </a:r>
          </a:p>
        </p:txBody>
      </p:sp>
      <p:sp>
        <p:nvSpPr>
          <p:cNvPr id="3" name="TextBox 2"/>
          <p:cNvSpPr txBox="1"/>
          <p:nvPr/>
        </p:nvSpPr>
        <p:spPr>
          <a:xfrm>
            <a:off x="731520" y="1097280"/>
            <a:ext cx="6583680" cy="914400"/>
          </a:xfrm>
          <a:prstGeom prst="rect">
            <a:avLst/>
          </a:prstGeom>
          <a:noFill/>
        </p:spPr>
        <p:txBody>
          <a:bodyPr wrap="square" lIns="73152" rIns="73152" tIns="36576" bIns="36576" anchor="t">
            <a:spAutoFit/>
          </a:bodyPr>
          <a:lstStyle/>
          <a:p>
            <a:pPr algn="l">
              <a:lnSpc>
                <a:spcPct val="125000"/>
              </a:lnSpc>
            </a:pPr>
            <a:r>
              <a:rPr sz="2100" b="1">
                <a:solidFill>
                  <a:srgbClr val="1F2328"/>
                </a:solidFill>
                <a:latin typeface="BIZ UDゴシック"/>
                <a:ea typeface="BIZ UDゴシック"/>
              </a:rPr>
              <a:t>解決したい問題を見いだし</a:t>
            </a:r>
          </a:p>
          <a:p>
            <a:pPr algn="l">
              <a:lnSpc>
                <a:spcPct val="125000"/>
              </a:lnSpc>
            </a:pPr>
            <a:r>
              <a:rPr sz="2100" b="1">
                <a:solidFill>
                  <a:srgbClr val="1F2328"/>
                </a:solidFill>
                <a:latin typeface="BIZ UDゴシック"/>
                <a:ea typeface="BIZ UDゴシック"/>
              </a:rPr>
              <a:t>科学的に追究する児童が育つ理科学習指導</a:t>
            </a:r>
          </a:p>
        </p:txBody>
      </p:sp>
      <p:sp>
        <p:nvSpPr>
          <p:cNvPr id="4" name="TextBox 3"/>
          <p:cNvSpPr txBox="1"/>
          <p:nvPr/>
        </p:nvSpPr>
        <p:spPr>
          <a:xfrm>
            <a:off x="731520" y="2057400"/>
            <a:ext cx="6583680" cy="365760"/>
          </a:xfrm>
          <a:prstGeom prst="rect">
            <a:avLst/>
          </a:prstGeom>
          <a:noFill/>
        </p:spPr>
        <p:txBody>
          <a:bodyPr wrap="square" lIns="73152" rIns="73152" tIns="36576" bIns="36576" anchor="t">
            <a:spAutoFit/>
          </a:bodyPr>
          <a:lstStyle/>
          <a:p>
            <a:pPr algn="l">
              <a:lnSpc>
                <a:spcPct val="118000"/>
              </a:lnSpc>
            </a:pPr>
            <a:r>
              <a:rPr sz="1300" b="0">
                <a:solidFill>
                  <a:srgbClr val="5F646B"/>
                </a:solidFill>
                <a:latin typeface="BIZ UDゴシック"/>
                <a:ea typeface="BIZ UDゴシック"/>
              </a:rPr>
              <a:t>〜既有知識をゆさぶる事象提示と追究の連続性を生む単元構成を通して〜</a:t>
            </a:r>
          </a:p>
        </p:txBody>
      </p:sp>
      <p:sp>
        <p:nvSpPr>
          <p:cNvPr id="5" name="Rectangle 4"/>
          <p:cNvSpPr/>
          <p:nvPr/>
        </p:nvSpPr>
        <p:spPr>
          <a:xfrm>
            <a:off x="731520" y="2697480"/>
            <a:ext cx="6309360" cy="27432"/>
          </a:xfrm>
          <a:prstGeom prst="rect">
            <a:avLst/>
          </a:prstGeom>
          <a:solidFill>
            <a:srgbClr val="D6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71800"/>
            <a:ext cx="6583680" cy="731520"/>
          </a:xfrm>
          <a:prstGeom prst="rect">
            <a:avLst/>
          </a:prstGeom>
          <a:noFill/>
        </p:spPr>
        <p:txBody>
          <a:bodyPr wrap="square" lIns="73152" rIns="73152" tIns="36576" bIns="36576" anchor="t">
            <a:spAutoFit/>
          </a:bodyPr>
          <a:lstStyle/>
          <a:p>
            <a:pPr algn="l">
              <a:lnSpc>
                <a:spcPct val="118000"/>
              </a:lnSpc>
            </a:pPr>
            <a:r>
              <a:rPr sz="3800" b="1">
                <a:solidFill>
                  <a:srgbClr val="1F2328"/>
                </a:solidFill>
                <a:latin typeface="BIZ UDゴシック"/>
                <a:ea typeface="BIZ UDゴシック"/>
              </a:rPr>
              <a:t>第4学年　物の体積と温度</a:t>
            </a:r>
          </a:p>
        </p:txBody>
      </p:sp>
      <p:sp>
        <p:nvSpPr>
          <p:cNvPr id="7" name="TextBox 6"/>
          <p:cNvSpPr txBox="1"/>
          <p:nvPr/>
        </p:nvSpPr>
        <p:spPr>
          <a:xfrm>
            <a:off x="731520" y="5074920"/>
            <a:ext cx="6583680" cy="731520"/>
          </a:xfrm>
          <a:prstGeom prst="rect">
            <a:avLst/>
          </a:prstGeom>
          <a:noFill/>
        </p:spPr>
        <p:txBody>
          <a:bodyPr wrap="square" lIns="73152" rIns="73152" tIns="36576" bIns="36576" anchor="t">
            <a:spAutoFit/>
          </a:bodyPr>
          <a:lstStyle/>
          <a:p>
            <a:pPr algn="l">
              <a:lnSpc>
                <a:spcPct val="135000"/>
              </a:lnSpc>
            </a:pPr>
            <a:r>
              <a:rPr sz="1500" b="0">
                <a:solidFill>
                  <a:srgbClr val="1F2328"/>
                </a:solidFill>
                <a:latin typeface="BIZ UDゴシック"/>
                <a:ea typeface="BIZ UDゴシック"/>
              </a:rPr>
              <a:t>令和8年12月4日（金）第5校時　4年1組教室</a:t>
            </a:r>
          </a:p>
          <a:p>
            <a:pPr algn="l">
              <a:lnSpc>
                <a:spcPct val="135000"/>
              </a:lnSpc>
            </a:pPr>
            <a:r>
              <a:rPr sz="1500" b="0">
                <a:solidFill>
                  <a:srgbClr val="1F2328"/>
                </a:solidFill>
                <a:latin typeface="BIZ UDゴシック"/>
                <a:ea typeface="BIZ UDゴシック"/>
              </a:rPr>
              <a:t>4年1組　32名　　授業者　外﨑　顯博</a:t>
            </a:r>
          </a:p>
        </p:txBody>
      </p:sp>
      <p:pic>
        <p:nvPicPr>
          <p:cNvPr id="8" name="表紙の絵" descr="top.jpg"/>
          <p:cNvPicPr>
            <a:picLocks noChangeAspect="1"/>
          </p:cNvPicPr>
          <p:nvPr/>
        </p:nvPicPr>
        <p:blipFill>
          <a:blip r:embed="rId2"/>
          <a:stretch>
            <a:fillRect/>
          </a:stretch>
        </p:blipFill>
        <p:spPr>
          <a:xfrm>
            <a:off x="7315200" y="1417320"/>
            <a:ext cx="4343400" cy="2895600"/>
          </a:xfrm>
          <a:prstGeom prst="rect">
            <a:avLst/>
          </a:prstGeom>
        </p:spPr>
      </p:pic>
      <p:sp>
        <p:nvSpPr>
          <p:cNvPr id="9" name="TextBox 8"/>
          <p:cNvSpPr txBox="1"/>
          <p:nvPr/>
        </p:nvSpPr>
        <p:spPr>
          <a:xfrm>
            <a:off x="7315200" y="4370832"/>
            <a:ext cx="4343400" cy="274320"/>
          </a:xfrm>
          <a:prstGeom prst="rect">
            <a:avLst/>
          </a:prstGeom>
          <a:noFill/>
        </p:spPr>
        <p:txBody>
          <a:bodyPr wrap="square" lIns="73152" rIns="73152" tIns="36576" bIns="36576" anchor="t">
            <a:spAutoFit/>
          </a:bodyPr>
          <a:lstStyle/>
          <a:p>
            <a:pPr algn="l">
              <a:lnSpc>
                <a:spcPct val="118000"/>
              </a:lnSpc>
            </a:pPr>
            <a:r>
              <a:rPr sz="1100" b="0">
                <a:solidFill>
                  <a:srgbClr val="8A9097"/>
                </a:solidFill>
                <a:latin typeface="BIZ UDゴシック"/>
                <a:ea typeface="BIZ UDゴシック"/>
              </a:rPr>
              <a:t>第1時　試験管をにぎってまくを見る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区分"/>
          <p:cNvSpPr txBox="1"/>
          <p:nvPr/>
        </p:nvSpPr>
        <p:spPr>
          <a:xfrm>
            <a:off x="548640" y="274320"/>
            <a:ext cx="8229600" cy="292608"/>
          </a:xfrm>
          <a:prstGeom prst="rect">
            <a:avLst/>
          </a:prstGeom>
          <a:noFill/>
        </p:spPr>
        <p:txBody>
          <a:bodyPr wrap="square" lIns="73152" rIns="73152" tIns="36576" bIns="36576" anchor="t">
            <a:spAutoFit/>
          </a:bodyPr>
          <a:lstStyle/>
          <a:p>
            <a:pPr algn="l">
              <a:lnSpc>
                <a:spcPct val="118000"/>
              </a:lnSpc>
            </a:pPr>
            <a:r>
              <a:rPr sz="1300" b="1">
                <a:solidFill>
                  <a:srgbClr val="5F646B"/>
                </a:solidFill>
                <a:latin typeface="BIZ UDゴシック"/>
                <a:ea typeface="BIZ UDゴシック"/>
              </a:rPr>
              <a:t>学習指導要領</a:t>
            </a:r>
          </a:p>
        </p:txBody>
      </p:sp>
      <p:sp>
        <p:nvSpPr>
          <p:cNvPr id="3" name="見出しの線"/>
          <p:cNvSpPr/>
          <p:nvPr/>
        </p:nvSpPr>
        <p:spPr>
          <a:xfrm>
            <a:off x="548640" y="640080"/>
            <a:ext cx="82296" cy="47548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見出し"/>
          <p:cNvSpPr txBox="1"/>
          <p:nvPr/>
        </p:nvSpPr>
        <p:spPr>
          <a:xfrm>
            <a:off x="749808" y="566928"/>
            <a:ext cx="10972800" cy="603504"/>
          </a:xfrm>
          <a:prstGeom prst="rect">
            <a:avLst/>
          </a:prstGeom>
          <a:noFill/>
        </p:spPr>
        <p:txBody>
          <a:bodyPr wrap="square" lIns="73152" rIns="73152" tIns="36576" bIns="36576" anchor="ctr">
            <a:spAutoFit/>
          </a:bodyPr>
          <a:lstStyle/>
          <a:p>
            <a:pPr algn="l">
              <a:lnSpc>
                <a:spcPct val="118000"/>
              </a:lnSpc>
            </a:pPr>
            <a:r>
              <a:rPr sz="2800" b="1">
                <a:solidFill>
                  <a:srgbClr val="1F2328"/>
                </a:solidFill>
                <a:latin typeface="BIZ UDゴシック"/>
                <a:ea typeface="BIZ UDゴシック"/>
              </a:rPr>
              <a:t>第4学年 A(2)「金属 水 空気と温度」</a:t>
            </a:r>
          </a:p>
        </p:txBody>
      </p:sp>
      <p:sp>
        <p:nvSpPr>
          <p:cNvPr id="5" name="足もと"/>
          <p:cNvSpPr txBox="1"/>
          <p:nvPr/>
        </p:nvSpPr>
        <p:spPr>
          <a:xfrm>
            <a:off x="548640" y="6455664"/>
            <a:ext cx="8229600" cy="256032"/>
          </a:xfrm>
          <a:prstGeom prst="rect">
            <a:avLst/>
          </a:prstGeom>
          <a:noFill/>
        </p:spPr>
        <p:txBody>
          <a:bodyPr wrap="square" lIns="73152" rIns="73152" tIns="36576" bIns="36576" anchor="t">
            <a:spAutoFit/>
          </a:bodyPr>
          <a:lstStyle/>
          <a:p>
            <a:pPr algn="l">
              <a:lnSpc>
                <a:spcPct val="118000"/>
              </a:lnSpc>
            </a:pPr>
            <a:r>
              <a:rPr sz="1000" b="0">
                <a:solidFill>
                  <a:srgbClr val="8A9097"/>
                </a:solidFill>
                <a:latin typeface="BIZ UDゴシック"/>
                <a:ea typeface="BIZ UDゴシック"/>
              </a:rPr>
              <a:t>4年 理科　物の体積と温度　授業者説明</a:t>
            </a:r>
          </a:p>
        </p:txBody>
      </p:sp>
      <p:sp>
        <p:nvSpPr>
          <p:cNvPr id="6" name="ページ"/>
          <p:cNvSpPr txBox="1"/>
          <p:nvPr/>
        </p:nvSpPr>
        <p:spPr>
          <a:xfrm>
            <a:off x="10545775" y="6455664"/>
            <a:ext cx="1097280" cy="256032"/>
          </a:xfrm>
          <a:prstGeom prst="rect">
            <a:avLst/>
          </a:prstGeom>
          <a:noFill/>
        </p:spPr>
        <p:txBody>
          <a:bodyPr wrap="square" lIns="73152" rIns="73152" tIns="36576" bIns="36576" anchor="t">
            <a:spAutoFit/>
          </a:bodyPr>
          <a:lstStyle/>
          <a:p>
            <a:pPr algn="r">
              <a:lnSpc>
                <a:spcPct val="118000"/>
              </a:lnSpc>
            </a:pPr>
            <a:r>
              <a:rPr sz="1000" b="0">
                <a:solidFill>
                  <a:srgbClr val="8A9097"/>
                </a:solidFill>
                <a:latin typeface="BIZ UDゴシック"/>
                <a:ea typeface="BIZ UDゴシック"/>
              </a:rPr>
              <a:t>2</a:t>
            </a:r>
          </a:p>
        </p:txBody>
      </p:sp>
      <p:sp>
        <p:nvSpPr>
          <p:cNvPr id="7" name="本文の地"/>
          <p:cNvSpPr/>
          <p:nvPr/>
        </p:nvSpPr>
        <p:spPr>
          <a:xfrm>
            <a:off x="548640" y="1325880"/>
            <a:ext cx="7589520" cy="489204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463040"/>
            <a:ext cx="7223760" cy="274320"/>
          </a:xfrm>
          <a:prstGeom prst="rect">
            <a:avLst/>
          </a:prstGeom>
          <a:noFill/>
        </p:spPr>
        <p:txBody>
          <a:bodyPr wrap="square" lIns="73152" rIns="73152" tIns="36576" bIns="36576" anchor="t">
            <a:spAutoFit/>
          </a:bodyPr>
          <a:lstStyle/>
          <a:p>
            <a:pPr algn="l">
              <a:lnSpc>
                <a:spcPct val="118000"/>
              </a:lnSpc>
            </a:pPr>
            <a:r>
              <a:rPr sz="1200" b="1">
                <a:solidFill>
                  <a:srgbClr val="5F646B"/>
                </a:solidFill>
                <a:latin typeface="BIZ UDゴシック"/>
                <a:ea typeface="BIZ UDゴシック"/>
              </a:rPr>
              <a:t>内容（第4学年 A物質・エネルギー）</a:t>
            </a:r>
          </a:p>
        </p:txBody>
      </p:sp>
      <p:sp>
        <p:nvSpPr>
          <p:cNvPr id="9" name="TextBox 8"/>
          <p:cNvSpPr txBox="1"/>
          <p:nvPr/>
        </p:nvSpPr>
        <p:spPr>
          <a:xfrm>
            <a:off x="777240" y="1783080"/>
            <a:ext cx="7223760" cy="4389120"/>
          </a:xfrm>
          <a:prstGeom prst="rect">
            <a:avLst/>
          </a:prstGeom>
          <a:noFill/>
        </p:spPr>
        <p:txBody>
          <a:bodyPr wrap="square" lIns="73152" rIns="73152" tIns="36576" bIns="36576" anchor="t">
            <a:spAutoFit/>
          </a:bodyPr>
          <a:lstStyle/>
          <a:p>
            <a:pPr algn="l">
              <a:lnSpc>
                <a:spcPct val="122000"/>
              </a:lnSpc>
            </a:pPr>
            <a:r>
              <a:rPr sz="1500" b="0">
                <a:solidFill>
                  <a:srgbClr val="1F2328"/>
                </a:solidFill>
                <a:latin typeface="BIZ UDゴシック"/>
                <a:ea typeface="BIZ UDゴシック"/>
              </a:rPr>
              <a:t>金属 水及び空気の性質について</a:t>
            </a:r>
          </a:p>
          <a:p>
            <a:pPr algn="l">
              <a:lnSpc>
                <a:spcPct val="122000"/>
              </a:lnSpc>
            </a:pPr>
            <a:r>
              <a:rPr sz="1500" b="0">
                <a:solidFill>
                  <a:srgbClr val="1F2328"/>
                </a:solidFill>
                <a:latin typeface="BIZ UDゴシック"/>
                <a:ea typeface="BIZ UDゴシック"/>
              </a:rPr>
              <a:t>体積や状態の変化 熱の伝わり方に着目して</a:t>
            </a:r>
          </a:p>
          <a:p>
            <a:pPr algn="l">
              <a:lnSpc>
                <a:spcPct val="122000"/>
              </a:lnSpc>
            </a:pPr>
            <a:r>
              <a:rPr sz="1500" b="0">
                <a:solidFill>
                  <a:srgbClr val="1F2328"/>
                </a:solidFill>
                <a:latin typeface="BIZ UDゴシック"/>
                <a:ea typeface="BIZ UDゴシック"/>
              </a:rPr>
              <a:t>それらと温度の変化とを</a:t>
            </a:r>
            <a:r>
              <a:rPr sz="1500" b="1">
                <a:solidFill>
                  <a:srgbClr val="C2410C"/>
                </a:solidFill>
                <a:latin typeface="BIZ UDゴシック"/>
                <a:ea typeface="BIZ UDゴシック"/>
              </a:rPr>
              <a:t>関係付けて調べる</a:t>
            </a:r>
            <a:r>
              <a:rPr sz="1500" b="0">
                <a:solidFill>
                  <a:srgbClr val="1F2328"/>
                </a:solidFill>
                <a:latin typeface="BIZ UDゴシック"/>
                <a:ea typeface="BIZ UDゴシック"/>
              </a:rPr>
              <a:t>活動を通して</a:t>
            </a:r>
          </a:p>
          <a:p>
            <a:pPr algn="l">
              <a:lnSpc>
                <a:spcPct val="122000"/>
              </a:lnSpc>
            </a:pPr>
            <a:r>
              <a:rPr sz="1500" b="0">
                <a:solidFill>
                  <a:srgbClr val="1F2328"/>
                </a:solidFill>
                <a:latin typeface="BIZ UDゴシック"/>
                <a:ea typeface="BIZ UDゴシック"/>
              </a:rPr>
              <a:t>次の事項を身に付けることができるよう指導する</a:t>
            </a:r>
          </a:p>
          <a:p>
            <a:pPr algn="l">
              <a:lnSpc>
                <a:spcPct val="122000"/>
              </a:lnSpc>
            </a:pPr>
            <a:r>
              <a:rPr sz="1500" b="0">
                <a:solidFill>
                  <a:srgbClr val="1F2328"/>
                </a:solidFill>
                <a:latin typeface="BIZ UDゴシック"/>
                <a:ea typeface="BIZ UDゴシック"/>
              </a:rPr>
              <a:t>ア　次のことを理解するとともに</a:t>
            </a:r>
          </a:p>
          <a:p>
            <a:pPr algn="l">
              <a:lnSpc>
                <a:spcPct val="122000"/>
              </a:lnSpc>
            </a:pPr>
            <a:r>
              <a:rPr sz="1500" b="0">
                <a:solidFill>
                  <a:srgbClr val="1F2328"/>
                </a:solidFill>
                <a:latin typeface="BIZ UDゴシック"/>
                <a:ea typeface="BIZ UDゴシック"/>
              </a:rPr>
              <a:t>　　観察 実験などに関する技能を身に付けること</a:t>
            </a:r>
          </a:p>
          <a:p>
            <a:pPr algn="l">
              <a:lnSpc>
                <a:spcPct val="122000"/>
              </a:lnSpc>
            </a:pPr>
            <a:r>
              <a:rPr sz="1500" b="0">
                <a:solidFill>
                  <a:srgbClr val="1F2328"/>
                </a:solidFill>
                <a:latin typeface="BIZ UDゴシック"/>
                <a:ea typeface="BIZ UDゴシック"/>
              </a:rPr>
              <a:t>　（ア） 金属 水及び空気は 温めたり冷やしたりすると</a:t>
            </a:r>
          </a:p>
          <a:p>
            <a:pPr algn="l">
              <a:lnSpc>
                <a:spcPct val="122000"/>
              </a:lnSpc>
            </a:pPr>
            <a:r>
              <a:rPr sz="1500" b="0">
                <a:solidFill>
                  <a:srgbClr val="1F2328"/>
                </a:solidFill>
                <a:latin typeface="BIZ UDゴシック"/>
                <a:ea typeface="BIZ UDゴシック"/>
              </a:rPr>
              <a:t>　　 それらの体積が変わるが </a:t>
            </a:r>
            <a:r>
              <a:rPr sz="1500" b="1">
                <a:solidFill>
                  <a:srgbClr val="C2410C"/>
                </a:solidFill>
                <a:latin typeface="BIZ UDゴシック"/>
                <a:ea typeface="BIZ UDゴシック"/>
              </a:rPr>
              <a:t>その程度には違いがあること</a:t>
            </a:r>
          </a:p>
          <a:p>
            <a:pPr algn="l">
              <a:lnSpc>
                <a:spcPct val="122000"/>
              </a:lnSpc>
            </a:pPr>
            <a:r>
              <a:rPr sz="1500" b="0">
                <a:solidFill>
                  <a:srgbClr val="5F646B"/>
                </a:solidFill>
                <a:latin typeface="BIZ UDゴシック"/>
                <a:ea typeface="BIZ UDゴシック"/>
              </a:rPr>
              <a:t>　（イ） 熱の伝わり方　（ウ） 水の状態変化（別の単元で扱う）</a:t>
            </a:r>
          </a:p>
          <a:p>
            <a:pPr algn="l">
              <a:lnSpc>
                <a:spcPct val="122000"/>
              </a:lnSpc>
            </a:pPr>
            <a:r>
              <a:rPr sz="1500" b="0">
                <a:solidFill>
                  <a:srgbClr val="1F2328"/>
                </a:solidFill>
                <a:latin typeface="BIZ UDゴシック"/>
                <a:ea typeface="BIZ UDゴシック"/>
              </a:rPr>
              <a:t>イ　金属 水及び空気の性質について追究する中で</a:t>
            </a:r>
          </a:p>
          <a:p>
            <a:pPr algn="l">
              <a:lnSpc>
                <a:spcPct val="122000"/>
              </a:lnSpc>
            </a:pPr>
            <a:r>
              <a:rPr sz="1500" b="0">
                <a:solidFill>
                  <a:srgbClr val="1F2328"/>
                </a:solidFill>
                <a:latin typeface="BIZ UDゴシック"/>
                <a:ea typeface="BIZ UDゴシック"/>
              </a:rPr>
              <a:t>　　</a:t>
            </a:r>
            <a:r>
              <a:rPr sz="1500" b="1">
                <a:solidFill>
                  <a:srgbClr val="C2410C"/>
                </a:solidFill>
                <a:latin typeface="BIZ UDゴシック"/>
                <a:ea typeface="BIZ UDゴシック"/>
              </a:rPr>
              <a:t>既習の内容や生活経験を基に</a:t>
            </a:r>
          </a:p>
          <a:p>
            <a:pPr algn="l">
              <a:lnSpc>
                <a:spcPct val="122000"/>
              </a:lnSpc>
            </a:pPr>
            <a:r>
              <a:rPr sz="1500" b="0">
                <a:solidFill>
                  <a:srgbClr val="1F2328"/>
                </a:solidFill>
                <a:latin typeface="BIZ UDゴシック"/>
                <a:ea typeface="BIZ UDゴシック"/>
              </a:rPr>
              <a:t>　　金属 水及び空気の温度を変化させたときの</a:t>
            </a:r>
          </a:p>
          <a:p>
            <a:pPr algn="l">
              <a:lnSpc>
                <a:spcPct val="122000"/>
              </a:lnSpc>
            </a:pPr>
            <a:r>
              <a:rPr sz="1500" b="0">
                <a:solidFill>
                  <a:srgbClr val="1F2328"/>
                </a:solidFill>
                <a:latin typeface="BIZ UDゴシック"/>
                <a:ea typeface="BIZ UDゴシック"/>
              </a:rPr>
              <a:t>　　体積や状態の変化 熱の伝わり方について</a:t>
            </a:r>
          </a:p>
          <a:p>
            <a:pPr algn="l">
              <a:lnSpc>
                <a:spcPct val="122000"/>
              </a:lnSpc>
            </a:pPr>
            <a:r>
              <a:rPr sz="1500" b="0">
                <a:solidFill>
                  <a:srgbClr val="1F2328"/>
                </a:solidFill>
                <a:latin typeface="BIZ UDゴシック"/>
                <a:ea typeface="BIZ UDゴシック"/>
              </a:rPr>
              <a:t>　　</a:t>
            </a:r>
            <a:r>
              <a:rPr sz="1500" b="1">
                <a:solidFill>
                  <a:srgbClr val="C2410C"/>
                </a:solidFill>
                <a:latin typeface="BIZ UDゴシック"/>
                <a:ea typeface="BIZ UDゴシック"/>
              </a:rPr>
              <a:t>根拠のある予想や仮説を発想し</a:t>
            </a:r>
            <a:r>
              <a:rPr sz="1500" b="0">
                <a:solidFill>
                  <a:srgbClr val="1F2328"/>
                </a:solidFill>
                <a:latin typeface="BIZ UDゴシック"/>
                <a:ea typeface="BIZ UDゴシック"/>
              </a:rPr>
              <a:t> 表現すること</a:t>
            </a:r>
          </a:p>
        </p:txBody>
      </p:sp>
      <p:sp>
        <p:nvSpPr>
          <p:cNvPr id="10" name="Rectangle 9"/>
          <p:cNvSpPr/>
          <p:nvPr/>
        </p:nvSpPr>
        <p:spPr>
          <a:xfrm>
            <a:off x="8412480" y="1325880"/>
            <a:ext cx="3227832" cy="1536192"/>
          </a:xfrm>
          <a:prstGeom prst="rect">
            <a:avLst/>
          </a:prstGeom>
          <a:solidFill>
            <a:srgbClr val="FFFFFF"/>
          </a:solidFill>
          <a:ln w="12700">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40" y="1435607"/>
            <a:ext cx="2953512" cy="310896"/>
          </a:xfrm>
          <a:prstGeom prst="rect">
            <a:avLst/>
          </a:prstGeom>
          <a:noFill/>
        </p:spPr>
        <p:txBody>
          <a:bodyPr wrap="square" lIns="73152" rIns="73152" tIns="36576" bIns="36576" anchor="t">
            <a:spAutoFit/>
          </a:bodyPr>
          <a:lstStyle/>
          <a:p>
            <a:pPr algn="l">
              <a:lnSpc>
                <a:spcPct val="118000"/>
              </a:lnSpc>
            </a:pPr>
            <a:r>
              <a:rPr sz="1400" b="1">
                <a:solidFill>
                  <a:srgbClr val="C2410C"/>
                </a:solidFill>
                <a:latin typeface="BIZ UDゴシック"/>
                <a:ea typeface="BIZ UDゴシック"/>
              </a:rPr>
              <a:t>粒子を柱とする内容</a:t>
            </a:r>
          </a:p>
        </p:txBody>
      </p:sp>
      <p:sp>
        <p:nvSpPr>
          <p:cNvPr id="12" name="TextBox 11"/>
          <p:cNvSpPr txBox="1"/>
          <p:nvPr/>
        </p:nvSpPr>
        <p:spPr>
          <a:xfrm>
            <a:off x="8549640" y="1783080"/>
            <a:ext cx="2953512" cy="1005840"/>
          </a:xfrm>
          <a:prstGeom prst="rect">
            <a:avLst/>
          </a:prstGeom>
          <a:noFill/>
        </p:spPr>
        <p:txBody>
          <a:bodyPr wrap="square" lIns="73152" rIns="73152" tIns="36576" bIns="36576" anchor="t">
            <a:spAutoFit/>
          </a:bodyPr>
          <a:lstStyle/>
          <a:p>
            <a:pPr algn="l">
              <a:lnSpc>
                <a:spcPct val="120000"/>
              </a:lnSpc>
            </a:pPr>
            <a:r>
              <a:rPr sz="1400" b="0">
                <a:solidFill>
                  <a:srgbClr val="1F2328"/>
                </a:solidFill>
                <a:latin typeface="BIZ UDゴシック"/>
                <a:ea typeface="BIZ UDゴシック"/>
              </a:rPr>
              <a:t>粒子のもつエネルギー</a:t>
            </a:r>
          </a:p>
          <a:p>
            <a:pPr algn="l">
              <a:lnSpc>
                <a:spcPct val="120000"/>
              </a:lnSpc>
            </a:pPr>
            <a:r>
              <a:rPr sz="1400" b="0">
                <a:solidFill>
                  <a:srgbClr val="1F2328"/>
                </a:solidFill>
                <a:latin typeface="BIZ UDゴシック"/>
                <a:ea typeface="BIZ UDゴシック"/>
              </a:rPr>
              <a:t>中学校の状態変化へ</a:t>
            </a:r>
          </a:p>
          <a:p>
            <a:pPr algn="l">
              <a:lnSpc>
                <a:spcPct val="120000"/>
              </a:lnSpc>
            </a:pPr>
            <a:r>
              <a:rPr sz="1400" b="0">
                <a:solidFill>
                  <a:srgbClr val="1F2328"/>
                </a:solidFill>
                <a:latin typeface="BIZ UDゴシック"/>
                <a:ea typeface="BIZ UDゴシック"/>
              </a:rPr>
              <a:t>つながる</a:t>
            </a:r>
          </a:p>
        </p:txBody>
      </p:sp>
      <p:sp>
        <p:nvSpPr>
          <p:cNvPr id="13" name="Rectangle 12"/>
          <p:cNvSpPr/>
          <p:nvPr/>
        </p:nvSpPr>
        <p:spPr>
          <a:xfrm>
            <a:off x="8412480" y="2990088"/>
            <a:ext cx="3227832" cy="1536192"/>
          </a:xfrm>
          <a:prstGeom prst="rect">
            <a:avLst/>
          </a:prstGeom>
          <a:solidFill>
            <a:srgbClr val="FFFFFF"/>
          </a:solidFill>
          <a:ln w="12700">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49640" y="3099816"/>
            <a:ext cx="2953512" cy="310896"/>
          </a:xfrm>
          <a:prstGeom prst="rect">
            <a:avLst/>
          </a:prstGeom>
          <a:noFill/>
        </p:spPr>
        <p:txBody>
          <a:bodyPr wrap="square" lIns="73152" rIns="73152" tIns="36576" bIns="36576" anchor="t">
            <a:spAutoFit/>
          </a:bodyPr>
          <a:lstStyle/>
          <a:p>
            <a:pPr algn="l">
              <a:lnSpc>
                <a:spcPct val="118000"/>
              </a:lnSpc>
            </a:pPr>
            <a:r>
              <a:rPr sz="1400" b="1">
                <a:solidFill>
                  <a:srgbClr val="C2410C"/>
                </a:solidFill>
                <a:latin typeface="BIZ UDゴシック"/>
                <a:ea typeface="BIZ UDゴシック"/>
              </a:rPr>
              <a:t>この単元で扱うところ</a:t>
            </a:r>
          </a:p>
        </p:txBody>
      </p:sp>
      <p:sp>
        <p:nvSpPr>
          <p:cNvPr id="15" name="TextBox 14"/>
          <p:cNvSpPr txBox="1"/>
          <p:nvPr/>
        </p:nvSpPr>
        <p:spPr>
          <a:xfrm>
            <a:off x="8549640" y="3447288"/>
            <a:ext cx="2953512" cy="1005840"/>
          </a:xfrm>
          <a:prstGeom prst="rect">
            <a:avLst/>
          </a:prstGeom>
          <a:noFill/>
        </p:spPr>
        <p:txBody>
          <a:bodyPr wrap="square" lIns="73152" rIns="73152" tIns="36576" bIns="36576" anchor="t">
            <a:spAutoFit/>
          </a:bodyPr>
          <a:lstStyle/>
          <a:p>
            <a:pPr algn="l">
              <a:lnSpc>
                <a:spcPct val="120000"/>
              </a:lnSpc>
            </a:pPr>
            <a:r>
              <a:rPr sz="1400" b="0">
                <a:solidFill>
                  <a:srgbClr val="1F2328"/>
                </a:solidFill>
                <a:latin typeface="BIZ UDゴシック"/>
                <a:ea typeface="BIZ UDゴシック"/>
              </a:rPr>
              <a:t>ア（ア） とイ</a:t>
            </a:r>
          </a:p>
          <a:p>
            <a:pPr algn="l">
              <a:lnSpc>
                <a:spcPct val="120000"/>
              </a:lnSpc>
            </a:pPr>
            <a:r>
              <a:rPr sz="1400" b="0">
                <a:solidFill>
                  <a:srgbClr val="1F2328"/>
                </a:solidFill>
                <a:latin typeface="BIZ UDゴシック"/>
                <a:ea typeface="BIZ UDゴシック"/>
              </a:rPr>
              <a:t>体積の変化と温度の変化を</a:t>
            </a:r>
          </a:p>
          <a:p>
            <a:pPr algn="l">
              <a:lnSpc>
                <a:spcPct val="120000"/>
              </a:lnSpc>
            </a:pPr>
            <a:r>
              <a:rPr sz="1400" b="0">
                <a:solidFill>
                  <a:srgbClr val="1F2328"/>
                </a:solidFill>
                <a:latin typeface="BIZ UDゴシック"/>
                <a:ea typeface="BIZ UDゴシック"/>
              </a:rPr>
              <a:t>関係付けて調べる</a:t>
            </a:r>
          </a:p>
        </p:txBody>
      </p:sp>
      <p:sp>
        <p:nvSpPr>
          <p:cNvPr id="16" name="Rectangle 15"/>
          <p:cNvSpPr/>
          <p:nvPr/>
        </p:nvSpPr>
        <p:spPr>
          <a:xfrm>
            <a:off x="8412480" y="4654296"/>
            <a:ext cx="3227832" cy="1536192"/>
          </a:xfrm>
          <a:prstGeom prst="rect">
            <a:avLst/>
          </a:prstGeom>
          <a:solidFill>
            <a:srgbClr val="FFFFFF"/>
          </a:solidFill>
          <a:ln w="12700">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49640" y="4764024"/>
            <a:ext cx="2953512" cy="310896"/>
          </a:xfrm>
          <a:prstGeom prst="rect">
            <a:avLst/>
          </a:prstGeom>
          <a:noFill/>
        </p:spPr>
        <p:txBody>
          <a:bodyPr wrap="square" lIns="73152" rIns="73152" tIns="36576" bIns="36576" anchor="t">
            <a:spAutoFit/>
          </a:bodyPr>
          <a:lstStyle/>
          <a:p>
            <a:pPr algn="l">
              <a:lnSpc>
                <a:spcPct val="118000"/>
              </a:lnSpc>
            </a:pPr>
            <a:r>
              <a:rPr sz="1400" b="1">
                <a:solidFill>
                  <a:srgbClr val="C2410C"/>
                </a:solidFill>
                <a:latin typeface="BIZ UDゴシック"/>
                <a:ea typeface="BIZ UDゴシック"/>
              </a:rPr>
              <a:t>解説が示す捉え</a:t>
            </a:r>
          </a:p>
        </p:txBody>
      </p:sp>
      <p:sp>
        <p:nvSpPr>
          <p:cNvPr id="18" name="TextBox 17"/>
          <p:cNvSpPr txBox="1"/>
          <p:nvPr/>
        </p:nvSpPr>
        <p:spPr>
          <a:xfrm>
            <a:off x="8549640" y="5111496"/>
            <a:ext cx="2953512" cy="1005840"/>
          </a:xfrm>
          <a:prstGeom prst="rect">
            <a:avLst/>
          </a:prstGeom>
          <a:noFill/>
        </p:spPr>
        <p:txBody>
          <a:bodyPr wrap="square" lIns="73152" rIns="73152" tIns="36576" bIns="36576" anchor="t">
            <a:spAutoFit/>
          </a:bodyPr>
          <a:lstStyle/>
          <a:p>
            <a:pPr algn="l">
              <a:lnSpc>
                <a:spcPct val="120000"/>
              </a:lnSpc>
            </a:pPr>
            <a:r>
              <a:rPr sz="1400" b="0">
                <a:solidFill>
                  <a:srgbClr val="1F2328"/>
                </a:solidFill>
                <a:latin typeface="BIZ UDゴシック"/>
                <a:ea typeface="BIZ UDゴシック"/>
              </a:rPr>
              <a:t>空気 水 金属のうち</a:t>
            </a:r>
          </a:p>
          <a:p>
            <a:pPr algn="l">
              <a:lnSpc>
                <a:spcPct val="120000"/>
              </a:lnSpc>
            </a:pPr>
            <a:r>
              <a:rPr sz="1400" b="0">
                <a:solidFill>
                  <a:srgbClr val="1F2328"/>
                </a:solidFill>
                <a:latin typeface="BIZ UDゴシック"/>
                <a:ea typeface="BIZ UDゴシック"/>
              </a:rPr>
              <a:t>温度による体積の変化は</a:t>
            </a:r>
          </a:p>
          <a:p>
            <a:pPr algn="l">
              <a:lnSpc>
                <a:spcPct val="120000"/>
              </a:lnSpc>
            </a:pPr>
            <a:r>
              <a:rPr sz="1400" b="0">
                <a:solidFill>
                  <a:srgbClr val="1F2328"/>
                </a:solidFill>
                <a:latin typeface="BIZ UDゴシック"/>
                <a:ea typeface="BIZ UDゴシック"/>
              </a:rPr>
              <a:t>空気が最も大きい</a:t>
            </a:r>
          </a:p>
        </p:txBody>
      </p:sp>
      <p:sp>
        <p:nvSpPr>
          <p:cNvPr id="19" name="TextBox 18"/>
          <p:cNvSpPr txBox="1"/>
          <p:nvPr/>
        </p:nvSpPr>
        <p:spPr>
          <a:xfrm>
            <a:off x="548640" y="6254496"/>
            <a:ext cx="11155680" cy="201168"/>
          </a:xfrm>
          <a:prstGeom prst="rect">
            <a:avLst/>
          </a:prstGeom>
          <a:noFill/>
        </p:spPr>
        <p:txBody>
          <a:bodyPr wrap="square" lIns="73152" rIns="73152" tIns="36576" bIns="36576" anchor="t">
            <a:spAutoFit/>
          </a:bodyPr>
          <a:lstStyle/>
          <a:p>
            <a:pPr algn="l">
              <a:lnSpc>
                <a:spcPct val="118000"/>
              </a:lnSpc>
            </a:pPr>
            <a:r>
              <a:rPr sz="1100" b="0">
                <a:solidFill>
                  <a:srgbClr val="5F646B"/>
                </a:solidFill>
                <a:latin typeface="BIZ UDゴシック"/>
                <a:ea typeface="BIZ UDゴシック"/>
              </a:rPr>
              <a:t>出典　小学校学習指導要領（平成29年告示）第2章第4節理科 第4学年 2内容 A(2)　同解説 理科編 48〜50ページ　引用の読点は改行か空白に置きかえています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区分"/>
          <p:cNvSpPr txBox="1"/>
          <p:nvPr/>
        </p:nvSpPr>
        <p:spPr>
          <a:xfrm>
            <a:off x="548640" y="274320"/>
            <a:ext cx="8229600" cy="292608"/>
          </a:xfrm>
          <a:prstGeom prst="rect">
            <a:avLst/>
          </a:prstGeom>
          <a:noFill/>
        </p:spPr>
        <p:txBody>
          <a:bodyPr wrap="square" lIns="73152" rIns="73152" tIns="36576" bIns="36576" anchor="t">
            <a:spAutoFit/>
          </a:bodyPr>
          <a:lstStyle/>
          <a:p>
            <a:pPr algn="l">
              <a:lnSpc>
                <a:spcPct val="118000"/>
              </a:lnSpc>
            </a:pPr>
            <a:r>
              <a:rPr sz="1300" b="1">
                <a:solidFill>
                  <a:srgbClr val="5F646B"/>
                </a:solidFill>
                <a:latin typeface="BIZ UDゴシック"/>
                <a:ea typeface="BIZ UDゴシック"/>
              </a:rPr>
              <a:t>学習指導要領解説</a:t>
            </a:r>
          </a:p>
        </p:txBody>
      </p:sp>
      <p:sp>
        <p:nvSpPr>
          <p:cNvPr id="3" name="見出しの線"/>
          <p:cNvSpPr/>
          <p:nvPr/>
        </p:nvSpPr>
        <p:spPr>
          <a:xfrm>
            <a:off x="548640" y="640080"/>
            <a:ext cx="82296" cy="47548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見出し"/>
          <p:cNvSpPr txBox="1"/>
          <p:nvPr/>
        </p:nvSpPr>
        <p:spPr>
          <a:xfrm>
            <a:off x="749808" y="566928"/>
            <a:ext cx="10972800" cy="603504"/>
          </a:xfrm>
          <a:prstGeom prst="rect">
            <a:avLst/>
          </a:prstGeom>
          <a:noFill/>
        </p:spPr>
        <p:txBody>
          <a:bodyPr wrap="square" lIns="73152" rIns="73152" tIns="36576" bIns="36576" anchor="ctr">
            <a:spAutoFit/>
          </a:bodyPr>
          <a:lstStyle/>
          <a:p>
            <a:pPr algn="l">
              <a:lnSpc>
                <a:spcPct val="118000"/>
              </a:lnSpc>
            </a:pPr>
            <a:r>
              <a:rPr sz="2800" b="1">
                <a:solidFill>
                  <a:srgbClr val="1F2328"/>
                </a:solidFill>
                <a:latin typeface="BIZ UDゴシック"/>
                <a:ea typeface="BIZ UDゴシック"/>
              </a:rPr>
              <a:t>4年で育てたい問題解決の力</a:t>
            </a:r>
          </a:p>
        </p:txBody>
      </p:sp>
      <p:sp>
        <p:nvSpPr>
          <p:cNvPr id="5" name="足もと"/>
          <p:cNvSpPr txBox="1"/>
          <p:nvPr/>
        </p:nvSpPr>
        <p:spPr>
          <a:xfrm>
            <a:off x="548640" y="6455664"/>
            <a:ext cx="8229600" cy="256032"/>
          </a:xfrm>
          <a:prstGeom prst="rect">
            <a:avLst/>
          </a:prstGeom>
          <a:noFill/>
        </p:spPr>
        <p:txBody>
          <a:bodyPr wrap="square" lIns="73152" rIns="73152" tIns="36576" bIns="36576" anchor="t">
            <a:spAutoFit/>
          </a:bodyPr>
          <a:lstStyle/>
          <a:p>
            <a:pPr algn="l">
              <a:lnSpc>
                <a:spcPct val="118000"/>
              </a:lnSpc>
            </a:pPr>
            <a:r>
              <a:rPr sz="1000" b="0">
                <a:solidFill>
                  <a:srgbClr val="8A9097"/>
                </a:solidFill>
                <a:latin typeface="BIZ UDゴシック"/>
                <a:ea typeface="BIZ UDゴシック"/>
              </a:rPr>
              <a:t>4年 理科　物の体積と温度　授業者説明</a:t>
            </a:r>
          </a:p>
        </p:txBody>
      </p:sp>
      <p:sp>
        <p:nvSpPr>
          <p:cNvPr id="6" name="ページ"/>
          <p:cNvSpPr txBox="1"/>
          <p:nvPr/>
        </p:nvSpPr>
        <p:spPr>
          <a:xfrm>
            <a:off x="10545775" y="6455664"/>
            <a:ext cx="1097280" cy="256032"/>
          </a:xfrm>
          <a:prstGeom prst="rect">
            <a:avLst/>
          </a:prstGeom>
          <a:noFill/>
        </p:spPr>
        <p:txBody>
          <a:bodyPr wrap="square" lIns="73152" rIns="73152" tIns="36576" bIns="36576" anchor="t">
            <a:spAutoFit/>
          </a:bodyPr>
          <a:lstStyle/>
          <a:p>
            <a:pPr algn="r">
              <a:lnSpc>
                <a:spcPct val="118000"/>
              </a:lnSpc>
            </a:pPr>
            <a:r>
              <a:rPr sz="1000" b="0">
                <a:solidFill>
                  <a:srgbClr val="8A9097"/>
                </a:solidFill>
                <a:latin typeface="BIZ UDゴシック"/>
                <a:ea typeface="BIZ UDゴシック"/>
              </a:rPr>
              <a:t>3</a:t>
            </a:r>
          </a:p>
        </p:txBody>
      </p:sp>
      <p:sp>
        <p:nvSpPr>
          <p:cNvPr id="7" name="力の地"/>
          <p:cNvSpPr/>
          <p:nvPr/>
        </p:nvSpPr>
        <p:spPr>
          <a:xfrm>
            <a:off x="548640" y="1325880"/>
            <a:ext cx="11091672" cy="109728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82296" cy="109728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371600"/>
            <a:ext cx="8686800" cy="1005840"/>
          </a:xfrm>
          <a:prstGeom prst="rect">
            <a:avLst/>
          </a:prstGeom>
          <a:noFill/>
        </p:spPr>
        <p:txBody>
          <a:bodyPr wrap="square" lIns="73152" rIns="73152" tIns="36576" bIns="36576" anchor="ctr">
            <a:spAutoFit/>
          </a:bodyPr>
          <a:lstStyle/>
          <a:p>
            <a:pPr algn="l">
              <a:lnSpc>
                <a:spcPct val="118000"/>
              </a:lnSpc>
            </a:pPr>
            <a:r>
              <a:rPr sz="3000" b="1">
                <a:solidFill>
                  <a:srgbClr val="1F2328"/>
                </a:solidFill>
                <a:latin typeface="BIZ UDゴシック"/>
                <a:ea typeface="BIZ UDゴシック"/>
              </a:rPr>
              <a:t>根拠のある予想や仮説を発想する力</a:t>
            </a:r>
          </a:p>
        </p:txBody>
      </p:sp>
      <p:sp>
        <p:nvSpPr>
          <p:cNvPr id="10" name="TextBox 9"/>
          <p:cNvSpPr txBox="1"/>
          <p:nvPr/>
        </p:nvSpPr>
        <p:spPr>
          <a:xfrm>
            <a:off x="9052560" y="1371600"/>
            <a:ext cx="2514600" cy="1005840"/>
          </a:xfrm>
          <a:prstGeom prst="rect">
            <a:avLst/>
          </a:prstGeom>
          <a:noFill/>
        </p:spPr>
        <p:txBody>
          <a:bodyPr wrap="square" lIns="73152" rIns="73152" tIns="36576" bIns="36576" anchor="ctr">
            <a:spAutoFit/>
          </a:bodyPr>
          <a:lstStyle/>
          <a:p>
            <a:pPr algn="r">
              <a:lnSpc>
                <a:spcPct val="118000"/>
              </a:lnSpc>
            </a:pPr>
            <a:r>
              <a:rPr sz="1200" b="0">
                <a:solidFill>
                  <a:srgbClr val="5F646B"/>
                </a:solidFill>
                <a:latin typeface="BIZ UDゴシック"/>
                <a:ea typeface="BIZ UDゴシック"/>
              </a:rPr>
              <a:t>第4学年の目標</a:t>
            </a:r>
          </a:p>
          <a:p>
            <a:pPr algn="r">
              <a:lnSpc>
                <a:spcPct val="118000"/>
              </a:lnSpc>
            </a:pPr>
            <a:r>
              <a:rPr sz="1200" b="0">
                <a:solidFill>
                  <a:srgbClr val="5F646B"/>
                </a:solidFill>
                <a:latin typeface="BIZ UDゴシック"/>
                <a:ea typeface="BIZ UDゴシック"/>
              </a:rPr>
              <a:t>解説 45ページ</a:t>
            </a:r>
          </a:p>
        </p:txBody>
      </p:sp>
      <p:sp>
        <p:nvSpPr>
          <p:cNvPr id="11" name="Rectangle 10"/>
          <p:cNvSpPr/>
          <p:nvPr/>
        </p:nvSpPr>
        <p:spPr>
          <a:xfrm>
            <a:off x="548640" y="2651760"/>
            <a:ext cx="3544824" cy="361188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761488"/>
            <a:ext cx="3179064" cy="365760"/>
          </a:xfrm>
          <a:prstGeom prst="rect">
            <a:avLst/>
          </a:prstGeom>
          <a:noFill/>
        </p:spPr>
        <p:txBody>
          <a:bodyPr wrap="square" lIns="73152" rIns="73152" tIns="36576" bIns="36576" anchor="t">
            <a:spAutoFit/>
          </a:bodyPr>
          <a:lstStyle/>
          <a:p>
            <a:pPr algn="l">
              <a:lnSpc>
                <a:spcPct val="118000"/>
              </a:lnSpc>
            </a:pPr>
            <a:r>
              <a:rPr sz="1700" b="1">
                <a:solidFill>
                  <a:srgbClr val="1F2328"/>
                </a:solidFill>
                <a:latin typeface="BIZ UDゴシック"/>
                <a:ea typeface="BIZ UDゴシック"/>
              </a:rPr>
              <a:t>この力を育てるには</a:t>
            </a:r>
          </a:p>
        </p:txBody>
      </p:sp>
      <p:sp>
        <p:nvSpPr>
          <p:cNvPr id="13" name="TextBox 12"/>
          <p:cNvSpPr txBox="1"/>
          <p:nvPr/>
        </p:nvSpPr>
        <p:spPr>
          <a:xfrm>
            <a:off x="731520" y="3200400"/>
            <a:ext cx="3179064" cy="2743200"/>
          </a:xfrm>
          <a:prstGeom prst="rect">
            <a:avLst/>
          </a:prstGeom>
          <a:noFill/>
        </p:spPr>
        <p:txBody>
          <a:bodyPr wrap="square" lIns="73152" rIns="73152" tIns="36576" bIns="36576" anchor="t">
            <a:spAutoFit/>
          </a:bodyPr>
          <a:lstStyle/>
          <a:p>
            <a:pPr algn="l">
              <a:lnSpc>
                <a:spcPct val="128000"/>
              </a:lnSpc>
            </a:pPr>
            <a:r>
              <a:rPr sz="1450" b="0">
                <a:solidFill>
                  <a:srgbClr val="1F2328"/>
                </a:solidFill>
                <a:latin typeface="BIZ UDゴシック"/>
                <a:ea typeface="BIZ UDゴシック"/>
              </a:rPr>
              <a:t>自然の事物・現象同士を</a:t>
            </a:r>
          </a:p>
          <a:p>
            <a:pPr algn="l">
              <a:lnSpc>
                <a:spcPct val="128000"/>
              </a:lnSpc>
            </a:pPr>
            <a:r>
              <a:rPr sz="1450" b="1">
                <a:solidFill>
                  <a:srgbClr val="C2410C"/>
                </a:solidFill>
                <a:latin typeface="BIZ UDゴシック"/>
                <a:ea typeface="BIZ UDゴシック"/>
              </a:rPr>
              <a:t>関係付けたり</a:t>
            </a:r>
          </a:p>
          <a:p>
            <a:pPr algn="l">
              <a:lnSpc>
                <a:spcPct val="128000"/>
              </a:lnSpc>
            </a:pPr>
            <a:r>
              <a:rPr sz="1450" b="0">
                <a:solidFill>
                  <a:srgbClr val="1F2328"/>
                </a:solidFill>
                <a:latin typeface="BIZ UDゴシック"/>
                <a:ea typeface="BIZ UDゴシック"/>
              </a:rPr>
              <a:t>自然の事物・現象と</a:t>
            </a:r>
          </a:p>
          <a:p>
            <a:pPr algn="l">
              <a:lnSpc>
                <a:spcPct val="128000"/>
              </a:lnSpc>
            </a:pPr>
            <a:r>
              <a:rPr sz="1450" b="0">
                <a:solidFill>
                  <a:srgbClr val="1F2328"/>
                </a:solidFill>
                <a:latin typeface="BIZ UDゴシック"/>
                <a:ea typeface="BIZ UDゴシック"/>
              </a:rPr>
              <a:t>既習の内容や生活経験と</a:t>
            </a:r>
          </a:p>
          <a:p>
            <a:pPr algn="l">
              <a:lnSpc>
                <a:spcPct val="128000"/>
              </a:lnSpc>
            </a:pPr>
            <a:r>
              <a:rPr sz="1450" b="1">
                <a:solidFill>
                  <a:srgbClr val="C2410C"/>
                </a:solidFill>
                <a:latin typeface="BIZ UDゴシック"/>
                <a:ea typeface="BIZ UDゴシック"/>
              </a:rPr>
              <a:t>関係付けたり</a:t>
            </a:r>
            <a:r>
              <a:rPr sz="1450" b="0">
                <a:solidFill>
                  <a:srgbClr val="1F2328"/>
                </a:solidFill>
                <a:latin typeface="BIZ UDゴシック"/>
                <a:ea typeface="BIZ UDゴシック"/>
              </a:rPr>
              <a:t>することが</a:t>
            </a:r>
          </a:p>
          <a:p>
            <a:pPr algn="l">
              <a:lnSpc>
                <a:spcPct val="128000"/>
              </a:lnSpc>
            </a:pPr>
            <a:r>
              <a:rPr sz="1450" b="0">
                <a:solidFill>
                  <a:srgbClr val="1F2328"/>
                </a:solidFill>
                <a:latin typeface="BIZ UDゴシック"/>
                <a:ea typeface="BIZ UDゴシック"/>
              </a:rPr>
              <a:t>大切である</a:t>
            </a:r>
          </a:p>
        </p:txBody>
      </p:sp>
      <p:sp>
        <p:nvSpPr>
          <p:cNvPr id="14" name="TextBox 13"/>
          <p:cNvSpPr txBox="1"/>
          <p:nvPr/>
        </p:nvSpPr>
        <p:spPr>
          <a:xfrm>
            <a:off x="731520" y="5870448"/>
            <a:ext cx="3179064" cy="292608"/>
          </a:xfrm>
          <a:prstGeom prst="rect">
            <a:avLst/>
          </a:prstGeom>
          <a:noFill/>
        </p:spPr>
        <p:txBody>
          <a:bodyPr wrap="square" lIns="73152" rIns="73152" tIns="36576" bIns="36576" anchor="t">
            <a:spAutoFit/>
          </a:bodyPr>
          <a:lstStyle/>
          <a:p>
            <a:pPr algn="l">
              <a:lnSpc>
                <a:spcPct val="118000"/>
              </a:lnSpc>
            </a:pPr>
            <a:r>
              <a:rPr sz="1100" b="0">
                <a:solidFill>
                  <a:srgbClr val="8A9097"/>
                </a:solidFill>
                <a:latin typeface="BIZ UDゴシック"/>
                <a:ea typeface="BIZ UDゴシック"/>
              </a:rPr>
              <a:t>解説 17ページ</a:t>
            </a:r>
          </a:p>
        </p:txBody>
      </p:sp>
      <p:sp>
        <p:nvSpPr>
          <p:cNvPr id="15" name="Rectangle 14"/>
          <p:cNvSpPr/>
          <p:nvPr/>
        </p:nvSpPr>
        <p:spPr>
          <a:xfrm>
            <a:off x="4322064" y="2651760"/>
            <a:ext cx="3544824" cy="361188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04944" y="2761488"/>
            <a:ext cx="3179064" cy="365760"/>
          </a:xfrm>
          <a:prstGeom prst="rect">
            <a:avLst/>
          </a:prstGeom>
          <a:noFill/>
        </p:spPr>
        <p:txBody>
          <a:bodyPr wrap="square" lIns="73152" rIns="73152" tIns="36576" bIns="36576" anchor="t">
            <a:spAutoFit/>
          </a:bodyPr>
          <a:lstStyle/>
          <a:p>
            <a:pPr algn="l">
              <a:lnSpc>
                <a:spcPct val="118000"/>
              </a:lnSpc>
            </a:pPr>
            <a:r>
              <a:rPr sz="1700" b="1">
                <a:solidFill>
                  <a:srgbClr val="1F2328"/>
                </a:solidFill>
                <a:latin typeface="BIZ UDゴシック"/>
                <a:ea typeface="BIZ UDゴシック"/>
              </a:rPr>
              <a:t>関係付けるとは</a:t>
            </a:r>
          </a:p>
        </p:txBody>
      </p:sp>
      <p:sp>
        <p:nvSpPr>
          <p:cNvPr id="17" name="TextBox 16"/>
          <p:cNvSpPr txBox="1"/>
          <p:nvPr/>
        </p:nvSpPr>
        <p:spPr>
          <a:xfrm>
            <a:off x="4504944" y="3200400"/>
            <a:ext cx="3179064" cy="2743200"/>
          </a:xfrm>
          <a:prstGeom prst="rect">
            <a:avLst/>
          </a:prstGeom>
          <a:noFill/>
        </p:spPr>
        <p:txBody>
          <a:bodyPr wrap="square" lIns="73152" rIns="73152" tIns="36576" bIns="36576" anchor="t">
            <a:spAutoFit/>
          </a:bodyPr>
          <a:lstStyle/>
          <a:p>
            <a:pPr algn="l">
              <a:lnSpc>
                <a:spcPct val="128000"/>
              </a:lnSpc>
            </a:pPr>
            <a:r>
              <a:rPr sz="1450" b="0">
                <a:solidFill>
                  <a:srgbClr val="1F2328"/>
                </a:solidFill>
                <a:latin typeface="BIZ UDゴシック"/>
                <a:ea typeface="BIZ UDゴシック"/>
              </a:rPr>
              <a:t>変化と それに関わる</a:t>
            </a:r>
          </a:p>
          <a:p>
            <a:pPr algn="l">
              <a:lnSpc>
                <a:spcPct val="128000"/>
              </a:lnSpc>
            </a:pPr>
            <a:r>
              <a:rPr sz="1450" b="0">
                <a:solidFill>
                  <a:srgbClr val="1F2328"/>
                </a:solidFill>
                <a:latin typeface="BIZ UDゴシック"/>
                <a:ea typeface="BIZ UDゴシック"/>
              </a:rPr>
              <a:t>要因を結び付けたり</a:t>
            </a:r>
          </a:p>
          <a:p>
            <a:pPr algn="l">
              <a:lnSpc>
                <a:spcPct val="128000"/>
              </a:lnSpc>
            </a:pPr>
            <a:r>
              <a:rPr sz="1450" b="0">
                <a:solidFill>
                  <a:srgbClr val="1F2328"/>
                </a:solidFill>
                <a:latin typeface="BIZ UDゴシック"/>
                <a:ea typeface="BIZ UDゴシック"/>
              </a:rPr>
              <a:t>既習の内容や</a:t>
            </a:r>
          </a:p>
          <a:p>
            <a:pPr algn="l">
              <a:lnSpc>
                <a:spcPct val="128000"/>
              </a:lnSpc>
            </a:pPr>
            <a:r>
              <a:rPr sz="1450" b="0">
                <a:solidFill>
                  <a:srgbClr val="1F2328"/>
                </a:solidFill>
                <a:latin typeface="BIZ UDゴシック"/>
                <a:ea typeface="BIZ UDゴシック"/>
              </a:rPr>
              <a:t>生活経験と結び付けたり</a:t>
            </a:r>
          </a:p>
          <a:p>
            <a:pPr algn="l">
              <a:lnSpc>
                <a:spcPct val="128000"/>
              </a:lnSpc>
            </a:pPr>
            <a:r>
              <a:rPr sz="1450" b="0">
                <a:solidFill>
                  <a:srgbClr val="1F2328"/>
                </a:solidFill>
                <a:latin typeface="BIZ UDゴシック"/>
                <a:ea typeface="BIZ UDゴシック"/>
              </a:rPr>
              <a:t>することなど</a:t>
            </a:r>
          </a:p>
        </p:txBody>
      </p:sp>
      <p:sp>
        <p:nvSpPr>
          <p:cNvPr id="18" name="TextBox 17"/>
          <p:cNvSpPr txBox="1"/>
          <p:nvPr/>
        </p:nvSpPr>
        <p:spPr>
          <a:xfrm>
            <a:off x="4504944" y="5870448"/>
            <a:ext cx="3179064" cy="292608"/>
          </a:xfrm>
          <a:prstGeom prst="rect">
            <a:avLst/>
          </a:prstGeom>
          <a:noFill/>
        </p:spPr>
        <p:txBody>
          <a:bodyPr wrap="square" lIns="73152" rIns="73152" tIns="36576" bIns="36576" anchor="t">
            <a:spAutoFit/>
          </a:bodyPr>
          <a:lstStyle/>
          <a:p>
            <a:pPr algn="l">
              <a:lnSpc>
                <a:spcPct val="118000"/>
              </a:lnSpc>
            </a:pPr>
            <a:r>
              <a:rPr sz="1100" b="0">
                <a:solidFill>
                  <a:srgbClr val="8A9097"/>
                </a:solidFill>
                <a:latin typeface="BIZ UDゴシック"/>
                <a:ea typeface="BIZ UDゴシック"/>
              </a:rPr>
              <a:t>解説 13〜14ページ</a:t>
            </a:r>
          </a:p>
        </p:txBody>
      </p:sp>
      <p:sp>
        <p:nvSpPr>
          <p:cNvPr id="19" name="Rectangle 18"/>
          <p:cNvSpPr/>
          <p:nvPr/>
        </p:nvSpPr>
        <p:spPr>
          <a:xfrm>
            <a:off x="8095488" y="2651760"/>
            <a:ext cx="3544824" cy="361188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7" y="2761488"/>
            <a:ext cx="3179064" cy="365760"/>
          </a:xfrm>
          <a:prstGeom prst="rect">
            <a:avLst/>
          </a:prstGeom>
          <a:noFill/>
        </p:spPr>
        <p:txBody>
          <a:bodyPr wrap="square" lIns="73152" rIns="73152" tIns="36576" bIns="36576" anchor="t">
            <a:spAutoFit/>
          </a:bodyPr>
          <a:lstStyle/>
          <a:p>
            <a:pPr algn="l">
              <a:lnSpc>
                <a:spcPct val="118000"/>
              </a:lnSpc>
            </a:pPr>
            <a:r>
              <a:rPr sz="1700" b="1">
                <a:solidFill>
                  <a:srgbClr val="1F2328"/>
                </a:solidFill>
                <a:latin typeface="BIZ UDゴシック"/>
                <a:ea typeface="BIZ UDゴシック"/>
              </a:rPr>
              <a:t>この単元では</a:t>
            </a:r>
          </a:p>
        </p:txBody>
      </p:sp>
      <p:sp>
        <p:nvSpPr>
          <p:cNvPr id="21" name="TextBox 20"/>
          <p:cNvSpPr txBox="1"/>
          <p:nvPr/>
        </p:nvSpPr>
        <p:spPr>
          <a:xfrm>
            <a:off x="8278367" y="3200400"/>
            <a:ext cx="3179064" cy="2743200"/>
          </a:xfrm>
          <a:prstGeom prst="rect">
            <a:avLst/>
          </a:prstGeom>
          <a:noFill/>
        </p:spPr>
        <p:txBody>
          <a:bodyPr wrap="square" lIns="73152" rIns="73152" tIns="36576" bIns="36576" anchor="t">
            <a:spAutoFit/>
          </a:bodyPr>
          <a:lstStyle/>
          <a:p>
            <a:pPr algn="l">
              <a:lnSpc>
                <a:spcPct val="128000"/>
              </a:lnSpc>
            </a:pPr>
            <a:r>
              <a:rPr sz="1450" b="1">
                <a:solidFill>
                  <a:srgbClr val="C2410C"/>
                </a:solidFill>
                <a:latin typeface="BIZ UDゴシック"/>
                <a:ea typeface="BIZ UDゴシック"/>
              </a:rPr>
              <a:t>体積の変化と</a:t>
            </a:r>
          </a:p>
          <a:p>
            <a:pPr algn="l">
              <a:lnSpc>
                <a:spcPct val="128000"/>
              </a:lnSpc>
            </a:pPr>
            <a:r>
              <a:rPr sz="1450" b="1">
                <a:solidFill>
                  <a:srgbClr val="C2410C"/>
                </a:solidFill>
                <a:latin typeface="BIZ UDゴシック"/>
                <a:ea typeface="BIZ UDゴシック"/>
              </a:rPr>
              <a:t>温度の変化を関係付ける</a:t>
            </a:r>
          </a:p>
          <a:p>
            <a:pPr algn="l">
              <a:lnSpc>
                <a:spcPct val="128000"/>
              </a:lnSpc>
            </a:pPr>
            <a:r>
              <a:rPr sz="1450" b="0">
                <a:solidFill>
                  <a:srgbClr val="1F2328"/>
                </a:solidFill>
                <a:latin typeface="BIZ UDゴシック"/>
                <a:ea typeface="BIZ UDゴシック"/>
              </a:rPr>
              <a:t>予想の根拠になるもの</a:t>
            </a:r>
          </a:p>
          <a:p>
            <a:pPr algn="l">
              <a:lnSpc>
                <a:spcPct val="128000"/>
              </a:lnSpc>
            </a:pPr>
            <a:r>
              <a:rPr sz="1450" b="0">
                <a:solidFill>
                  <a:srgbClr val="1F2328"/>
                </a:solidFill>
                <a:latin typeface="BIZ UDゴシック"/>
                <a:ea typeface="BIZ UDゴシック"/>
              </a:rPr>
              <a:t>・前の単元「とじこめた空気や水」</a:t>
            </a:r>
          </a:p>
          <a:p>
            <a:pPr algn="l">
              <a:lnSpc>
                <a:spcPct val="128000"/>
              </a:lnSpc>
            </a:pPr>
            <a:r>
              <a:rPr sz="1450" b="0">
                <a:solidFill>
                  <a:srgbClr val="1F2328"/>
                </a:solidFill>
                <a:latin typeface="BIZ UDゴシック"/>
                <a:ea typeface="BIZ UDゴシック"/>
              </a:rPr>
              <a:t>・空気や水の学習で出した結論</a:t>
            </a:r>
          </a:p>
          <a:p>
            <a:pPr algn="l">
              <a:lnSpc>
                <a:spcPct val="128000"/>
              </a:lnSpc>
            </a:pPr>
            <a:r>
              <a:rPr sz="1450" b="0">
                <a:solidFill>
                  <a:srgbClr val="1F2328"/>
                </a:solidFill>
                <a:latin typeface="BIZ UDゴシック"/>
                <a:ea typeface="BIZ UDゴシック"/>
              </a:rPr>
              <a:t>・生活経験（びんのふた など）</a:t>
            </a:r>
          </a:p>
        </p:txBody>
      </p:sp>
      <p:sp>
        <p:nvSpPr>
          <p:cNvPr id="22" name="TextBox 21"/>
          <p:cNvSpPr txBox="1"/>
          <p:nvPr/>
        </p:nvSpPr>
        <p:spPr>
          <a:xfrm>
            <a:off x="8278367" y="5870448"/>
            <a:ext cx="3179064" cy="292608"/>
          </a:xfrm>
          <a:prstGeom prst="rect">
            <a:avLst/>
          </a:prstGeom>
          <a:noFill/>
        </p:spPr>
        <p:txBody>
          <a:bodyPr wrap="square" lIns="73152" rIns="73152" tIns="36576" bIns="36576" anchor="t">
            <a:spAutoFit/>
          </a:bodyPr>
          <a:lstStyle/>
          <a:p>
            <a:pPr algn="l">
              <a:lnSpc>
                <a:spcPct val="118000"/>
              </a:lnSpc>
            </a:pPr>
            <a:r>
              <a:rPr sz="1100" b="0">
                <a:solidFill>
                  <a:srgbClr val="8A9097"/>
                </a:solidFill>
                <a:latin typeface="BIZ UDゴシック"/>
                <a:ea typeface="BIZ UDゴシック"/>
              </a:rPr>
              <a:t>指導案 教材観より</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区分"/>
          <p:cNvSpPr txBox="1"/>
          <p:nvPr/>
        </p:nvSpPr>
        <p:spPr>
          <a:xfrm>
            <a:off x="548640" y="274320"/>
            <a:ext cx="8229600" cy="292608"/>
          </a:xfrm>
          <a:prstGeom prst="rect">
            <a:avLst/>
          </a:prstGeom>
          <a:noFill/>
        </p:spPr>
        <p:txBody>
          <a:bodyPr wrap="square" lIns="73152" rIns="73152" tIns="36576" bIns="36576" anchor="t">
            <a:spAutoFit/>
          </a:bodyPr>
          <a:lstStyle/>
          <a:p>
            <a:pPr algn="l">
              <a:lnSpc>
                <a:spcPct val="118000"/>
              </a:lnSpc>
            </a:pPr>
            <a:r>
              <a:rPr sz="1300" b="1">
                <a:solidFill>
                  <a:srgbClr val="5F646B"/>
                </a:solidFill>
                <a:latin typeface="BIZ UDゴシック"/>
                <a:ea typeface="BIZ UDゴシック"/>
              </a:rPr>
              <a:t>研究の着眼</a:t>
            </a:r>
          </a:p>
        </p:txBody>
      </p:sp>
      <p:sp>
        <p:nvSpPr>
          <p:cNvPr id="3" name="見出しの線"/>
          <p:cNvSpPr/>
          <p:nvPr/>
        </p:nvSpPr>
        <p:spPr>
          <a:xfrm>
            <a:off x="548640" y="640080"/>
            <a:ext cx="82296" cy="47548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見出し"/>
          <p:cNvSpPr txBox="1"/>
          <p:nvPr/>
        </p:nvSpPr>
        <p:spPr>
          <a:xfrm>
            <a:off x="749808" y="566928"/>
            <a:ext cx="10972800" cy="603504"/>
          </a:xfrm>
          <a:prstGeom prst="rect">
            <a:avLst/>
          </a:prstGeom>
          <a:noFill/>
        </p:spPr>
        <p:txBody>
          <a:bodyPr wrap="square" lIns="73152" rIns="73152" tIns="36576" bIns="36576" anchor="ctr">
            <a:spAutoFit/>
          </a:bodyPr>
          <a:lstStyle/>
          <a:p>
            <a:pPr algn="l">
              <a:lnSpc>
                <a:spcPct val="118000"/>
              </a:lnSpc>
            </a:pPr>
            <a:r>
              <a:rPr sz="2800" b="1">
                <a:solidFill>
                  <a:srgbClr val="1F2328"/>
                </a:solidFill>
                <a:latin typeface="BIZ UDゴシック"/>
                <a:ea typeface="BIZ UDゴシック"/>
              </a:rPr>
              <a:t>研究主題と2つの着眼</a:t>
            </a:r>
          </a:p>
        </p:txBody>
      </p:sp>
      <p:sp>
        <p:nvSpPr>
          <p:cNvPr id="5" name="足もと"/>
          <p:cNvSpPr txBox="1"/>
          <p:nvPr/>
        </p:nvSpPr>
        <p:spPr>
          <a:xfrm>
            <a:off x="548640" y="6455664"/>
            <a:ext cx="8229600" cy="256032"/>
          </a:xfrm>
          <a:prstGeom prst="rect">
            <a:avLst/>
          </a:prstGeom>
          <a:noFill/>
        </p:spPr>
        <p:txBody>
          <a:bodyPr wrap="square" lIns="73152" rIns="73152" tIns="36576" bIns="36576" anchor="t">
            <a:spAutoFit/>
          </a:bodyPr>
          <a:lstStyle/>
          <a:p>
            <a:pPr algn="l">
              <a:lnSpc>
                <a:spcPct val="118000"/>
              </a:lnSpc>
            </a:pPr>
            <a:r>
              <a:rPr sz="1000" b="0">
                <a:solidFill>
                  <a:srgbClr val="8A9097"/>
                </a:solidFill>
                <a:latin typeface="BIZ UDゴシック"/>
                <a:ea typeface="BIZ UDゴシック"/>
              </a:rPr>
              <a:t>4年 理科　物の体積と温度　授業者説明</a:t>
            </a:r>
          </a:p>
        </p:txBody>
      </p:sp>
      <p:sp>
        <p:nvSpPr>
          <p:cNvPr id="6" name="ページ"/>
          <p:cNvSpPr txBox="1"/>
          <p:nvPr/>
        </p:nvSpPr>
        <p:spPr>
          <a:xfrm>
            <a:off x="10545775" y="6455664"/>
            <a:ext cx="1097280" cy="256032"/>
          </a:xfrm>
          <a:prstGeom prst="rect">
            <a:avLst/>
          </a:prstGeom>
          <a:noFill/>
        </p:spPr>
        <p:txBody>
          <a:bodyPr wrap="square" lIns="73152" rIns="73152" tIns="36576" bIns="36576" anchor="t">
            <a:spAutoFit/>
          </a:bodyPr>
          <a:lstStyle/>
          <a:p>
            <a:pPr algn="r">
              <a:lnSpc>
                <a:spcPct val="118000"/>
              </a:lnSpc>
            </a:pPr>
            <a:r>
              <a:rPr sz="1000" b="0">
                <a:solidFill>
                  <a:srgbClr val="8A9097"/>
                </a:solidFill>
                <a:latin typeface="BIZ UDゴシック"/>
                <a:ea typeface="BIZ UDゴシック"/>
              </a:rPr>
              <a:t>4</a:t>
            </a:r>
          </a:p>
        </p:txBody>
      </p:sp>
      <p:sp>
        <p:nvSpPr>
          <p:cNvPr id="7" name="Rectangle 6"/>
          <p:cNvSpPr/>
          <p:nvPr/>
        </p:nvSpPr>
        <p:spPr>
          <a:xfrm>
            <a:off x="548640" y="1325880"/>
            <a:ext cx="11091672" cy="82296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325880"/>
            <a:ext cx="1463040" cy="822960"/>
          </a:xfrm>
          <a:prstGeom prst="rect">
            <a:avLst/>
          </a:prstGeom>
          <a:noFill/>
        </p:spPr>
        <p:txBody>
          <a:bodyPr wrap="square" lIns="73152" rIns="73152" tIns="36576" bIns="36576" anchor="ctr">
            <a:spAutoFit/>
          </a:bodyPr>
          <a:lstStyle/>
          <a:p>
            <a:pPr algn="l">
              <a:lnSpc>
                <a:spcPct val="118000"/>
              </a:lnSpc>
            </a:pPr>
            <a:r>
              <a:rPr sz="1400" b="1">
                <a:solidFill>
                  <a:srgbClr val="5F646B"/>
                </a:solidFill>
                <a:latin typeface="BIZ UDゴシック"/>
                <a:ea typeface="BIZ UDゴシック"/>
              </a:rPr>
              <a:t>研究主題</a:t>
            </a:r>
          </a:p>
        </p:txBody>
      </p:sp>
      <p:sp>
        <p:nvSpPr>
          <p:cNvPr id="9" name="TextBox 8"/>
          <p:cNvSpPr txBox="1"/>
          <p:nvPr/>
        </p:nvSpPr>
        <p:spPr>
          <a:xfrm>
            <a:off x="2286000" y="1325880"/>
            <a:ext cx="9235440" cy="822960"/>
          </a:xfrm>
          <a:prstGeom prst="rect">
            <a:avLst/>
          </a:prstGeom>
          <a:noFill/>
        </p:spPr>
        <p:txBody>
          <a:bodyPr wrap="square" lIns="73152" rIns="73152" tIns="36576" bIns="36576" anchor="ctr">
            <a:spAutoFit/>
          </a:bodyPr>
          <a:lstStyle/>
          <a:p>
            <a:pPr algn="l">
              <a:lnSpc>
                <a:spcPct val="118000"/>
              </a:lnSpc>
            </a:pPr>
            <a:r>
              <a:rPr sz="2000" b="1">
                <a:solidFill>
                  <a:srgbClr val="1F2328"/>
                </a:solidFill>
                <a:latin typeface="BIZ UDゴシック"/>
                <a:ea typeface="BIZ UDゴシック"/>
              </a:rPr>
              <a:t>解決したい問題を見いだし 科学的に追究する児童が育つ理科学習指導</a:t>
            </a:r>
          </a:p>
        </p:txBody>
      </p:sp>
      <p:sp>
        <p:nvSpPr>
          <p:cNvPr id="10" name="Rectangle 9"/>
          <p:cNvSpPr/>
          <p:nvPr/>
        </p:nvSpPr>
        <p:spPr>
          <a:xfrm>
            <a:off x="548640" y="2331720"/>
            <a:ext cx="5408676" cy="3108960"/>
          </a:xfrm>
          <a:prstGeom prst="rect">
            <a:avLst/>
          </a:prstGeom>
          <a:solidFill>
            <a:srgbClr val="FFFFFF"/>
          </a:solidFill>
          <a:ln w="15875">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札_着眼1"/>
          <p:cNvSpPr/>
          <p:nvPr/>
        </p:nvSpPr>
        <p:spPr>
          <a:xfrm>
            <a:off x="777240" y="2487168"/>
            <a:ext cx="718820" cy="310896"/>
          </a:xfrm>
          <a:prstGeom prst="roundRect">
            <a:avLst>
              <a:gd name="adj" fmla="val 3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478024"/>
            <a:ext cx="718820" cy="329184"/>
          </a:xfrm>
          <a:prstGeom prst="rect">
            <a:avLst/>
          </a:prstGeom>
          <a:noFill/>
        </p:spPr>
        <p:txBody>
          <a:bodyPr wrap="square" lIns="73152" rIns="73152" tIns="36576" bIns="36576" anchor="ctr">
            <a:spAutoFit/>
          </a:bodyPr>
          <a:lstStyle/>
          <a:p>
            <a:pPr algn="ctr">
              <a:lnSpc>
                <a:spcPct val="118000"/>
              </a:lnSpc>
            </a:pPr>
            <a:r>
              <a:rPr sz="1400" b="1">
                <a:solidFill>
                  <a:srgbClr val="FFFFFF"/>
                </a:solidFill>
                <a:latin typeface="BIZ UDゴシック"/>
                <a:ea typeface="BIZ UDゴシック"/>
              </a:rPr>
              <a:t>着眼1</a:t>
            </a:r>
          </a:p>
        </p:txBody>
      </p:sp>
      <p:sp>
        <p:nvSpPr>
          <p:cNvPr id="13" name="TextBox 12"/>
          <p:cNvSpPr txBox="1"/>
          <p:nvPr/>
        </p:nvSpPr>
        <p:spPr>
          <a:xfrm>
            <a:off x="1691640" y="2414016"/>
            <a:ext cx="4128516" cy="457200"/>
          </a:xfrm>
          <a:prstGeom prst="rect">
            <a:avLst/>
          </a:prstGeom>
          <a:noFill/>
        </p:spPr>
        <p:txBody>
          <a:bodyPr wrap="square" lIns="73152" rIns="73152" tIns="36576" bIns="36576" anchor="ctr">
            <a:spAutoFit/>
          </a:bodyPr>
          <a:lstStyle/>
          <a:p>
            <a:pPr algn="l">
              <a:lnSpc>
                <a:spcPct val="118000"/>
              </a:lnSpc>
            </a:pPr>
            <a:r>
              <a:rPr sz="2000" b="1">
                <a:solidFill>
                  <a:srgbClr val="1F2328"/>
                </a:solidFill>
                <a:latin typeface="BIZ UDゴシック"/>
                <a:ea typeface="BIZ UDゴシック"/>
              </a:rPr>
              <a:t>追究の連続性を生む単元構成</a:t>
            </a:r>
          </a:p>
        </p:txBody>
      </p:sp>
      <p:sp>
        <p:nvSpPr>
          <p:cNvPr id="14" name="TextBox 13"/>
          <p:cNvSpPr txBox="1"/>
          <p:nvPr/>
        </p:nvSpPr>
        <p:spPr>
          <a:xfrm>
            <a:off x="777240" y="2971800"/>
            <a:ext cx="4951476" cy="2423160"/>
          </a:xfrm>
          <a:prstGeom prst="rect">
            <a:avLst/>
          </a:prstGeom>
          <a:noFill/>
        </p:spPr>
        <p:txBody>
          <a:bodyPr wrap="square" lIns="73152" rIns="73152" tIns="36576" bIns="36576" anchor="t">
            <a:spAutoFit/>
          </a:bodyPr>
          <a:lstStyle/>
          <a:p>
            <a:pPr algn="l">
              <a:lnSpc>
                <a:spcPct val="118000"/>
              </a:lnSpc>
            </a:pPr>
            <a:r>
              <a:rPr sz="1450" b="0">
                <a:solidFill>
                  <a:srgbClr val="1F2328"/>
                </a:solidFill>
                <a:latin typeface="BIZ UDゴシック"/>
                <a:ea typeface="BIZ UDゴシック"/>
              </a:rPr>
              <a:t>空気で学んだことから</a:t>
            </a:r>
          </a:p>
          <a:p>
            <a:pPr algn="l">
              <a:lnSpc>
                <a:spcPct val="118000"/>
              </a:lnSpc>
            </a:pPr>
            <a:r>
              <a:rPr sz="1450" b="0">
                <a:solidFill>
                  <a:srgbClr val="1F2328"/>
                </a:solidFill>
                <a:latin typeface="BIZ UDゴシック"/>
                <a:ea typeface="BIZ UDゴシック"/>
              </a:rPr>
              <a:t>物はあたためると大きくなり 冷やすと小さくなる</a:t>
            </a:r>
          </a:p>
          <a:p>
            <a:pPr algn="l">
              <a:lnSpc>
                <a:spcPct val="118000"/>
              </a:lnSpc>
            </a:pPr>
            <a:r>
              <a:rPr sz="1450" b="0">
                <a:solidFill>
                  <a:srgbClr val="1F2328"/>
                </a:solidFill>
                <a:latin typeface="BIZ UDゴシック"/>
                <a:ea typeface="BIZ UDゴシック"/>
              </a:rPr>
              <a:t>のではないかと考える</a:t>
            </a:r>
          </a:p>
          <a:p>
            <a:pPr algn="l">
              <a:lnSpc>
                <a:spcPct val="118000"/>
              </a:lnSpc>
            </a:pPr>
            <a:r>
              <a:rPr sz="1450" b="0">
                <a:solidFill>
                  <a:srgbClr val="1F2328"/>
                </a:solidFill>
                <a:latin typeface="BIZ UDゴシック"/>
                <a:ea typeface="BIZ UDゴシック"/>
              </a:rPr>
              <a:t>でも それは空気だけ？ ほかの物も？</a:t>
            </a:r>
          </a:p>
          <a:p>
            <a:pPr algn="l">
              <a:lnSpc>
                <a:spcPct val="118000"/>
              </a:lnSpc>
            </a:pPr>
            <a:r>
              <a:rPr sz="1450" b="0">
                <a:solidFill>
                  <a:srgbClr val="1F2328"/>
                </a:solidFill>
                <a:latin typeface="BIZ UDゴシック"/>
                <a:ea typeface="BIZ UDゴシック"/>
              </a:rPr>
              <a:t>1時間とって身の回りの物を考えることで</a:t>
            </a:r>
          </a:p>
          <a:p>
            <a:pPr algn="l">
              <a:lnSpc>
                <a:spcPct val="118000"/>
              </a:lnSpc>
            </a:pPr>
            <a:r>
              <a:rPr sz="1450" b="0">
                <a:solidFill>
                  <a:srgbClr val="1F2328"/>
                </a:solidFill>
                <a:latin typeface="BIZ UDゴシック"/>
                <a:ea typeface="BIZ UDゴシック"/>
              </a:rPr>
              <a:t>水だけでなく 金ぞくも調べたい という</a:t>
            </a:r>
          </a:p>
          <a:p>
            <a:pPr algn="l">
              <a:lnSpc>
                <a:spcPct val="118000"/>
              </a:lnSpc>
            </a:pPr>
            <a:r>
              <a:rPr sz="1450" b="0">
                <a:solidFill>
                  <a:srgbClr val="1F2328"/>
                </a:solidFill>
                <a:latin typeface="BIZ UDゴシック"/>
                <a:ea typeface="BIZ UDゴシック"/>
              </a:rPr>
              <a:t>追究の意欲を生む</a:t>
            </a:r>
          </a:p>
        </p:txBody>
      </p:sp>
      <p:sp>
        <p:nvSpPr>
          <p:cNvPr id="15" name="Rectangle 14"/>
          <p:cNvSpPr/>
          <p:nvPr/>
        </p:nvSpPr>
        <p:spPr>
          <a:xfrm>
            <a:off x="6231636" y="2331720"/>
            <a:ext cx="5408676" cy="3108960"/>
          </a:xfrm>
          <a:prstGeom prst="rect">
            <a:avLst/>
          </a:prstGeom>
          <a:solidFill>
            <a:srgbClr val="FFFFFF"/>
          </a:solidFill>
          <a:ln w="15875">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札_着眼2"/>
          <p:cNvSpPr/>
          <p:nvPr/>
        </p:nvSpPr>
        <p:spPr>
          <a:xfrm>
            <a:off x="6460236" y="2487168"/>
            <a:ext cx="718820" cy="310896"/>
          </a:xfrm>
          <a:prstGeom prst="roundRect">
            <a:avLst>
              <a:gd name="adj" fmla="val 3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0236" y="2478024"/>
            <a:ext cx="718820" cy="329184"/>
          </a:xfrm>
          <a:prstGeom prst="rect">
            <a:avLst/>
          </a:prstGeom>
          <a:noFill/>
        </p:spPr>
        <p:txBody>
          <a:bodyPr wrap="square" lIns="73152" rIns="73152" tIns="36576" bIns="36576" anchor="ctr">
            <a:spAutoFit/>
          </a:bodyPr>
          <a:lstStyle/>
          <a:p>
            <a:pPr algn="ctr">
              <a:lnSpc>
                <a:spcPct val="118000"/>
              </a:lnSpc>
            </a:pPr>
            <a:r>
              <a:rPr sz="1400" b="1">
                <a:solidFill>
                  <a:srgbClr val="FFFFFF"/>
                </a:solidFill>
                <a:latin typeface="BIZ UDゴシック"/>
                <a:ea typeface="BIZ UDゴシック"/>
              </a:rPr>
              <a:t>着眼2</a:t>
            </a:r>
          </a:p>
        </p:txBody>
      </p:sp>
      <p:sp>
        <p:nvSpPr>
          <p:cNvPr id="18" name="TextBox 17"/>
          <p:cNvSpPr txBox="1"/>
          <p:nvPr/>
        </p:nvSpPr>
        <p:spPr>
          <a:xfrm>
            <a:off x="7374636" y="2414016"/>
            <a:ext cx="4128516" cy="457200"/>
          </a:xfrm>
          <a:prstGeom prst="rect">
            <a:avLst/>
          </a:prstGeom>
          <a:noFill/>
        </p:spPr>
        <p:txBody>
          <a:bodyPr wrap="square" lIns="73152" rIns="73152" tIns="36576" bIns="36576" anchor="ctr">
            <a:spAutoFit/>
          </a:bodyPr>
          <a:lstStyle/>
          <a:p>
            <a:pPr algn="l">
              <a:lnSpc>
                <a:spcPct val="118000"/>
              </a:lnSpc>
            </a:pPr>
            <a:r>
              <a:rPr sz="2000" b="1">
                <a:solidFill>
                  <a:srgbClr val="1F2328"/>
                </a:solidFill>
                <a:latin typeface="BIZ UDゴシック"/>
                <a:ea typeface="BIZ UDゴシック"/>
              </a:rPr>
              <a:t>既有知識をゆさぶる事象提示</a:t>
            </a:r>
          </a:p>
        </p:txBody>
      </p:sp>
      <p:sp>
        <p:nvSpPr>
          <p:cNvPr id="19" name="TextBox 18"/>
          <p:cNvSpPr txBox="1"/>
          <p:nvPr/>
        </p:nvSpPr>
        <p:spPr>
          <a:xfrm>
            <a:off x="6460236" y="2971800"/>
            <a:ext cx="4951476" cy="2423160"/>
          </a:xfrm>
          <a:prstGeom prst="rect">
            <a:avLst/>
          </a:prstGeom>
          <a:noFill/>
        </p:spPr>
        <p:txBody>
          <a:bodyPr wrap="square" lIns="73152" rIns="73152" tIns="36576" bIns="36576" anchor="t">
            <a:spAutoFit/>
          </a:bodyPr>
          <a:lstStyle/>
          <a:p>
            <a:pPr algn="l">
              <a:lnSpc>
                <a:spcPct val="118000"/>
              </a:lnSpc>
            </a:pPr>
            <a:r>
              <a:rPr sz="1450" b="0">
                <a:solidFill>
                  <a:srgbClr val="1F2328"/>
                </a:solidFill>
                <a:latin typeface="BIZ UDゴシック"/>
                <a:ea typeface="BIZ UDゴシック"/>
              </a:rPr>
              <a:t>空気も水も大きくなったから</a:t>
            </a:r>
          </a:p>
          <a:p>
            <a:pPr algn="l">
              <a:lnSpc>
                <a:spcPct val="118000"/>
              </a:lnSpc>
            </a:pPr>
            <a:r>
              <a:rPr sz="1450" b="0">
                <a:solidFill>
                  <a:srgbClr val="1F2328"/>
                </a:solidFill>
                <a:latin typeface="BIZ UDゴシック"/>
                <a:ea typeface="BIZ UDゴシック"/>
              </a:rPr>
              <a:t>金ぞくも大きくなるのでは という考えと</a:t>
            </a:r>
          </a:p>
          <a:p>
            <a:pPr algn="l">
              <a:lnSpc>
                <a:spcPct val="118000"/>
              </a:lnSpc>
            </a:pPr>
            <a:r>
              <a:rPr sz="1450" b="0">
                <a:solidFill>
                  <a:srgbClr val="1F2328"/>
                </a:solidFill>
                <a:latin typeface="BIZ UDゴシック"/>
                <a:ea typeface="BIZ UDゴシック"/>
              </a:rPr>
              <a:t>生活の中で 金ぞくは大きくならない</a:t>
            </a:r>
          </a:p>
          <a:p>
            <a:pPr algn="l">
              <a:lnSpc>
                <a:spcPct val="118000"/>
              </a:lnSpc>
            </a:pPr>
            <a:r>
              <a:rPr sz="1450" b="0">
                <a:solidFill>
                  <a:srgbClr val="1F2328"/>
                </a:solidFill>
                <a:latin typeface="BIZ UDゴシック"/>
                <a:ea typeface="BIZ UDゴシック"/>
              </a:rPr>
              <a:t>という考えのずれが出る</a:t>
            </a:r>
          </a:p>
          <a:p>
            <a:pPr algn="l">
              <a:lnSpc>
                <a:spcPct val="118000"/>
              </a:lnSpc>
            </a:pPr>
            <a:r>
              <a:rPr sz="1450" b="0">
                <a:solidFill>
                  <a:srgbClr val="1F2328"/>
                </a:solidFill>
                <a:latin typeface="BIZ UDゴシック"/>
                <a:ea typeface="BIZ UDゴシック"/>
              </a:rPr>
              <a:t>さらに 湯でも玉が輪を通る結果と</a:t>
            </a:r>
          </a:p>
          <a:p>
            <a:pPr algn="l">
              <a:lnSpc>
                <a:spcPct val="118000"/>
              </a:lnSpc>
            </a:pPr>
            <a:r>
              <a:rPr sz="1450" b="0">
                <a:solidFill>
                  <a:srgbClr val="1F2328"/>
                </a:solidFill>
                <a:latin typeface="BIZ UDゴシック"/>
                <a:ea typeface="BIZ UDゴシック"/>
              </a:rPr>
              <a:t>レールのつなぎ目のすきまの写真で</a:t>
            </a:r>
          </a:p>
          <a:p>
            <a:pPr algn="l">
              <a:lnSpc>
                <a:spcPct val="118000"/>
              </a:lnSpc>
            </a:pPr>
            <a:r>
              <a:rPr sz="1450" b="0">
                <a:solidFill>
                  <a:srgbClr val="1F2328"/>
                </a:solidFill>
                <a:latin typeface="BIZ UDゴシック"/>
                <a:ea typeface="BIZ UDゴシック"/>
              </a:rPr>
              <a:t>もう一度ゆさぶる</a:t>
            </a:r>
          </a:p>
        </p:txBody>
      </p:sp>
      <p:sp>
        <p:nvSpPr>
          <p:cNvPr id="20" name="Rectangle 19"/>
          <p:cNvSpPr/>
          <p:nvPr/>
        </p:nvSpPr>
        <p:spPr>
          <a:xfrm>
            <a:off x="548640" y="5577840"/>
            <a:ext cx="11091672" cy="749808"/>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5577840"/>
            <a:ext cx="2011680" cy="749808"/>
          </a:xfrm>
          <a:prstGeom prst="rect">
            <a:avLst/>
          </a:prstGeom>
          <a:noFill/>
        </p:spPr>
        <p:txBody>
          <a:bodyPr wrap="square" lIns="73152" rIns="73152" tIns="36576" bIns="36576" anchor="ctr">
            <a:spAutoFit/>
          </a:bodyPr>
          <a:lstStyle/>
          <a:p>
            <a:pPr algn="l">
              <a:lnSpc>
                <a:spcPct val="118000"/>
              </a:lnSpc>
            </a:pPr>
            <a:r>
              <a:rPr sz="1400" b="1">
                <a:solidFill>
                  <a:srgbClr val="C2410C"/>
                </a:solidFill>
                <a:latin typeface="BIZ UDゴシック"/>
                <a:ea typeface="BIZ UDゴシック"/>
              </a:rPr>
              <a:t>目指す児童の姿</a:t>
            </a:r>
          </a:p>
        </p:txBody>
      </p:sp>
      <p:sp>
        <p:nvSpPr>
          <p:cNvPr id="22" name="TextBox 21"/>
          <p:cNvSpPr txBox="1"/>
          <p:nvPr/>
        </p:nvSpPr>
        <p:spPr>
          <a:xfrm>
            <a:off x="2834640" y="5577840"/>
            <a:ext cx="8686800" cy="749808"/>
          </a:xfrm>
          <a:prstGeom prst="rect">
            <a:avLst/>
          </a:prstGeom>
          <a:noFill/>
        </p:spPr>
        <p:txBody>
          <a:bodyPr wrap="square" lIns="73152" rIns="73152" tIns="36576" bIns="36576" anchor="ctr">
            <a:spAutoFit/>
          </a:bodyPr>
          <a:lstStyle/>
          <a:p>
            <a:pPr algn="l">
              <a:lnSpc>
                <a:spcPct val="118000"/>
              </a:lnSpc>
            </a:pPr>
            <a:r>
              <a:rPr sz="1600" b="1">
                <a:solidFill>
                  <a:srgbClr val="1F2328"/>
                </a:solidFill>
                <a:latin typeface="BIZ UDゴシック"/>
                <a:ea typeface="BIZ UDゴシック"/>
              </a:rPr>
              <a:t>既習の内容や生活経験と関係付けて 根拠のある予想や仮説を発想し 表現する児童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区分"/>
          <p:cNvSpPr txBox="1"/>
          <p:nvPr/>
        </p:nvSpPr>
        <p:spPr>
          <a:xfrm>
            <a:off x="548640" y="274320"/>
            <a:ext cx="8229600" cy="292608"/>
          </a:xfrm>
          <a:prstGeom prst="rect">
            <a:avLst/>
          </a:prstGeom>
          <a:noFill/>
        </p:spPr>
        <p:txBody>
          <a:bodyPr wrap="square" lIns="73152" rIns="73152" tIns="36576" bIns="36576" anchor="t">
            <a:spAutoFit/>
          </a:bodyPr>
          <a:lstStyle/>
          <a:p>
            <a:pPr algn="l">
              <a:lnSpc>
                <a:spcPct val="118000"/>
              </a:lnSpc>
            </a:pPr>
            <a:r>
              <a:rPr sz="1300" b="1">
                <a:solidFill>
                  <a:srgbClr val="5F646B"/>
                </a:solidFill>
                <a:latin typeface="BIZ UDゴシック"/>
                <a:ea typeface="BIZ UDゴシック"/>
              </a:rPr>
              <a:t>着眼1　追究の連続性を生む単元構成</a:t>
            </a:r>
          </a:p>
        </p:txBody>
      </p:sp>
      <p:sp>
        <p:nvSpPr>
          <p:cNvPr id="3" name="見出しの線"/>
          <p:cNvSpPr/>
          <p:nvPr/>
        </p:nvSpPr>
        <p:spPr>
          <a:xfrm>
            <a:off x="548640" y="640080"/>
            <a:ext cx="82296" cy="47548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見出し"/>
          <p:cNvSpPr txBox="1"/>
          <p:nvPr/>
        </p:nvSpPr>
        <p:spPr>
          <a:xfrm>
            <a:off x="749808" y="566928"/>
            <a:ext cx="10972800" cy="603504"/>
          </a:xfrm>
          <a:prstGeom prst="rect">
            <a:avLst/>
          </a:prstGeom>
          <a:noFill/>
        </p:spPr>
        <p:txBody>
          <a:bodyPr wrap="square" lIns="73152" rIns="73152" tIns="36576" bIns="36576" anchor="ctr">
            <a:spAutoFit/>
          </a:bodyPr>
          <a:lstStyle/>
          <a:p>
            <a:pPr algn="l">
              <a:lnSpc>
                <a:spcPct val="118000"/>
              </a:lnSpc>
            </a:pPr>
            <a:r>
              <a:rPr sz="2800" b="1">
                <a:solidFill>
                  <a:srgbClr val="1F2328"/>
                </a:solidFill>
                <a:latin typeface="BIZ UDゴシック"/>
                <a:ea typeface="BIZ UDゴシック"/>
              </a:rPr>
              <a:t>単元構成 全10時間</a:t>
            </a:r>
          </a:p>
        </p:txBody>
      </p:sp>
      <p:sp>
        <p:nvSpPr>
          <p:cNvPr id="5" name="足もと"/>
          <p:cNvSpPr txBox="1"/>
          <p:nvPr/>
        </p:nvSpPr>
        <p:spPr>
          <a:xfrm>
            <a:off x="548640" y="6455664"/>
            <a:ext cx="8229600" cy="256032"/>
          </a:xfrm>
          <a:prstGeom prst="rect">
            <a:avLst/>
          </a:prstGeom>
          <a:noFill/>
        </p:spPr>
        <p:txBody>
          <a:bodyPr wrap="square" lIns="73152" rIns="73152" tIns="36576" bIns="36576" anchor="t">
            <a:spAutoFit/>
          </a:bodyPr>
          <a:lstStyle/>
          <a:p>
            <a:pPr algn="l">
              <a:lnSpc>
                <a:spcPct val="118000"/>
              </a:lnSpc>
            </a:pPr>
            <a:r>
              <a:rPr sz="1000" b="0">
                <a:solidFill>
                  <a:srgbClr val="8A9097"/>
                </a:solidFill>
                <a:latin typeface="BIZ UDゴシック"/>
                <a:ea typeface="BIZ UDゴシック"/>
              </a:rPr>
              <a:t>4年 理科　物の体積と温度　授業者説明</a:t>
            </a:r>
          </a:p>
        </p:txBody>
      </p:sp>
      <p:sp>
        <p:nvSpPr>
          <p:cNvPr id="6" name="ページ"/>
          <p:cNvSpPr txBox="1"/>
          <p:nvPr/>
        </p:nvSpPr>
        <p:spPr>
          <a:xfrm>
            <a:off x="10545775" y="6455664"/>
            <a:ext cx="1097280" cy="256032"/>
          </a:xfrm>
          <a:prstGeom prst="rect">
            <a:avLst/>
          </a:prstGeom>
          <a:noFill/>
        </p:spPr>
        <p:txBody>
          <a:bodyPr wrap="square" lIns="73152" rIns="73152" tIns="36576" bIns="36576" anchor="t">
            <a:spAutoFit/>
          </a:bodyPr>
          <a:lstStyle/>
          <a:p>
            <a:pPr algn="r">
              <a:lnSpc>
                <a:spcPct val="118000"/>
              </a:lnSpc>
            </a:pPr>
            <a:r>
              <a:rPr sz="1000" b="0">
                <a:solidFill>
                  <a:srgbClr val="8A9097"/>
                </a:solidFill>
                <a:latin typeface="BIZ UDゴシック"/>
                <a:ea typeface="BIZ UDゴシック"/>
              </a:rPr>
              <a:t>5</a:t>
            </a:r>
          </a:p>
        </p:txBody>
      </p:sp>
      <p:sp>
        <p:nvSpPr>
          <p:cNvPr id="7" name="Rectangle 6"/>
          <p:cNvSpPr/>
          <p:nvPr/>
        </p:nvSpPr>
        <p:spPr>
          <a:xfrm>
            <a:off x="548640" y="1325880"/>
            <a:ext cx="3529584" cy="4343400"/>
          </a:xfrm>
          <a:prstGeom prst="rect">
            <a:avLst/>
          </a:prstGeom>
          <a:solidFill>
            <a:srgbClr val="FFFFFF"/>
          </a:solidFill>
          <a:ln w="12700">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3529584" cy="566928"/>
          </a:xfrm>
          <a:prstGeom prst="rect">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25880"/>
            <a:ext cx="1828800" cy="566928"/>
          </a:xfrm>
          <a:prstGeom prst="rect">
            <a:avLst/>
          </a:prstGeom>
          <a:noFill/>
        </p:spPr>
        <p:txBody>
          <a:bodyPr wrap="square" lIns="73152" rIns="73152" tIns="36576" bIns="36576" anchor="ctr">
            <a:spAutoFit/>
          </a:bodyPr>
          <a:lstStyle/>
          <a:p>
            <a:pPr algn="l">
              <a:lnSpc>
                <a:spcPct val="118000"/>
              </a:lnSpc>
            </a:pPr>
            <a:r>
              <a:rPr sz="1700" b="1">
                <a:solidFill>
                  <a:srgbClr val="FFFFFF"/>
                </a:solidFill>
                <a:latin typeface="BIZ UDゴシック"/>
                <a:ea typeface="BIZ UDゴシック"/>
              </a:rPr>
              <a:t>第1次 空気</a:t>
            </a:r>
          </a:p>
        </p:txBody>
      </p:sp>
      <p:sp>
        <p:nvSpPr>
          <p:cNvPr id="10" name="TextBox 9"/>
          <p:cNvSpPr txBox="1"/>
          <p:nvPr/>
        </p:nvSpPr>
        <p:spPr>
          <a:xfrm>
            <a:off x="2286000" y="1325880"/>
            <a:ext cx="1655064" cy="566928"/>
          </a:xfrm>
          <a:prstGeom prst="rect">
            <a:avLst/>
          </a:prstGeom>
          <a:noFill/>
        </p:spPr>
        <p:txBody>
          <a:bodyPr wrap="square" lIns="73152" rIns="73152" tIns="36576" bIns="36576" anchor="ctr">
            <a:spAutoFit/>
          </a:bodyPr>
          <a:lstStyle/>
          <a:p>
            <a:pPr algn="r">
              <a:lnSpc>
                <a:spcPct val="100000"/>
              </a:lnSpc>
            </a:pPr>
            <a:r>
              <a:rPr sz="1150" b="1">
                <a:solidFill>
                  <a:srgbClr val="FFFFFF"/>
                </a:solidFill>
                <a:latin typeface="BIZ UDゴシック"/>
                <a:ea typeface="BIZ UDゴシック"/>
              </a:rPr>
              <a:t>第1〜4時</a:t>
            </a:r>
          </a:p>
        </p:txBody>
      </p:sp>
      <p:sp>
        <p:nvSpPr>
          <p:cNvPr id="11" name="TextBox 10"/>
          <p:cNvSpPr txBox="1"/>
          <p:nvPr/>
        </p:nvSpPr>
        <p:spPr>
          <a:xfrm>
            <a:off x="658368" y="2011680"/>
            <a:ext cx="822960" cy="274320"/>
          </a:xfrm>
          <a:prstGeom prst="rect">
            <a:avLst/>
          </a:prstGeom>
          <a:noFill/>
        </p:spPr>
        <p:txBody>
          <a:bodyPr wrap="square" lIns="73152" rIns="73152" tIns="36576" bIns="36576" anchor="t">
            <a:spAutoFit/>
          </a:bodyPr>
          <a:lstStyle/>
          <a:p>
            <a:pPr algn="l">
              <a:lnSpc>
                <a:spcPct val="118000"/>
              </a:lnSpc>
            </a:pPr>
            <a:r>
              <a:rPr sz="1100" b="1">
                <a:solidFill>
                  <a:srgbClr val="C2410C"/>
                </a:solidFill>
                <a:latin typeface="BIZ UDゴシック"/>
                <a:ea typeface="BIZ UDゴシック"/>
              </a:rPr>
              <a:t>問題</a:t>
            </a:r>
          </a:p>
        </p:txBody>
      </p:sp>
      <p:sp>
        <p:nvSpPr>
          <p:cNvPr id="12" name="TextBox 11"/>
          <p:cNvSpPr txBox="1"/>
          <p:nvPr/>
        </p:nvSpPr>
        <p:spPr>
          <a:xfrm>
            <a:off x="658368" y="2258568"/>
            <a:ext cx="3310128" cy="621792"/>
          </a:xfrm>
          <a:prstGeom prst="rect">
            <a:avLst/>
          </a:prstGeom>
          <a:noFill/>
        </p:spPr>
        <p:txBody>
          <a:bodyPr wrap="square" lIns="73152" rIns="73152" tIns="36576" bIns="36576" anchor="t">
            <a:spAutoFit/>
          </a:bodyPr>
          <a:lstStyle/>
          <a:p>
            <a:pPr algn="l">
              <a:lnSpc>
                <a:spcPct val="115000"/>
              </a:lnSpc>
            </a:pPr>
            <a:r>
              <a:rPr sz="1300" b="1">
                <a:solidFill>
                  <a:srgbClr val="1F2328"/>
                </a:solidFill>
                <a:latin typeface="BIZ UDゴシック"/>
                <a:ea typeface="BIZ UDゴシック"/>
              </a:rPr>
              <a:t>空気は あたためると</a:t>
            </a:r>
          </a:p>
          <a:p>
            <a:pPr algn="l">
              <a:lnSpc>
                <a:spcPct val="115000"/>
              </a:lnSpc>
            </a:pPr>
            <a:r>
              <a:rPr sz="1300" b="1">
                <a:solidFill>
                  <a:srgbClr val="1F2328"/>
                </a:solidFill>
                <a:latin typeface="BIZ UDゴシック"/>
                <a:ea typeface="BIZ UDゴシック"/>
              </a:rPr>
              <a:t>体積が大きくなるのだろうか</a:t>
            </a:r>
          </a:p>
        </p:txBody>
      </p:sp>
      <p:sp>
        <p:nvSpPr>
          <p:cNvPr id="13" name="TextBox 12"/>
          <p:cNvSpPr txBox="1"/>
          <p:nvPr/>
        </p:nvSpPr>
        <p:spPr>
          <a:xfrm>
            <a:off x="658368" y="2898648"/>
            <a:ext cx="822960" cy="274320"/>
          </a:xfrm>
          <a:prstGeom prst="rect">
            <a:avLst/>
          </a:prstGeom>
          <a:noFill/>
        </p:spPr>
        <p:txBody>
          <a:bodyPr wrap="square" lIns="73152" rIns="73152" tIns="36576" bIns="36576" anchor="t">
            <a:spAutoFit/>
          </a:bodyPr>
          <a:lstStyle/>
          <a:p>
            <a:pPr algn="l">
              <a:lnSpc>
                <a:spcPct val="118000"/>
              </a:lnSpc>
            </a:pPr>
            <a:r>
              <a:rPr sz="1100" b="1">
                <a:solidFill>
                  <a:srgbClr val="5F646B"/>
                </a:solidFill>
                <a:latin typeface="BIZ UDゴシック"/>
                <a:ea typeface="BIZ UDゴシック"/>
              </a:rPr>
              <a:t>事象</a:t>
            </a:r>
          </a:p>
        </p:txBody>
      </p:sp>
      <p:sp>
        <p:nvSpPr>
          <p:cNvPr id="14" name="TextBox 13"/>
          <p:cNvSpPr txBox="1"/>
          <p:nvPr/>
        </p:nvSpPr>
        <p:spPr>
          <a:xfrm>
            <a:off x="658368" y="3145536"/>
            <a:ext cx="3310128" cy="621792"/>
          </a:xfrm>
          <a:prstGeom prst="rect">
            <a:avLst/>
          </a:prstGeom>
          <a:noFill/>
        </p:spPr>
        <p:txBody>
          <a:bodyPr wrap="square" lIns="73152" rIns="73152" tIns="36576" bIns="36576" anchor="t">
            <a:spAutoFit/>
          </a:bodyPr>
          <a:lstStyle/>
          <a:p>
            <a:pPr algn="l">
              <a:lnSpc>
                <a:spcPct val="115000"/>
              </a:lnSpc>
            </a:pPr>
            <a:r>
              <a:rPr sz="1300" b="0">
                <a:solidFill>
                  <a:srgbClr val="1F2328"/>
                </a:solidFill>
                <a:latin typeface="BIZ UDゴシック"/>
                <a:ea typeface="BIZ UDゴシック"/>
              </a:rPr>
              <a:t>試験管をにぎると</a:t>
            </a:r>
          </a:p>
          <a:p>
            <a:pPr algn="l">
              <a:lnSpc>
                <a:spcPct val="115000"/>
              </a:lnSpc>
            </a:pPr>
            <a:r>
              <a:rPr sz="1300" b="0">
                <a:solidFill>
                  <a:srgbClr val="1F2328"/>
                </a:solidFill>
                <a:latin typeface="BIZ UDゴシック"/>
                <a:ea typeface="BIZ UDゴシック"/>
              </a:rPr>
              <a:t>まくがふくらむ</a:t>
            </a:r>
          </a:p>
        </p:txBody>
      </p:sp>
      <p:sp>
        <p:nvSpPr>
          <p:cNvPr id="15" name="TextBox 14"/>
          <p:cNvSpPr txBox="1"/>
          <p:nvPr/>
        </p:nvSpPr>
        <p:spPr>
          <a:xfrm>
            <a:off x="658368" y="3785615"/>
            <a:ext cx="822960" cy="274320"/>
          </a:xfrm>
          <a:prstGeom prst="rect">
            <a:avLst/>
          </a:prstGeom>
          <a:noFill/>
        </p:spPr>
        <p:txBody>
          <a:bodyPr wrap="square" lIns="73152" rIns="73152" tIns="36576" bIns="36576" anchor="t">
            <a:spAutoFit/>
          </a:bodyPr>
          <a:lstStyle/>
          <a:p>
            <a:pPr algn="l">
              <a:lnSpc>
                <a:spcPct val="118000"/>
              </a:lnSpc>
            </a:pPr>
            <a:r>
              <a:rPr sz="1100" b="1">
                <a:solidFill>
                  <a:srgbClr val="5F646B"/>
                </a:solidFill>
                <a:latin typeface="BIZ UDゴシック"/>
                <a:ea typeface="BIZ UDゴシック"/>
              </a:rPr>
              <a:t>結論</a:t>
            </a:r>
          </a:p>
        </p:txBody>
      </p:sp>
      <p:sp>
        <p:nvSpPr>
          <p:cNvPr id="16" name="TextBox 15"/>
          <p:cNvSpPr txBox="1"/>
          <p:nvPr/>
        </p:nvSpPr>
        <p:spPr>
          <a:xfrm>
            <a:off x="658368" y="4032504"/>
            <a:ext cx="3310128" cy="621792"/>
          </a:xfrm>
          <a:prstGeom prst="rect">
            <a:avLst/>
          </a:prstGeom>
          <a:noFill/>
        </p:spPr>
        <p:txBody>
          <a:bodyPr wrap="square" lIns="73152" rIns="73152" tIns="36576" bIns="36576" anchor="t">
            <a:spAutoFit/>
          </a:bodyPr>
          <a:lstStyle/>
          <a:p>
            <a:pPr algn="l">
              <a:lnSpc>
                <a:spcPct val="115000"/>
              </a:lnSpc>
            </a:pPr>
            <a:r>
              <a:rPr sz="1300" b="0">
                <a:solidFill>
                  <a:srgbClr val="1F2328"/>
                </a:solidFill>
                <a:latin typeface="BIZ UDゴシック"/>
                <a:ea typeface="BIZ UDゴシック"/>
              </a:rPr>
              <a:t>空気は あたためると体積が</a:t>
            </a:r>
          </a:p>
          <a:p>
            <a:pPr algn="l">
              <a:lnSpc>
                <a:spcPct val="115000"/>
              </a:lnSpc>
            </a:pPr>
            <a:r>
              <a:rPr sz="1300" b="0">
                <a:solidFill>
                  <a:srgbClr val="1F2328"/>
                </a:solidFill>
                <a:latin typeface="BIZ UDゴシック"/>
                <a:ea typeface="BIZ UDゴシック"/>
              </a:rPr>
              <a:t>大きくなり 冷やすと小さくなる</a:t>
            </a:r>
          </a:p>
        </p:txBody>
      </p:sp>
      <p:sp>
        <p:nvSpPr>
          <p:cNvPr id="17" name="TextBox 16"/>
          <p:cNvSpPr txBox="1"/>
          <p:nvPr/>
        </p:nvSpPr>
        <p:spPr>
          <a:xfrm>
            <a:off x="658368" y="4672583"/>
            <a:ext cx="822960" cy="274320"/>
          </a:xfrm>
          <a:prstGeom prst="rect">
            <a:avLst/>
          </a:prstGeom>
          <a:noFill/>
        </p:spPr>
        <p:txBody>
          <a:bodyPr wrap="square" lIns="73152" rIns="73152" tIns="36576" bIns="36576" anchor="t">
            <a:spAutoFit/>
          </a:bodyPr>
          <a:lstStyle/>
          <a:p>
            <a:pPr algn="l">
              <a:lnSpc>
                <a:spcPct val="118000"/>
              </a:lnSpc>
            </a:pPr>
            <a:r>
              <a:rPr sz="1100" b="1">
                <a:solidFill>
                  <a:srgbClr val="5F646B"/>
                </a:solidFill>
                <a:latin typeface="BIZ UDゴシック"/>
                <a:ea typeface="BIZ UDゴシック"/>
              </a:rPr>
              <a:t>つなぐ</a:t>
            </a:r>
          </a:p>
        </p:txBody>
      </p:sp>
      <p:sp>
        <p:nvSpPr>
          <p:cNvPr id="18" name="TextBox 17"/>
          <p:cNvSpPr txBox="1"/>
          <p:nvPr/>
        </p:nvSpPr>
        <p:spPr>
          <a:xfrm>
            <a:off x="658368" y="4919471"/>
            <a:ext cx="3310128" cy="621792"/>
          </a:xfrm>
          <a:prstGeom prst="rect">
            <a:avLst/>
          </a:prstGeom>
          <a:noFill/>
        </p:spPr>
        <p:txBody>
          <a:bodyPr wrap="square" lIns="73152" rIns="73152" tIns="36576" bIns="36576" anchor="t">
            <a:spAutoFit/>
          </a:bodyPr>
          <a:lstStyle/>
          <a:p>
            <a:pPr algn="l">
              <a:lnSpc>
                <a:spcPct val="115000"/>
              </a:lnSpc>
            </a:pPr>
            <a:r>
              <a:rPr sz="1300" b="0">
                <a:solidFill>
                  <a:srgbClr val="1F2328"/>
                </a:solidFill>
                <a:latin typeface="BIZ UDゴシック"/>
                <a:ea typeface="BIZ UDゴシック"/>
              </a:rPr>
              <a:t>第4時 身の回りの物を分ける</a:t>
            </a:r>
          </a:p>
          <a:p>
            <a:pPr algn="l">
              <a:lnSpc>
                <a:spcPct val="115000"/>
              </a:lnSpc>
            </a:pPr>
            <a:r>
              <a:rPr sz="1300" b="0">
                <a:solidFill>
                  <a:srgbClr val="1F2328"/>
                </a:solidFill>
                <a:latin typeface="BIZ UDゴシック"/>
                <a:ea typeface="BIZ UDゴシック"/>
              </a:rPr>
              <a:t>分類表で調べる順番を決める</a:t>
            </a:r>
          </a:p>
        </p:txBody>
      </p:sp>
      <p:sp>
        <p:nvSpPr>
          <p:cNvPr id="19" name="矢印"/>
          <p:cNvSpPr/>
          <p:nvPr/>
        </p:nvSpPr>
        <p:spPr>
          <a:xfrm>
            <a:off x="4123944" y="3246120"/>
            <a:ext cx="160020" cy="384048"/>
          </a:xfrm>
          <a:prstGeom prst="rightArrow">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29683" y="1325880"/>
            <a:ext cx="3529584" cy="4343400"/>
          </a:xfrm>
          <a:prstGeom prst="rect">
            <a:avLst/>
          </a:prstGeom>
          <a:solidFill>
            <a:srgbClr val="FFFFFF"/>
          </a:solidFill>
          <a:ln w="12700">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29683" y="1325880"/>
            <a:ext cx="3529584" cy="566928"/>
          </a:xfrm>
          <a:prstGeom prst="rect">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66844" y="1325880"/>
            <a:ext cx="1828800" cy="566928"/>
          </a:xfrm>
          <a:prstGeom prst="rect">
            <a:avLst/>
          </a:prstGeom>
          <a:noFill/>
        </p:spPr>
        <p:txBody>
          <a:bodyPr wrap="square" lIns="73152" rIns="73152" tIns="36576" bIns="36576" anchor="ctr">
            <a:spAutoFit/>
          </a:bodyPr>
          <a:lstStyle/>
          <a:p>
            <a:pPr algn="l">
              <a:lnSpc>
                <a:spcPct val="118000"/>
              </a:lnSpc>
            </a:pPr>
            <a:r>
              <a:rPr sz="1700" b="1">
                <a:solidFill>
                  <a:srgbClr val="FFFFFF"/>
                </a:solidFill>
                <a:latin typeface="BIZ UDゴシック"/>
                <a:ea typeface="BIZ UDゴシック"/>
              </a:rPr>
              <a:t>第2次 水</a:t>
            </a:r>
          </a:p>
        </p:txBody>
      </p:sp>
      <p:sp>
        <p:nvSpPr>
          <p:cNvPr id="23" name="TextBox 22"/>
          <p:cNvSpPr txBox="1"/>
          <p:nvPr/>
        </p:nvSpPr>
        <p:spPr>
          <a:xfrm>
            <a:off x="6067044" y="1325880"/>
            <a:ext cx="1655064" cy="566928"/>
          </a:xfrm>
          <a:prstGeom prst="rect">
            <a:avLst/>
          </a:prstGeom>
          <a:noFill/>
        </p:spPr>
        <p:txBody>
          <a:bodyPr wrap="square" lIns="73152" rIns="73152" tIns="36576" bIns="36576" anchor="ctr">
            <a:spAutoFit/>
          </a:bodyPr>
          <a:lstStyle/>
          <a:p>
            <a:pPr algn="r">
              <a:lnSpc>
                <a:spcPct val="100000"/>
              </a:lnSpc>
            </a:pPr>
            <a:r>
              <a:rPr sz="1150" b="1">
                <a:solidFill>
                  <a:srgbClr val="FFFFFF"/>
                </a:solidFill>
                <a:latin typeface="BIZ UDゴシック"/>
                <a:ea typeface="BIZ UDゴシック"/>
              </a:rPr>
              <a:t>第5〜7時</a:t>
            </a:r>
          </a:p>
        </p:txBody>
      </p:sp>
      <p:sp>
        <p:nvSpPr>
          <p:cNvPr id="24" name="TextBox 23"/>
          <p:cNvSpPr txBox="1"/>
          <p:nvPr/>
        </p:nvSpPr>
        <p:spPr>
          <a:xfrm>
            <a:off x="4439412" y="2011680"/>
            <a:ext cx="822960" cy="274320"/>
          </a:xfrm>
          <a:prstGeom prst="rect">
            <a:avLst/>
          </a:prstGeom>
          <a:noFill/>
        </p:spPr>
        <p:txBody>
          <a:bodyPr wrap="square" lIns="73152" rIns="73152" tIns="36576" bIns="36576" anchor="t">
            <a:spAutoFit/>
          </a:bodyPr>
          <a:lstStyle/>
          <a:p>
            <a:pPr algn="l">
              <a:lnSpc>
                <a:spcPct val="118000"/>
              </a:lnSpc>
            </a:pPr>
            <a:r>
              <a:rPr sz="1100" b="1">
                <a:solidFill>
                  <a:srgbClr val="C2410C"/>
                </a:solidFill>
                <a:latin typeface="BIZ UDゴシック"/>
                <a:ea typeface="BIZ UDゴシック"/>
              </a:rPr>
              <a:t>問題</a:t>
            </a:r>
          </a:p>
        </p:txBody>
      </p:sp>
      <p:sp>
        <p:nvSpPr>
          <p:cNvPr id="25" name="TextBox 24"/>
          <p:cNvSpPr txBox="1"/>
          <p:nvPr/>
        </p:nvSpPr>
        <p:spPr>
          <a:xfrm>
            <a:off x="4439412" y="2258568"/>
            <a:ext cx="3310128" cy="621792"/>
          </a:xfrm>
          <a:prstGeom prst="rect">
            <a:avLst/>
          </a:prstGeom>
          <a:noFill/>
        </p:spPr>
        <p:txBody>
          <a:bodyPr wrap="square" lIns="73152" rIns="73152" tIns="36576" bIns="36576" anchor="t">
            <a:spAutoFit/>
          </a:bodyPr>
          <a:lstStyle/>
          <a:p>
            <a:pPr algn="l">
              <a:lnSpc>
                <a:spcPct val="115000"/>
              </a:lnSpc>
            </a:pPr>
            <a:r>
              <a:rPr sz="1300" b="1">
                <a:solidFill>
                  <a:srgbClr val="1F2328"/>
                </a:solidFill>
                <a:latin typeface="BIZ UDゴシック"/>
                <a:ea typeface="BIZ UDゴシック"/>
              </a:rPr>
              <a:t>水も あたためたり冷やしたりすると</a:t>
            </a:r>
          </a:p>
          <a:p>
            <a:pPr algn="l">
              <a:lnSpc>
                <a:spcPct val="115000"/>
              </a:lnSpc>
            </a:pPr>
            <a:r>
              <a:rPr sz="1300" b="1">
                <a:solidFill>
                  <a:srgbClr val="1F2328"/>
                </a:solidFill>
                <a:latin typeface="BIZ UDゴシック"/>
                <a:ea typeface="BIZ UDゴシック"/>
              </a:rPr>
              <a:t>体積は変わるのだろうか</a:t>
            </a:r>
          </a:p>
        </p:txBody>
      </p:sp>
      <p:sp>
        <p:nvSpPr>
          <p:cNvPr id="26" name="TextBox 25"/>
          <p:cNvSpPr txBox="1"/>
          <p:nvPr/>
        </p:nvSpPr>
        <p:spPr>
          <a:xfrm>
            <a:off x="4439412" y="2898648"/>
            <a:ext cx="822960" cy="274320"/>
          </a:xfrm>
          <a:prstGeom prst="rect">
            <a:avLst/>
          </a:prstGeom>
          <a:noFill/>
        </p:spPr>
        <p:txBody>
          <a:bodyPr wrap="square" lIns="73152" rIns="73152" tIns="36576" bIns="36576" anchor="t">
            <a:spAutoFit/>
          </a:bodyPr>
          <a:lstStyle/>
          <a:p>
            <a:pPr algn="l">
              <a:lnSpc>
                <a:spcPct val="118000"/>
              </a:lnSpc>
            </a:pPr>
            <a:r>
              <a:rPr sz="1100" b="1">
                <a:solidFill>
                  <a:srgbClr val="5F646B"/>
                </a:solidFill>
                <a:latin typeface="BIZ UDゴシック"/>
                <a:ea typeface="BIZ UDゴシック"/>
              </a:rPr>
              <a:t>事象</a:t>
            </a:r>
          </a:p>
        </p:txBody>
      </p:sp>
      <p:sp>
        <p:nvSpPr>
          <p:cNvPr id="27" name="TextBox 26"/>
          <p:cNvSpPr txBox="1"/>
          <p:nvPr/>
        </p:nvSpPr>
        <p:spPr>
          <a:xfrm>
            <a:off x="4439412" y="3145536"/>
            <a:ext cx="3310128" cy="621792"/>
          </a:xfrm>
          <a:prstGeom prst="rect">
            <a:avLst/>
          </a:prstGeom>
          <a:noFill/>
        </p:spPr>
        <p:txBody>
          <a:bodyPr wrap="square" lIns="73152" rIns="73152" tIns="36576" bIns="36576" anchor="t">
            <a:spAutoFit/>
          </a:bodyPr>
          <a:lstStyle/>
          <a:p>
            <a:pPr algn="l">
              <a:lnSpc>
                <a:spcPct val="115000"/>
              </a:lnSpc>
            </a:pPr>
            <a:r>
              <a:rPr sz="1300" b="0">
                <a:solidFill>
                  <a:srgbClr val="1F2328"/>
                </a:solidFill>
                <a:latin typeface="BIZ UDゴシック"/>
                <a:ea typeface="BIZ UDゴシック"/>
              </a:rPr>
              <a:t>空気と同じ器具に水を入れ</a:t>
            </a:r>
          </a:p>
          <a:p>
            <a:pPr algn="l">
              <a:lnSpc>
                <a:spcPct val="115000"/>
              </a:lnSpc>
            </a:pPr>
            <a:r>
              <a:rPr sz="1300" b="0">
                <a:solidFill>
                  <a:srgbClr val="1F2328"/>
                </a:solidFill>
                <a:latin typeface="BIZ UDゴシック"/>
                <a:ea typeface="BIZ UDゴシック"/>
              </a:rPr>
              <a:t>水面のわずかな動きを見る</a:t>
            </a:r>
          </a:p>
        </p:txBody>
      </p:sp>
      <p:sp>
        <p:nvSpPr>
          <p:cNvPr id="28" name="TextBox 27"/>
          <p:cNvSpPr txBox="1"/>
          <p:nvPr/>
        </p:nvSpPr>
        <p:spPr>
          <a:xfrm>
            <a:off x="4439412" y="3785615"/>
            <a:ext cx="822960" cy="274320"/>
          </a:xfrm>
          <a:prstGeom prst="rect">
            <a:avLst/>
          </a:prstGeom>
          <a:noFill/>
        </p:spPr>
        <p:txBody>
          <a:bodyPr wrap="square" lIns="73152" rIns="73152" tIns="36576" bIns="36576" anchor="t">
            <a:spAutoFit/>
          </a:bodyPr>
          <a:lstStyle/>
          <a:p>
            <a:pPr algn="l">
              <a:lnSpc>
                <a:spcPct val="118000"/>
              </a:lnSpc>
            </a:pPr>
            <a:r>
              <a:rPr sz="1100" b="1">
                <a:solidFill>
                  <a:srgbClr val="5F646B"/>
                </a:solidFill>
                <a:latin typeface="BIZ UDゴシック"/>
                <a:ea typeface="BIZ UDゴシック"/>
              </a:rPr>
              <a:t>結論</a:t>
            </a:r>
          </a:p>
        </p:txBody>
      </p:sp>
      <p:sp>
        <p:nvSpPr>
          <p:cNvPr id="29" name="TextBox 28"/>
          <p:cNvSpPr txBox="1"/>
          <p:nvPr/>
        </p:nvSpPr>
        <p:spPr>
          <a:xfrm>
            <a:off x="4439412" y="4032504"/>
            <a:ext cx="3310128" cy="621792"/>
          </a:xfrm>
          <a:prstGeom prst="rect">
            <a:avLst/>
          </a:prstGeom>
          <a:noFill/>
        </p:spPr>
        <p:txBody>
          <a:bodyPr wrap="square" lIns="73152" rIns="73152" tIns="36576" bIns="36576" anchor="t">
            <a:spAutoFit/>
          </a:bodyPr>
          <a:lstStyle/>
          <a:p>
            <a:pPr algn="l">
              <a:lnSpc>
                <a:spcPct val="115000"/>
              </a:lnSpc>
            </a:pPr>
            <a:r>
              <a:rPr sz="1300" b="0">
                <a:solidFill>
                  <a:srgbClr val="1F2328"/>
                </a:solidFill>
                <a:latin typeface="BIZ UDゴシック"/>
                <a:ea typeface="BIZ UDゴシック"/>
              </a:rPr>
              <a:t>水も体積が変わる</a:t>
            </a:r>
          </a:p>
          <a:p>
            <a:pPr algn="l">
              <a:lnSpc>
                <a:spcPct val="115000"/>
              </a:lnSpc>
            </a:pPr>
            <a:r>
              <a:rPr sz="1300" b="0">
                <a:solidFill>
                  <a:srgbClr val="1F2328"/>
                </a:solidFill>
                <a:latin typeface="BIZ UDゴシック"/>
                <a:ea typeface="BIZ UDゴシック"/>
              </a:rPr>
              <a:t>変わり方は空気より小さい</a:t>
            </a:r>
          </a:p>
        </p:txBody>
      </p:sp>
      <p:sp>
        <p:nvSpPr>
          <p:cNvPr id="30" name="TextBox 29"/>
          <p:cNvSpPr txBox="1"/>
          <p:nvPr/>
        </p:nvSpPr>
        <p:spPr>
          <a:xfrm>
            <a:off x="4439412" y="4672583"/>
            <a:ext cx="822960" cy="274320"/>
          </a:xfrm>
          <a:prstGeom prst="rect">
            <a:avLst/>
          </a:prstGeom>
          <a:noFill/>
        </p:spPr>
        <p:txBody>
          <a:bodyPr wrap="square" lIns="73152" rIns="73152" tIns="36576" bIns="36576" anchor="t">
            <a:spAutoFit/>
          </a:bodyPr>
          <a:lstStyle/>
          <a:p>
            <a:pPr algn="l">
              <a:lnSpc>
                <a:spcPct val="118000"/>
              </a:lnSpc>
            </a:pPr>
            <a:r>
              <a:rPr sz="1100" b="1">
                <a:solidFill>
                  <a:srgbClr val="5F646B"/>
                </a:solidFill>
                <a:latin typeface="BIZ UDゴシック"/>
                <a:ea typeface="BIZ UDゴシック"/>
              </a:rPr>
              <a:t>つなぐ</a:t>
            </a:r>
          </a:p>
        </p:txBody>
      </p:sp>
      <p:sp>
        <p:nvSpPr>
          <p:cNvPr id="31" name="TextBox 30"/>
          <p:cNvSpPr txBox="1"/>
          <p:nvPr/>
        </p:nvSpPr>
        <p:spPr>
          <a:xfrm>
            <a:off x="4439412" y="4919471"/>
            <a:ext cx="3310128" cy="621792"/>
          </a:xfrm>
          <a:prstGeom prst="rect">
            <a:avLst/>
          </a:prstGeom>
          <a:noFill/>
        </p:spPr>
        <p:txBody>
          <a:bodyPr wrap="square" lIns="73152" rIns="73152" tIns="36576" bIns="36576" anchor="t">
            <a:spAutoFit/>
          </a:bodyPr>
          <a:lstStyle/>
          <a:p>
            <a:pPr algn="l">
              <a:lnSpc>
                <a:spcPct val="115000"/>
              </a:lnSpc>
            </a:pPr>
            <a:r>
              <a:rPr sz="1300" b="0">
                <a:solidFill>
                  <a:srgbClr val="1F2328"/>
                </a:solidFill>
                <a:latin typeface="BIZ UDゴシック"/>
                <a:ea typeface="BIZ UDゴシック"/>
              </a:rPr>
              <a:t>分類表に水の結果を書きこむ</a:t>
            </a:r>
          </a:p>
          <a:p>
            <a:pPr algn="l">
              <a:lnSpc>
                <a:spcPct val="115000"/>
              </a:lnSpc>
            </a:pPr>
            <a:r>
              <a:rPr sz="1300" b="0">
                <a:solidFill>
                  <a:srgbClr val="1F2328"/>
                </a:solidFill>
                <a:latin typeface="BIZ UDゴシック"/>
                <a:ea typeface="BIZ UDゴシック"/>
              </a:rPr>
              <a:t>形のある物へ目を向ける</a:t>
            </a:r>
          </a:p>
        </p:txBody>
      </p:sp>
      <p:sp>
        <p:nvSpPr>
          <p:cNvPr id="32" name="矢印"/>
          <p:cNvSpPr/>
          <p:nvPr/>
        </p:nvSpPr>
        <p:spPr>
          <a:xfrm>
            <a:off x="7904988" y="3246120"/>
            <a:ext cx="160020" cy="384048"/>
          </a:xfrm>
          <a:prstGeom prst="rightArrow">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10727" y="1325880"/>
            <a:ext cx="3529584" cy="4343400"/>
          </a:xfrm>
          <a:prstGeom prst="rect">
            <a:avLst/>
          </a:prstGeom>
          <a:solidFill>
            <a:srgbClr val="FFFFFF"/>
          </a:solidFill>
          <a:ln w="28575">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10727" y="1325880"/>
            <a:ext cx="3529584" cy="56692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47888" y="1325880"/>
            <a:ext cx="1828800" cy="566928"/>
          </a:xfrm>
          <a:prstGeom prst="rect">
            <a:avLst/>
          </a:prstGeom>
          <a:noFill/>
        </p:spPr>
        <p:txBody>
          <a:bodyPr wrap="square" lIns="73152" rIns="73152" tIns="36576" bIns="36576" anchor="ctr">
            <a:spAutoFit/>
          </a:bodyPr>
          <a:lstStyle/>
          <a:p>
            <a:pPr algn="l">
              <a:lnSpc>
                <a:spcPct val="118000"/>
              </a:lnSpc>
            </a:pPr>
            <a:r>
              <a:rPr sz="1700" b="1">
                <a:solidFill>
                  <a:srgbClr val="FFFFFF"/>
                </a:solidFill>
                <a:latin typeface="BIZ UDゴシック"/>
                <a:ea typeface="BIZ UDゴシック"/>
              </a:rPr>
              <a:t>第3次 金属</a:t>
            </a:r>
          </a:p>
        </p:txBody>
      </p:sp>
      <p:sp>
        <p:nvSpPr>
          <p:cNvPr id="36" name="TextBox 35"/>
          <p:cNvSpPr txBox="1"/>
          <p:nvPr/>
        </p:nvSpPr>
        <p:spPr>
          <a:xfrm>
            <a:off x="9848088" y="1325880"/>
            <a:ext cx="1655064" cy="566928"/>
          </a:xfrm>
          <a:prstGeom prst="rect">
            <a:avLst/>
          </a:prstGeom>
          <a:noFill/>
        </p:spPr>
        <p:txBody>
          <a:bodyPr wrap="square" lIns="73152" rIns="73152" tIns="36576" bIns="36576" anchor="ctr">
            <a:spAutoFit/>
          </a:bodyPr>
          <a:lstStyle/>
          <a:p>
            <a:pPr algn="r">
              <a:lnSpc>
                <a:spcPct val="100000"/>
              </a:lnSpc>
            </a:pPr>
            <a:r>
              <a:rPr sz="1100" b="1">
                <a:solidFill>
                  <a:srgbClr val="FFFFFF"/>
                </a:solidFill>
                <a:latin typeface="BIZ UDゴシック"/>
                <a:ea typeface="BIZ UDゴシック"/>
              </a:rPr>
              <a:t>第8〜10時</a:t>
            </a:r>
          </a:p>
          <a:p>
            <a:pPr algn="r">
              <a:lnSpc>
                <a:spcPct val="100000"/>
              </a:lnSpc>
            </a:pPr>
            <a:r>
              <a:rPr sz="1100" b="1">
                <a:solidFill>
                  <a:srgbClr val="FFFFFF"/>
                </a:solidFill>
                <a:latin typeface="BIZ UDゴシック"/>
                <a:ea typeface="BIZ UDゴシック"/>
              </a:rPr>
              <a:t>本時は第8時</a:t>
            </a:r>
          </a:p>
        </p:txBody>
      </p:sp>
      <p:sp>
        <p:nvSpPr>
          <p:cNvPr id="37" name="TextBox 36"/>
          <p:cNvSpPr txBox="1"/>
          <p:nvPr/>
        </p:nvSpPr>
        <p:spPr>
          <a:xfrm>
            <a:off x="8220455" y="2011680"/>
            <a:ext cx="822960" cy="274320"/>
          </a:xfrm>
          <a:prstGeom prst="rect">
            <a:avLst/>
          </a:prstGeom>
          <a:noFill/>
        </p:spPr>
        <p:txBody>
          <a:bodyPr wrap="square" lIns="73152" rIns="73152" tIns="36576" bIns="36576" anchor="t">
            <a:spAutoFit/>
          </a:bodyPr>
          <a:lstStyle/>
          <a:p>
            <a:pPr algn="l">
              <a:lnSpc>
                <a:spcPct val="118000"/>
              </a:lnSpc>
            </a:pPr>
            <a:r>
              <a:rPr sz="1100" b="1">
                <a:solidFill>
                  <a:srgbClr val="C2410C"/>
                </a:solidFill>
                <a:latin typeface="BIZ UDゴシック"/>
                <a:ea typeface="BIZ UDゴシック"/>
              </a:rPr>
              <a:t>問題</a:t>
            </a:r>
          </a:p>
        </p:txBody>
      </p:sp>
      <p:sp>
        <p:nvSpPr>
          <p:cNvPr id="38" name="TextBox 37"/>
          <p:cNvSpPr txBox="1"/>
          <p:nvPr/>
        </p:nvSpPr>
        <p:spPr>
          <a:xfrm>
            <a:off x="8220455" y="2258568"/>
            <a:ext cx="3310128" cy="621792"/>
          </a:xfrm>
          <a:prstGeom prst="rect">
            <a:avLst/>
          </a:prstGeom>
          <a:noFill/>
        </p:spPr>
        <p:txBody>
          <a:bodyPr wrap="square" lIns="73152" rIns="73152" tIns="36576" bIns="36576" anchor="t">
            <a:spAutoFit/>
          </a:bodyPr>
          <a:lstStyle/>
          <a:p>
            <a:pPr algn="l">
              <a:lnSpc>
                <a:spcPct val="115000"/>
              </a:lnSpc>
            </a:pPr>
            <a:r>
              <a:rPr sz="1300" b="1">
                <a:solidFill>
                  <a:srgbClr val="1F2328"/>
                </a:solidFill>
                <a:latin typeface="BIZ UDゴシック"/>
                <a:ea typeface="BIZ UDゴシック"/>
              </a:rPr>
              <a:t>金ぞくは あたためたり冷やしたりすると</a:t>
            </a:r>
          </a:p>
          <a:p>
            <a:pPr algn="l">
              <a:lnSpc>
                <a:spcPct val="115000"/>
              </a:lnSpc>
            </a:pPr>
            <a:r>
              <a:rPr sz="1300" b="1">
                <a:solidFill>
                  <a:srgbClr val="1F2328"/>
                </a:solidFill>
                <a:latin typeface="BIZ UDゴシック"/>
                <a:ea typeface="BIZ UDゴシック"/>
              </a:rPr>
              <a:t>体積は変わるのだろうか</a:t>
            </a:r>
          </a:p>
        </p:txBody>
      </p:sp>
      <p:sp>
        <p:nvSpPr>
          <p:cNvPr id="39" name="TextBox 38"/>
          <p:cNvSpPr txBox="1"/>
          <p:nvPr/>
        </p:nvSpPr>
        <p:spPr>
          <a:xfrm>
            <a:off x="8220455" y="2898648"/>
            <a:ext cx="822960" cy="274320"/>
          </a:xfrm>
          <a:prstGeom prst="rect">
            <a:avLst/>
          </a:prstGeom>
          <a:noFill/>
        </p:spPr>
        <p:txBody>
          <a:bodyPr wrap="square" lIns="73152" rIns="73152" tIns="36576" bIns="36576" anchor="t">
            <a:spAutoFit/>
          </a:bodyPr>
          <a:lstStyle/>
          <a:p>
            <a:pPr algn="l">
              <a:lnSpc>
                <a:spcPct val="118000"/>
              </a:lnSpc>
            </a:pPr>
            <a:r>
              <a:rPr sz="1100" b="1">
                <a:solidFill>
                  <a:srgbClr val="5F646B"/>
                </a:solidFill>
                <a:latin typeface="BIZ UDゴシック"/>
                <a:ea typeface="BIZ UDゴシック"/>
              </a:rPr>
              <a:t>事象</a:t>
            </a:r>
          </a:p>
        </p:txBody>
      </p:sp>
      <p:sp>
        <p:nvSpPr>
          <p:cNvPr id="40" name="TextBox 39"/>
          <p:cNvSpPr txBox="1"/>
          <p:nvPr/>
        </p:nvSpPr>
        <p:spPr>
          <a:xfrm>
            <a:off x="8220455" y="3145536"/>
            <a:ext cx="3310128" cy="621792"/>
          </a:xfrm>
          <a:prstGeom prst="rect">
            <a:avLst/>
          </a:prstGeom>
          <a:noFill/>
        </p:spPr>
        <p:txBody>
          <a:bodyPr wrap="square" lIns="73152" rIns="73152" tIns="36576" bIns="36576" anchor="t">
            <a:spAutoFit/>
          </a:bodyPr>
          <a:lstStyle/>
          <a:p>
            <a:pPr algn="l">
              <a:lnSpc>
                <a:spcPct val="115000"/>
              </a:lnSpc>
            </a:pPr>
            <a:r>
              <a:rPr sz="1300" b="0">
                <a:solidFill>
                  <a:srgbClr val="1F2328"/>
                </a:solidFill>
                <a:latin typeface="BIZ UDゴシック"/>
                <a:ea typeface="BIZ UDゴシック"/>
              </a:rPr>
              <a:t>玉だけにさわる 湯でも通る</a:t>
            </a:r>
          </a:p>
          <a:p>
            <a:pPr algn="l">
              <a:lnSpc>
                <a:spcPct val="115000"/>
              </a:lnSpc>
            </a:pPr>
            <a:r>
              <a:rPr sz="1300" b="0">
                <a:solidFill>
                  <a:srgbClr val="1F2328"/>
                </a:solidFill>
                <a:latin typeface="BIZ UDゴシック"/>
                <a:ea typeface="BIZ UDゴシック"/>
              </a:rPr>
              <a:t>レールのつなぎ目のすきま</a:t>
            </a:r>
          </a:p>
        </p:txBody>
      </p:sp>
      <p:sp>
        <p:nvSpPr>
          <p:cNvPr id="41" name="TextBox 40"/>
          <p:cNvSpPr txBox="1"/>
          <p:nvPr/>
        </p:nvSpPr>
        <p:spPr>
          <a:xfrm>
            <a:off x="8220455" y="3785615"/>
            <a:ext cx="822960" cy="274320"/>
          </a:xfrm>
          <a:prstGeom prst="rect">
            <a:avLst/>
          </a:prstGeom>
          <a:noFill/>
        </p:spPr>
        <p:txBody>
          <a:bodyPr wrap="square" lIns="73152" rIns="73152" tIns="36576" bIns="36576" anchor="t">
            <a:spAutoFit/>
          </a:bodyPr>
          <a:lstStyle/>
          <a:p>
            <a:pPr algn="l">
              <a:lnSpc>
                <a:spcPct val="118000"/>
              </a:lnSpc>
            </a:pPr>
            <a:r>
              <a:rPr sz="1100" b="1">
                <a:solidFill>
                  <a:srgbClr val="5F646B"/>
                </a:solidFill>
                <a:latin typeface="BIZ UDゴシック"/>
                <a:ea typeface="BIZ UDゴシック"/>
              </a:rPr>
              <a:t>結論</a:t>
            </a:r>
          </a:p>
        </p:txBody>
      </p:sp>
      <p:sp>
        <p:nvSpPr>
          <p:cNvPr id="42" name="TextBox 41"/>
          <p:cNvSpPr txBox="1"/>
          <p:nvPr/>
        </p:nvSpPr>
        <p:spPr>
          <a:xfrm>
            <a:off x="8220455" y="4032504"/>
            <a:ext cx="3310128" cy="621792"/>
          </a:xfrm>
          <a:prstGeom prst="rect">
            <a:avLst/>
          </a:prstGeom>
          <a:noFill/>
        </p:spPr>
        <p:txBody>
          <a:bodyPr wrap="square" lIns="73152" rIns="73152" tIns="36576" bIns="36576" anchor="t">
            <a:spAutoFit/>
          </a:bodyPr>
          <a:lstStyle/>
          <a:p>
            <a:pPr algn="l">
              <a:lnSpc>
                <a:spcPct val="115000"/>
              </a:lnSpc>
            </a:pPr>
            <a:r>
              <a:rPr sz="1300" b="0">
                <a:solidFill>
                  <a:srgbClr val="1F2328"/>
                </a:solidFill>
                <a:latin typeface="BIZ UDゴシック"/>
                <a:ea typeface="BIZ UDゴシック"/>
              </a:rPr>
              <a:t>金ぞくも体積が変わる</a:t>
            </a:r>
          </a:p>
          <a:p>
            <a:pPr algn="l">
              <a:lnSpc>
                <a:spcPct val="115000"/>
              </a:lnSpc>
            </a:pPr>
            <a:r>
              <a:rPr sz="1300" b="0">
                <a:solidFill>
                  <a:srgbClr val="1F2328"/>
                </a:solidFill>
                <a:latin typeface="BIZ UDゴシック"/>
                <a:ea typeface="BIZ UDゴシック"/>
              </a:rPr>
              <a:t>変わり方は空気や水より小さい</a:t>
            </a:r>
          </a:p>
        </p:txBody>
      </p:sp>
      <p:sp>
        <p:nvSpPr>
          <p:cNvPr id="43" name="TextBox 42"/>
          <p:cNvSpPr txBox="1"/>
          <p:nvPr/>
        </p:nvSpPr>
        <p:spPr>
          <a:xfrm>
            <a:off x="8220455" y="4672583"/>
            <a:ext cx="822960" cy="274320"/>
          </a:xfrm>
          <a:prstGeom prst="rect">
            <a:avLst/>
          </a:prstGeom>
          <a:noFill/>
        </p:spPr>
        <p:txBody>
          <a:bodyPr wrap="square" lIns="73152" rIns="73152" tIns="36576" bIns="36576" anchor="t">
            <a:spAutoFit/>
          </a:bodyPr>
          <a:lstStyle/>
          <a:p>
            <a:pPr algn="l">
              <a:lnSpc>
                <a:spcPct val="118000"/>
              </a:lnSpc>
            </a:pPr>
            <a:r>
              <a:rPr sz="1100" b="1">
                <a:solidFill>
                  <a:srgbClr val="5F646B"/>
                </a:solidFill>
                <a:latin typeface="BIZ UDゴシック"/>
                <a:ea typeface="BIZ UDゴシック"/>
              </a:rPr>
              <a:t>つなぐ</a:t>
            </a:r>
          </a:p>
        </p:txBody>
      </p:sp>
      <p:sp>
        <p:nvSpPr>
          <p:cNvPr id="44" name="TextBox 43"/>
          <p:cNvSpPr txBox="1"/>
          <p:nvPr/>
        </p:nvSpPr>
        <p:spPr>
          <a:xfrm>
            <a:off x="8220455" y="4919471"/>
            <a:ext cx="3310128" cy="621792"/>
          </a:xfrm>
          <a:prstGeom prst="rect">
            <a:avLst/>
          </a:prstGeom>
          <a:noFill/>
        </p:spPr>
        <p:txBody>
          <a:bodyPr wrap="square" lIns="73152" rIns="73152" tIns="36576" bIns="36576" anchor="t">
            <a:spAutoFit/>
          </a:bodyPr>
          <a:lstStyle/>
          <a:p>
            <a:pPr algn="l">
              <a:lnSpc>
                <a:spcPct val="115000"/>
              </a:lnSpc>
            </a:pPr>
            <a:r>
              <a:rPr sz="1300" b="0">
                <a:solidFill>
                  <a:srgbClr val="1F2328"/>
                </a:solidFill>
                <a:latin typeface="BIZ UDゴシック"/>
                <a:ea typeface="BIZ UDゴシック"/>
              </a:rPr>
              <a:t>第10時 焼きばめから</a:t>
            </a:r>
          </a:p>
          <a:p>
            <a:pPr algn="l">
              <a:lnSpc>
                <a:spcPct val="115000"/>
              </a:lnSpc>
            </a:pPr>
            <a:r>
              <a:rPr sz="1300" b="0">
                <a:solidFill>
                  <a:srgbClr val="1F2328"/>
                </a:solidFill>
                <a:latin typeface="BIZ UDゴシック"/>
                <a:ea typeface="BIZ UDゴシック"/>
              </a:rPr>
              <a:t>生活とのつながりを考える</a:t>
            </a:r>
          </a:p>
        </p:txBody>
      </p:sp>
      <p:sp>
        <p:nvSpPr>
          <p:cNvPr id="45" name="Rectangle 44"/>
          <p:cNvSpPr/>
          <p:nvPr/>
        </p:nvSpPr>
        <p:spPr>
          <a:xfrm>
            <a:off x="548640" y="5788152"/>
            <a:ext cx="11091672" cy="54864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矢印"/>
          <p:cNvSpPr/>
          <p:nvPr/>
        </p:nvSpPr>
        <p:spPr>
          <a:xfrm>
            <a:off x="731520" y="5897880"/>
            <a:ext cx="914400" cy="329184"/>
          </a:xfrm>
          <a:prstGeom prst="rightArrow">
            <a:avLst/>
          </a:prstGeom>
          <a:solidFill>
            <a:srgbClr val="8A90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783080" y="5788152"/>
            <a:ext cx="9692640" cy="548640"/>
          </a:xfrm>
          <a:prstGeom prst="rect">
            <a:avLst/>
          </a:prstGeom>
          <a:noFill/>
        </p:spPr>
        <p:txBody>
          <a:bodyPr wrap="square" lIns="73152" rIns="73152" tIns="36576" bIns="36576" anchor="ctr">
            <a:spAutoFit/>
          </a:bodyPr>
          <a:lstStyle/>
          <a:p>
            <a:pPr algn="l">
              <a:lnSpc>
                <a:spcPct val="118000"/>
              </a:lnSpc>
            </a:pPr>
            <a:r>
              <a:rPr sz="1500" b="1">
                <a:solidFill>
                  <a:srgbClr val="1F2328"/>
                </a:solidFill>
                <a:latin typeface="BIZ UDゴシック"/>
                <a:ea typeface="BIZ UDゴシック"/>
              </a:rPr>
              <a:t>変化が見やすい物から 見えにくい物へ　まくがふくらむ　水面が動く　輪を通らなくなる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区分"/>
          <p:cNvSpPr txBox="1"/>
          <p:nvPr/>
        </p:nvSpPr>
        <p:spPr>
          <a:xfrm>
            <a:off x="548640" y="274320"/>
            <a:ext cx="8229600" cy="292608"/>
          </a:xfrm>
          <a:prstGeom prst="rect">
            <a:avLst/>
          </a:prstGeom>
          <a:noFill/>
        </p:spPr>
        <p:txBody>
          <a:bodyPr wrap="square" lIns="73152" rIns="73152" tIns="36576" bIns="36576" anchor="t">
            <a:spAutoFit/>
          </a:bodyPr>
          <a:lstStyle/>
          <a:p>
            <a:pPr algn="l">
              <a:lnSpc>
                <a:spcPct val="118000"/>
              </a:lnSpc>
            </a:pPr>
            <a:r>
              <a:rPr sz="1300" b="1">
                <a:solidFill>
                  <a:srgbClr val="5F646B"/>
                </a:solidFill>
                <a:latin typeface="BIZ UDゴシック"/>
                <a:ea typeface="BIZ UDゴシック"/>
              </a:rPr>
              <a:t>着眼1　追究の連続性を生む単元構成</a:t>
            </a:r>
          </a:p>
        </p:txBody>
      </p:sp>
      <p:sp>
        <p:nvSpPr>
          <p:cNvPr id="3" name="見出しの線"/>
          <p:cNvSpPr/>
          <p:nvPr/>
        </p:nvSpPr>
        <p:spPr>
          <a:xfrm>
            <a:off x="548640" y="640080"/>
            <a:ext cx="82296" cy="47548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見出し"/>
          <p:cNvSpPr txBox="1"/>
          <p:nvPr/>
        </p:nvSpPr>
        <p:spPr>
          <a:xfrm>
            <a:off x="749808" y="566928"/>
            <a:ext cx="10972800" cy="603504"/>
          </a:xfrm>
          <a:prstGeom prst="rect">
            <a:avLst/>
          </a:prstGeom>
          <a:noFill/>
        </p:spPr>
        <p:txBody>
          <a:bodyPr wrap="square" lIns="73152" rIns="73152" tIns="36576" bIns="36576" anchor="ctr">
            <a:spAutoFit/>
          </a:bodyPr>
          <a:lstStyle/>
          <a:p>
            <a:pPr algn="l">
              <a:lnSpc>
                <a:spcPct val="118000"/>
              </a:lnSpc>
            </a:pPr>
            <a:r>
              <a:rPr sz="2800" b="1">
                <a:solidFill>
                  <a:srgbClr val="1F2328"/>
                </a:solidFill>
                <a:latin typeface="BIZ UDゴシック"/>
                <a:ea typeface="BIZ UDゴシック"/>
              </a:rPr>
              <a:t>空気で学んだことが 次の問いを生む</a:t>
            </a:r>
          </a:p>
        </p:txBody>
      </p:sp>
      <p:sp>
        <p:nvSpPr>
          <p:cNvPr id="5" name="足もと"/>
          <p:cNvSpPr txBox="1"/>
          <p:nvPr/>
        </p:nvSpPr>
        <p:spPr>
          <a:xfrm>
            <a:off x="548640" y="6455664"/>
            <a:ext cx="8229600" cy="256032"/>
          </a:xfrm>
          <a:prstGeom prst="rect">
            <a:avLst/>
          </a:prstGeom>
          <a:noFill/>
        </p:spPr>
        <p:txBody>
          <a:bodyPr wrap="square" lIns="73152" rIns="73152" tIns="36576" bIns="36576" anchor="t">
            <a:spAutoFit/>
          </a:bodyPr>
          <a:lstStyle/>
          <a:p>
            <a:pPr algn="l">
              <a:lnSpc>
                <a:spcPct val="118000"/>
              </a:lnSpc>
            </a:pPr>
            <a:r>
              <a:rPr sz="1000" b="0">
                <a:solidFill>
                  <a:srgbClr val="8A9097"/>
                </a:solidFill>
                <a:latin typeface="BIZ UDゴシック"/>
                <a:ea typeface="BIZ UDゴシック"/>
              </a:rPr>
              <a:t>4年 理科　物の体積と温度　授業者説明</a:t>
            </a:r>
          </a:p>
        </p:txBody>
      </p:sp>
      <p:sp>
        <p:nvSpPr>
          <p:cNvPr id="6" name="ページ"/>
          <p:cNvSpPr txBox="1"/>
          <p:nvPr/>
        </p:nvSpPr>
        <p:spPr>
          <a:xfrm>
            <a:off x="10545775" y="6455664"/>
            <a:ext cx="1097280" cy="256032"/>
          </a:xfrm>
          <a:prstGeom prst="rect">
            <a:avLst/>
          </a:prstGeom>
          <a:noFill/>
        </p:spPr>
        <p:txBody>
          <a:bodyPr wrap="square" lIns="73152" rIns="73152" tIns="36576" bIns="36576" anchor="t">
            <a:spAutoFit/>
          </a:bodyPr>
          <a:lstStyle/>
          <a:p>
            <a:pPr algn="r">
              <a:lnSpc>
                <a:spcPct val="118000"/>
              </a:lnSpc>
            </a:pPr>
            <a:r>
              <a:rPr sz="1000" b="0">
                <a:solidFill>
                  <a:srgbClr val="8A9097"/>
                </a:solidFill>
                <a:latin typeface="BIZ UDゴシック"/>
                <a:ea typeface="BIZ UDゴシック"/>
              </a:rPr>
              <a:t>6</a:t>
            </a:r>
          </a:p>
        </p:txBody>
      </p:sp>
      <p:sp>
        <p:nvSpPr>
          <p:cNvPr id="7" name="Rectangle 6"/>
          <p:cNvSpPr/>
          <p:nvPr/>
        </p:nvSpPr>
        <p:spPr>
          <a:xfrm>
            <a:off x="548640" y="1371600"/>
            <a:ext cx="2011680" cy="160020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26464"/>
            <a:ext cx="1828800" cy="292608"/>
          </a:xfrm>
          <a:prstGeom prst="rect">
            <a:avLst/>
          </a:prstGeom>
          <a:noFill/>
        </p:spPr>
        <p:txBody>
          <a:bodyPr wrap="square" lIns="73152" rIns="73152" tIns="36576" bIns="36576" anchor="t">
            <a:spAutoFit/>
          </a:bodyPr>
          <a:lstStyle/>
          <a:p>
            <a:pPr algn="l">
              <a:lnSpc>
                <a:spcPct val="118000"/>
              </a:lnSpc>
            </a:pPr>
            <a:r>
              <a:rPr sz="1200" b="1">
                <a:solidFill>
                  <a:srgbClr val="5F646B"/>
                </a:solidFill>
                <a:latin typeface="BIZ UDゴシック"/>
                <a:ea typeface="BIZ UDゴシック"/>
              </a:rPr>
              <a:t>第3時</a:t>
            </a:r>
          </a:p>
        </p:txBody>
      </p:sp>
      <p:sp>
        <p:nvSpPr>
          <p:cNvPr id="9" name="TextBox 8"/>
          <p:cNvSpPr txBox="1"/>
          <p:nvPr/>
        </p:nvSpPr>
        <p:spPr>
          <a:xfrm>
            <a:off x="621792" y="1737360"/>
            <a:ext cx="1865376" cy="1188720"/>
          </a:xfrm>
          <a:prstGeom prst="rect">
            <a:avLst/>
          </a:prstGeom>
          <a:noFill/>
        </p:spPr>
        <p:txBody>
          <a:bodyPr wrap="square" lIns="73152" rIns="73152" tIns="36576" bIns="36576" anchor="t">
            <a:spAutoFit/>
          </a:bodyPr>
          <a:lstStyle/>
          <a:p>
            <a:pPr algn="l">
              <a:lnSpc>
                <a:spcPct val="112000"/>
              </a:lnSpc>
            </a:pPr>
            <a:r>
              <a:rPr sz="1350" b="1">
                <a:solidFill>
                  <a:srgbClr val="1F2328"/>
                </a:solidFill>
                <a:latin typeface="BIZ UDゴシック"/>
                <a:ea typeface="BIZ UDゴシック"/>
              </a:rPr>
              <a:t>空気は あたためると</a:t>
            </a:r>
          </a:p>
          <a:p>
            <a:pPr algn="l">
              <a:lnSpc>
                <a:spcPct val="112000"/>
              </a:lnSpc>
            </a:pPr>
            <a:r>
              <a:rPr sz="1350" b="1">
                <a:solidFill>
                  <a:srgbClr val="1F2328"/>
                </a:solidFill>
                <a:latin typeface="BIZ UDゴシック"/>
                <a:ea typeface="BIZ UDゴシック"/>
              </a:rPr>
              <a:t>大きくなり</a:t>
            </a:r>
          </a:p>
          <a:p>
            <a:pPr algn="l">
              <a:lnSpc>
                <a:spcPct val="112000"/>
              </a:lnSpc>
            </a:pPr>
            <a:r>
              <a:rPr sz="1350" b="1">
                <a:solidFill>
                  <a:srgbClr val="1F2328"/>
                </a:solidFill>
                <a:latin typeface="BIZ UDゴシック"/>
                <a:ea typeface="BIZ UDゴシック"/>
              </a:rPr>
              <a:t>冷やすと小さくなる</a:t>
            </a:r>
          </a:p>
        </p:txBody>
      </p:sp>
      <p:sp>
        <p:nvSpPr>
          <p:cNvPr id="10" name="矢印"/>
          <p:cNvSpPr/>
          <p:nvPr/>
        </p:nvSpPr>
        <p:spPr>
          <a:xfrm>
            <a:off x="2596896" y="2011680"/>
            <a:ext cx="185623" cy="274320"/>
          </a:xfrm>
          <a:prstGeom prst="rightArrow">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19095" y="1371600"/>
            <a:ext cx="2011680" cy="160020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10535" y="1426464"/>
            <a:ext cx="1828800" cy="292608"/>
          </a:xfrm>
          <a:prstGeom prst="rect">
            <a:avLst/>
          </a:prstGeom>
          <a:noFill/>
        </p:spPr>
        <p:txBody>
          <a:bodyPr wrap="square" lIns="73152" rIns="73152" tIns="36576" bIns="36576" anchor="t">
            <a:spAutoFit/>
          </a:bodyPr>
          <a:lstStyle/>
          <a:p>
            <a:pPr algn="l">
              <a:lnSpc>
                <a:spcPct val="118000"/>
              </a:lnSpc>
            </a:pPr>
            <a:r>
              <a:rPr sz="1200" b="1">
                <a:solidFill>
                  <a:srgbClr val="5F646B"/>
                </a:solidFill>
                <a:latin typeface="BIZ UDゴシック"/>
                <a:ea typeface="BIZ UDゴシック"/>
              </a:rPr>
              <a:t>考える</a:t>
            </a:r>
          </a:p>
        </p:txBody>
      </p:sp>
      <p:sp>
        <p:nvSpPr>
          <p:cNvPr id="13" name="TextBox 12"/>
          <p:cNvSpPr txBox="1"/>
          <p:nvPr/>
        </p:nvSpPr>
        <p:spPr>
          <a:xfrm>
            <a:off x="2892247" y="1737360"/>
            <a:ext cx="1865376" cy="1188720"/>
          </a:xfrm>
          <a:prstGeom prst="rect">
            <a:avLst/>
          </a:prstGeom>
          <a:noFill/>
        </p:spPr>
        <p:txBody>
          <a:bodyPr wrap="square" lIns="73152" rIns="73152" tIns="36576" bIns="36576" anchor="t">
            <a:spAutoFit/>
          </a:bodyPr>
          <a:lstStyle/>
          <a:p>
            <a:pPr algn="l">
              <a:lnSpc>
                <a:spcPct val="112000"/>
              </a:lnSpc>
            </a:pPr>
            <a:r>
              <a:rPr sz="1350" b="1">
                <a:solidFill>
                  <a:srgbClr val="1F2328"/>
                </a:solidFill>
                <a:latin typeface="BIZ UDゴシック"/>
                <a:ea typeface="BIZ UDゴシック"/>
              </a:rPr>
              <a:t>物は あたためると</a:t>
            </a:r>
          </a:p>
          <a:p>
            <a:pPr algn="l">
              <a:lnSpc>
                <a:spcPct val="112000"/>
              </a:lnSpc>
            </a:pPr>
            <a:r>
              <a:rPr sz="1350" b="1">
                <a:solidFill>
                  <a:srgbClr val="1F2328"/>
                </a:solidFill>
                <a:latin typeface="BIZ UDゴシック"/>
                <a:ea typeface="BIZ UDゴシック"/>
              </a:rPr>
              <a:t>大きくなるのかな</a:t>
            </a:r>
          </a:p>
        </p:txBody>
      </p:sp>
      <p:sp>
        <p:nvSpPr>
          <p:cNvPr id="14" name="矢印"/>
          <p:cNvSpPr/>
          <p:nvPr/>
        </p:nvSpPr>
        <p:spPr>
          <a:xfrm>
            <a:off x="4867351" y="2011680"/>
            <a:ext cx="185623" cy="274320"/>
          </a:xfrm>
          <a:prstGeom prst="rightArrow">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89550" y="1371600"/>
            <a:ext cx="2011680" cy="1600200"/>
          </a:xfrm>
          <a:prstGeom prst="rect">
            <a:avLst/>
          </a:prstGeom>
          <a:solidFill>
            <a:srgbClr val="FDEEE4"/>
          </a:solidFill>
          <a:ln w="1905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0990" y="1426464"/>
            <a:ext cx="1828800" cy="292608"/>
          </a:xfrm>
          <a:prstGeom prst="rect">
            <a:avLst/>
          </a:prstGeom>
          <a:noFill/>
        </p:spPr>
        <p:txBody>
          <a:bodyPr wrap="square" lIns="73152" rIns="73152" tIns="36576" bIns="36576" anchor="t">
            <a:spAutoFit/>
          </a:bodyPr>
          <a:lstStyle/>
          <a:p>
            <a:pPr algn="l">
              <a:lnSpc>
                <a:spcPct val="118000"/>
              </a:lnSpc>
            </a:pPr>
            <a:r>
              <a:rPr sz="1200" b="1">
                <a:solidFill>
                  <a:srgbClr val="C2410C"/>
                </a:solidFill>
                <a:latin typeface="BIZ UDゴシック"/>
                <a:ea typeface="BIZ UDゴシック"/>
              </a:rPr>
              <a:t>ぎもん</a:t>
            </a:r>
          </a:p>
        </p:txBody>
      </p:sp>
      <p:sp>
        <p:nvSpPr>
          <p:cNvPr id="17" name="TextBox 16"/>
          <p:cNvSpPr txBox="1"/>
          <p:nvPr/>
        </p:nvSpPr>
        <p:spPr>
          <a:xfrm>
            <a:off x="5162702" y="1737360"/>
            <a:ext cx="1865376" cy="1188720"/>
          </a:xfrm>
          <a:prstGeom prst="rect">
            <a:avLst/>
          </a:prstGeom>
          <a:noFill/>
        </p:spPr>
        <p:txBody>
          <a:bodyPr wrap="square" lIns="73152" rIns="73152" tIns="36576" bIns="36576" anchor="t">
            <a:spAutoFit/>
          </a:bodyPr>
          <a:lstStyle/>
          <a:p>
            <a:pPr algn="l">
              <a:lnSpc>
                <a:spcPct val="112000"/>
              </a:lnSpc>
            </a:pPr>
            <a:r>
              <a:rPr sz="1350" b="1">
                <a:solidFill>
                  <a:srgbClr val="1F2328"/>
                </a:solidFill>
                <a:latin typeface="BIZ UDゴシック"/>
                <a:ea typeface="BIZ UDゴシック"/>
              </a:rPr>
              <a:t>それは空気だけ？</a:t>
            </a:r>
          </a:p>
          <a:p>
            <a:pPr algn="l">
              <a:lnSpc>
                <a:spcPct val="112000"/>
              </a:lnSpc>
            </a:pPr>
            <a:r>
              <a:rPr sz="1350" b="1">
                <a:solidFill>
                  <a:srgbClr val="1F2328"/>
                </a:solidFill>
                <a:latin typeface="BIZ UDゴシック"/>
                <a:ea typeface="BIZ UDゴシック"/>
              </a:rPr>
              <a:t>ほかの物もそうなの？</a:t>
            </a:r>
          </a:p>
        </p:txBody>
      </p:sp>
      <p:sp>
        <p:nvSpPr>
          <p:cNvPr id="18" name="矢印"/>
          <p:cNvSpPr/>
          <p:nvPr/>
        </p:nvSpPr>
        <p:spPr>
          <a:xfrm>
            <a:off x="7137806" y="2011680"/>
            <a:ext cx="185623" cy="274320"/>
          </a:xfrm>
          <a:prstGeom prst="rightArrow">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0005" y="1371600"/>
            <a:ext cx="2011680" cy="160020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1445" y="1426464"/>
            <a:ext cx="1828800" cy="292608"/>
          </a:xfrm>
          <a:prstGeom prst="rect">
            <a:avLst/>
          </a:prstGeom>
          <a:noFill/>
        </p:spPr>
        <p:txBody>
          <a:bodyPr wrap="square" lIns="73152" rIns="73152" tIns="36576" bIns="36576" anchor="t">
            <a:spAutoFit/>
          </a:bodyPr>
          <a:lstStyle/>
          <a:p>
            <a:pPr algn="l">
              <a:lnSpc>
                <a:spcPct val="118000"/>
              </a:lnSpc>
            </a:pPr>
            <a:r>
              <a:rPr sz="1200" b="1">
                <a:solidFill>
                  <a:srgbClr val="5F646B"/>
                </a:solidFill>
                <a:latin typeface="BIZ UDゴシック"/>
                <a:ea typeface="BIZ UDゴシック"/>
              </a:rPr>
              <a:t>第4時</a:t>
            </a:r>
          </a:p>
        </p:txBody>
      </p:sp>
      <p:sp>
        <p:nvSpPr>
          <p:cNvPr id="21" name="TextBox 20"/>
          <p:cNvSpPr txBox="1"/>
          <p:nvPr/>
        </p:nvSpPr>
        <p:spPr>
          <a:xfrm>
            <a:off x="7433157" y="1737360"/>
            <a:ext cx="1865376" cy="1188720"/>
          </a:xfrm>
          <a:prstGeom prst="rect">
            <a:avLst/>
          </a:prstGeom>
          <a:noFill/>
        </p:spPr>
        <p:txBody>
          <a:bodyPr wrap="square" lIns="73152" rIns="73152" tIns="36576" bIns="36576" anchor="t">
            <a:spAutoFit/>
          </a:bodyPr>
          <a:lstStyle/>
          <a:p>
            <a:pPr algn="l">
              <a:lnSpc>
                <a:spcPct val="112000"/>
              </a:lnSpc>
            </a:pPr>
            <a:r>
              <a:rPr sz="1350" b="1">
                <a:solidFill>
                  <a:srgbClr val="1F2328"/>
                </a:solidFill>
                <a:latin typeface="BIZ UDゴシック"/>
                <a:ea typeface="BIZ UDゴシック"/>
              </a:rPr>
              <a:t>身の回りの物を</a:t>
            </a:r>
          </a:p>
          <a:p>
            <a:pPr algn="l">
              <a:lnSpc>
                <a:spcPct val="112000"/>
              </a:lnSpc>
            </a:pPr>
            <a:r>
              <a:rPr sz="1350" b="1">
                <a:solidFill>
                  <a:srgbClr val="1F2328"/>
                </a:solidFill>
                <a:latin typeface="BIZ UDゴシック"/>
                <a:ea typeface="BIZ UDゴシック"/>
              </a:rPr>
              <a:t>分けて考える</a:t>
            </a:r>
          </a:p>
          <a:p>
            <a:pPr algn="l">
              <a:lnSpc>
                <a:spcPct val="112000"/>
              </a:lnSpc>
            </a:pPr>
            <a:r>
              <a:rPr sz="1350" b="1">
                <a:solidFill>
                  <a:srgbClr val="1F2328"/>
                </a:solidFill>
                <a:latin typeface="BIZ UDゴシック"/>
                <a:ea typeface="BIZ UDゴシック"/>
              </a:rPr>
              <a:t>（1時間）</a:t>
            </a:r>
          </a:p>
        </p:txBody>
      </p:sp>
      <p:sp>
        <p:nvSpPr>
          <p:cNvPr id="22" name="矢印"/>
          <p:cNvSpPr/>
          <p:nvPr/>
        </p:nvSpPr>
        <p:spPr>
          <a:xfrm>
            <a:off x="9408261" y="2011680"/>
            <a:ext cx="185623" cy="274320"/>
          </a:xfrm>
          <a:prstGeom prst="rightArrow">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630460" y="1371600"/>
            <a:ext cx="2011680" cy="1600200"/>
          </a:xfrm>
          <a:prstGeom prst="rect">
            <a:avLst/>
          </a:prstGeom>
          <a:solidFill>
            <a:srgbClr val="FDEEE4"/>
          </a:solidFill>
          <a:ln w="1905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21900" y="1426464"/>
            <a:ext cx="1828800" cy="292608"/>
          </a:xfrm>
          <a:prstGeom prst="rect">
            <a:avLst/>
          </a:prstGeom>
          <a:noFill/>
        </p:spPr>
        <p:txBody>
          <a:bodyPr wrap="square" lIns="73152" rIns="73152" tIns="36576" bIns="36576" anchor="t">
            <a:spAutoFit/>
          </a:bodyPr>
          <a:lstStyle/>
          <a:p>
            <a:pPr algn="l">
              <a:lnSpc>
                <a:spcPct val="118000"/>
              </a:lnSpc>
            </a:pPr>
            <a:r>
              <a:rPr sz="1200" b="1">
                <a:solidFill>
                  <a:srgbClr val="C2410C"/>
                </a:solidFill>
                <a:latin typeface="BIZ UDゴシック"/>
                <a:ea typeface="BIZ UDゴシック"/>
              </a:rPr>
              <a:t>意欲</a:t>
            </a:r>
          </a:p>
        </p:txBody>
      </p:sp>
      <p:sp>
        <p:nvSpPr>
          <p:cNvPr id="25" name="TextBox 24"/>
          <p:cNvSpPr txBox="1"/>
          <p:nvPr/>
        </p:nvSpPr>
        <p:spPr>
          <a:xfrm>
            <a:off x="9703612" y="1737360"/>
            <a:ext cx="1865376" cy="1188720"/>
          </a:xfrm>
          <a:prstGeom prst="rect">
            <a:avLst/>
          </a:prstGeom>
          <a:noFill/>
        </p:spPr>
        <p:txBody>
          <a:bodyPr wrap="square" lIns="73152" rIns="73152" tIns="36576" bIns="36576" anchor="t">
            <a:spAutoFit/>
          </a:bodyPr>
          <a:lstStyle/>
          <a:p>
            <a:pPr algn="l">
              <a:lnSpc>
                <a:spcPct val="112000"/>
              </a:lnSpc>
            </a:pPr>
            <a:r>
              <a:rPr sz="1350" b="1">
                <a:solidFill>
                  <a:srgbClr val="1F2328"/>
                </a:solidFill>
                <a:latin typeface="BIZ UDゴシック"/>
                <a:ea typeface="BIZ UDゴシック"/>
              </a:rPr>
              <a:t>水だけでなく</a:t>
            </a:r>
          </a:p>
          <a:p>
            <a:pPr algn="l">
              <a:lnSpc>
                <a:spcPct val="112000"/>
              </a:lnSpc>
            </a:pPr>
            <a:r>
              <a:rPr sz="1350" b="1">
                <a:solidFill>
                  <a:srgbClr val="1F2328"/>
                </a:solidFill>
                <a:latin typeface="BIZ UDゴシック"/>
                <a:ea typeface="BIZ UDゴシック"/>
              </a:rPr>
              <a:t>金ぞくも調べたい</a:t>
            </a:r>
          </a:p>
        </p:txBody>
      </p:sp>
      <p:pic>
        <p:nvPicPr>
          <p:cNvPr id="26" name="第4時のスライド" descr="preview_slide_dai4ji.png"/>
          <p:cNvPicPr>
            <a:picLocks noChangeAspect="1"/>
          </p:cNvPicPr>
          <p:nvPr/>
        </p:nvPicPr>
        <p:blipFill>
          <a:blip r:embed="rId2"/>
          <a:stretch>
            <a:fillRect/>
          </a:stretch>
        </p:blipFill>
        <p:spPr>
          <a:xfrm>
            <a:off x="548640" y="3200400"/>
            <a:ext cx="4937760" cy="2777490"/>
          </a:xfrm>
          <a:prstGeom prst="rect">
            <a:avLst/>
          </a:prstGeom>
        </p:spPr>
      </p:pic>
      <p:sp>
        <p:nvSpPr>
          <p:cNvPr id="27" name="TextBox 26"/>
          <p:cNvSpPr txBox="1"/>
          <p:nvPr/>
        </p:nvSpPr>
        <p:spPr>
          <a:xfrm>
            <a:off x="548640" y="6024341"/>
            <a:ext cx="4937760" cy="274320"/>
          </a:xfrm>
          <a:prstGeom prst="rect">
            <a:avLst/>
          </a:prstGeom>
          <a:noFill/>
        </p:spPr>
        <p:txBody>
          <a:bodyPr wrap="square" lIns="73152" rIns="73152" tIns="36576" bIns="36576" anchor="t">
            <a:spAutoFit/>
          </a:bodyPr>
          <a:lstStyle/>
          <a:p>
            <a:pPr algn="l">
              <a:lnSpc>
                <a:spcPct val="118000"/>
              </a:lnSpc>
            </a:pPr>
            <a:r>
              <a:rPr sz="1100" b="0">
                <a:solidFill>
                  <a:srgbClr val="8A9097"/>
                </a:solidFill>
                <a:latin typeface="BIZ UDゴシック"/>
                <a:ea typeface="BIZ UDゴシック"/>
              </a:rPr>
              <a:t>第4時のスライド　身近な物の絵のカードを列へ動かす</a:t>
            </a:r>
          </a:p>
        </p:txBody>
      </p:sp>
      <p:sp>
        <p:nvSpPr>
          <p:cNvPr id="28" name="Rectangle 27"/>
          <p:cNvSpPr/>
          <p:nvPr/>
        </p:nvSpPr>
        <p:spPr>
          <a:xfrm>
            <a:off x="5715000" y="3200400"/>
            <a:ext cx="5925312" cy="786384"/>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札_第4時"/>
          <p:cNvSpPr/>
          <p:nvPr/>
        </p:nvSpPr>
        <p:spPr>
          <a:xfrm>
            <a:off x="5833872" y="3438144"/>
            <a:ext cx="655320" cy="310896"/>
          </a:xfrm>
          <a:prstGeom prst="roundRect">
            <a:avLst>
              <a:gd name="adj" fmla="val 3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33872" y="3429000"/>
            <a:ext cx="655320" cy="329184"/>
          </a:xfrm>
          <a:prstGeom prst="rect">
            <a:avLst/>
          </a:prstGeom>
          <a:noFill/>
        </p:spPr>
        <p:txBody>
          <a:bodyPr wrap="square" lIns="73152" rIns="73152" tIns="36576" bIns="36576" anchor="ctr">
            <a:spAutoFit/>
          </a:bodyPr>
          <a:lstStyle/>
          <a:p>
            <a:pPr algn="ctr">
              <a:lnSpc>
                <a:spcPct val="118000"/>
              </a:lnSpc>
            </a:pPr>
            <a:r>
              <a:rPr sz="1200" b="1">
                <a:solidFill>
                  <a:srgbClr val="FFFFFF"/>
                </a:solidFill>
                <a:latin typeface="BIZ UDゴシック"/>
                <a:ea typeface="BIZ UDゴシック"/>
              </a:rPr>
              <a:t>第4時</a:t>
            </a:r>
          </a:p>
        </p:txBody>
      </p:sp>
      <p:sp>
        <p:nvSpPr>
          <p:cNvPr id="31" name="TextBox 30"/>
          <p:cNvSpPr txBox="1"/>
          <p:nvPr/>
        </p:nvSpPr>
        <p:spPr>
          <a:xfrm>
            <a:off x="7178040" y="3200400"/>
            <a:ext cx="4434840" cy="786384"/>
          </a:xfrm>
          <a:prstGeom prst="rect">
            <a:avLst/>
          </a:prstGeom>
          <a:noFill/>
        </p:spPr>
        <p:txBody>
          <a:bodyPr wrap="square" lIns="73152" rIns="73152" tIns="36576" bIns="36576" anchor="ctr">
            <a:spAutoFit/>
          </a:bodyPr>
          <a:lstStyle/>
          <a:p>
            <a:pPr algn="l">
              <a:lnSpc>
                <a:spcPct val="110000"/>
              </a:lnSpc>
            </a:pPr>
            <a:r>
              <a:rPr sz="1250" b="0">
                <a:solidFill>
                  <a:srgbClr val="1F2328"/>
                </a:solidFill>
                <a:latin typeface="BIZ UDゴシック"/>
                <a:ea typeface="BIZ UDゴシック"/>
              </a:rPr>
              <a:t>身の回りの物を分け 形のない物（空気 水）と</a:t>
            </a:r>
          </a:p>
          <a:p>
            <a:pPr algn="l">
              <a:lnSpc>
                <a:spcPct val="110000"/>
              </a:lnSpc>
            </a:pPr>
            <a:r>
              <a:rPr sz="1250" b="0">
                <a:solidFill>
                  <a:srgbClr val="1F2328"/>
                </a:solidFill>
                <a:latin typeface="BIZ UDゴシック"/>
                <a:ea typeface="BIZ UDゴシック"/>
              </a:rPr>
              <a:t>形のある物（金ぞく 木）を比べて 調べる順番を決める</a:t>
            </a:r>
          </a:p>
        </p:txBody>
      </p:sp>
      <p:sp>
        <p:nvSpPr>
          <p:cNvPr id="32" name="Rectangle 31"/>
          <p:cNvSpPr/>
          <p:nvPr/>
        </p:nvSpPr>
        <p:spPr>
          <a:xfrm>
            <a:off x="5715000" y="4059935"/>
            <a:ext cx="5925312" cy="786384"/>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札_第7時"/>
          <p:cNvSpPr/>
          <p:nvPr/>
        </p:nvSpPr>
        <p:spPr>
          <a:xfrm>
            <a:off x="5833872" y="4297679"/>
            <a:ext cx="655320" cy="310896"/>
          </a:xfrm>
          <a:prstGeom prst="roundRect">
            <a:avLst>
              <a:gd name="adj" fmla="val 3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33872" y="4288536"/>
            <a:ext cx="655320" cy="329184"/>
          </a:xfrm>
          <a:prstGeom prst="rect">
            <a:avLst/>
          </a:prstGeom>
          <a:noFill/>
        </p:spPr>
        <p:txBody>
          <a:bodyPr wrap="square" lIns="73152" rIns="73152" tIns="36576" bIns="36576" anchor="ctr">
            <a:spAutoFit/>
          </a:bodyPr>
          <a:lstStyle/>
          <a:p>
            <a:pPr algn="ctr">
              <a:lnSpc>
                <a:spcPct val="118000"/>
              </a:lnSpc>
            </a:pPr>
            <a:r>
              <a:rPr sz="1200" b="1">
                <a:solidFill>
                  <a:srgbClr val="FFFFFF"/>
                </a:solidFill>
                <a:latin typeface="BIZ UDゴシック"/>
                <a:ea typeface="BIZ UDゴシック"/>
              </a:rPr>
              <a:t>第7時</a:t>
            </a:r>
          </a:p>
        </p:txBody>
      </p:sp>
      <p:sp>
        <p:nvSpPr>
          <p:cNvPr id="35" name="TextBox 34"/>
          <p:cNvSpPr txBox="1"/>
          <p:nvPr/>
        </p:nvSpPr>
        <p:spPr>
          <a:xfrm>
            <a:off x="7178040" y="4059935"/>
            <a:ext cx="4434840" cy="786384"/>
          </a:xfrm>
          <a:prstGeom prst="rect">
            <a:avLst/>
          </a:prstGeom>
          <a:noFill/>
        </p:spPr>
        <p:txBody>
          <a:bodyPr wrap="square" lIns="73152" rIns="73152" tIns="36576" bIns="36576" anchor="ctr">
            <a:spAutoFit/>
          </a:bodyPr>
          <a:lstStyle/>
          <a:p>
            <a:pPr algn="l">
              <a:lnSpc>
                <a:spcPct val="110000"/>
              </a:lnSpc>
            </a:pPr>
            <a:r>
              <a:rPr sz="1250" b="0">
                <a:solidFill>
                  <a:srgbClr val="1F2328"/>
                </a:solidFill>
                <a:latin typeface="BIZ UDゴシック"/>
                <a:ea typeface="BIZ UDゴシック"/>
              </a:rPr>
              <a:t>分類表に水の結果を書きこむ</a:t>
            </a:r>
          </a:p>
          <a:p>
            <a:pPr algn="l">
              <a:lnSpc>
                <a:spcPct val="110000"/>
              </a:lnSpc>
            </a:pPr>
            <a:r>
              <a:rPr sz="1250" b="0">
                <a:solidFill>
                  <a:srgbClr val="1F2328"/>
                </a:solidFill>
                <a:latin typeface="BIZ UDゴシック"/>
                <a:ea typeface="BIZ UDゴシック"/>
              </a:rPr>
              <a:t>形のある金ぞくも あたためると体積が変わるのか</a:t>
            </a:r>
          </a:p>
        </p:txBody>
      </p:sp>
      <p:sp>
        <p:nvSpPr>
          <p:cNvPr id="36" name="Rectangle 35"/>
          <p:cNvSpPr/>
          <p:nvPr/>
        </p:nvSpPr>
        <p:spPr>
          <a:xfrm>
            <a:off x="5715000" y="4919471"/>
            <a:ext cx="5925312" cy="786384"/>
          </a:xfrm>
          <a:prstGeom prst="rect">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札_第8時　本時"/>
          <p:cNvSpPr/>
          <p:nvPr/>
        </p:nvSpPr>
        <p:spPr>
          <a:xfrm>
            <a:off x="5833872" y="5157215"/>
            <a:ext cx="1112520" cy="310896"/>
          </a:xfrm>
          <a:prstGeom prst="roundRect">
            <a:avLst>
              <a:gd name="adj" fmla="val 3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833872" y="5148071"/>
            <a:ext cx="1112520" cy="329184"/>
          </a:xfrm>
          <a:prstGeom prst="rect">
            <a:avLst/>
          </a:prstGeom>
          <a:noFill/>
        </p:spPr>
        <p:txBody>
          <a:bodyPr wrap="square" lIns="73152" rIns="73152" tIns="36576" bIns="36576" anchor="ctr">
            <a:spAutoFit/>
          </a:bodyPr>
          <a:lstStyle/>
          <a:p>
            <a:pPr algn="ctr">
              <a:lnSpc>
                <a:spcPct val="118000"/>
              </a:lnSpc>
            </a:pPr>
            <a:r>
              <a:rPr sz="1200" b="1">
                <a:solidFill>
                  <a:srgbClr val="FFFFFF"/>
                </a:solidFill>
                <a:latin typeface="BIZ UDゴシック"/>
                <a:ea typeface="BIZ UDゴシック"/>
              </a:rPr>
              <a:t>第8時　本時</a:t>
            </a:r>
          </a:p>
        </p:txBody>
      </p:sp>
      <p:sp>
        <p:nvSpPr>
          <p:cNvPr id="39" name="TextBox 38"/>
          <p:cNvSpPr txBox="1"/>
          <p:nvPr/>
        </p:nvSpPr>
        <p:spPr>
          <a:xfrm>
            <a:off x="7178040" y="4919471"/>
            <a:ext cx="4434840" cy="786384"/>
          </a:xfrm>
          <a:prstGeom prst="rect">
            <a:avLst/>
          </a:prstGeom>
          <a:noFill/>
        </p:spPr>
        <p:txBody>
          <a:bodyPr wrap="square" lIns="73152" rIns="73152" tIns="36576" bIns="36576" anchor="ctr">
            <a:spAutoFit/>
          </a:bodyPr>
          <a:lstStyle/>
          <a:p>
            <a:pPr algn="l">
              <a:lnSpc>
                <a:spcPct val="110000"/>
              </a:lnSpc>
            </a:pPr>
            <a:r>
              <a:rPr sz="1250" b="0">
                <a:solidFill>
                  <a:srgbClr val="1F2328"/>
                </a:solidFill>
                <a:latin typeface="BIZ UDゴシック"/>
                <a:ea typeface="BIZ UDゴシック"/>
              </a:rPr>
              <a:t>学びの足あとと分類表をふり返り</a:t>
            </a:r>
          </a:p>
          <a:p>
            <a:pPr algn="l">
              <a:lnSpc>
                <a:spcPct val="110000"/>
              </a:lnSpc>
            </a:pPr>
            <a:r>
              <a:rPr sz="1250" b="0">
                <a:solidFill>
                  <a:srgbClr val="1F2328"/>
                </a:solidFill>
                <a:latin typeface="BIZ UDゴシック"/>
                <a:ea typeface="BIZ UDゴシック"/>
              </a:rPr>
              <a:t>金ぞくの玉にさわって問題をつくる</a:t>
            </a:r>
          </a:p>
        </p:txBody>
      </p:sp>
      <p:sp>
        <p:nvSpPr>
          <p:cNvPr id="40" name="TextBox 39"/>
          <p:cNvSpPr txBox="1"/>
          <p:nvPr/>
        </p:nvSpPr>
        <p:spPr>
          <a:xfrm>
            <a:off x="5715000" y="5797295"/>
            <a:ext cx="5925312" cy="548640"/>
          </a:xfrm>
          <a:prstGeom prst="rect">
            <a:avLst/>
          </a:prstGeom>
          <a:noFill/>
        </p:spPr>
        <p:txBody>
          <a:bodyPr wrap="square" lIns="73152" rIns="73152" tIns="36576" bIns="36576" anchor="t">
            <a:spAutoFit/>
          </a:bodyPr>
          <a:lstStyle/>
          <a:p>
            <a:pPr algn="l">
              <a:lnSpc>
                <a:spcPct val="115000"/>
              </a:lnSpc>
            </a:pPr>
            <a:r>
              <a:rPr sz="1150" b="0">
                <a:solidFill>
                  <a:srgbClr val="5F646B"/>
                </a:solidFill>
                <a:latin typeface="BIZ UDゴシック"/>
                <a:ea typeface="BIZ UDゴシック"/>
              </a:rPr>
              <a:t>カードは 金ぞく 木 プラスチック ガラス 空気 水</a:t>
            </a:r>
          </a:p>
          <a:p>
            <a:pPr algn="l">
              <a:lnSpc>
                <a:spcPct val="115000"/>
              </a:lnSpc>
            </a:pPr>
            <a:r>
              <a:rPr sz="1150" b="0">
                <a:solidFill>
                  <a:srgbClr val="5F646B"/>
                </a:solidFill>
                <a:latin typeface="BIZ UDゴシック"/>
                <a:ea typeface="BIZ UDゴシック"/>
              </a:rPr>
              <a:t>絵は はさみ いす じょうぎ コップ（子どもが毎日使う物）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区分"/>
          <p:cNvSpPr txBox="1"/>
          <p:nvPr/>
        </p:nvSpPr>
        <p:spPr>
          <a:xfrm>
            <a:off x="548640" y="274320"/>
            <a:ext cx="8229600" cy="292608"/>
          </a:xfrm>
          <a:prstGeom prst="rect">
            <a:avLst/>
          </a:prstGeom>
          <a:noFill/>
        </p:spPr>
        <p:txBody>
          <a:bodyPr wrap="square" lIns="73152" rIns="73152" tIns="36576" bIns="36576" anchor="t">
            <a:spAutoFit/>
          </a:bodyPr>
          <a:lstStyle/>
          <a:p>
            <a:pPr algn="l">
              <a:lnSpc>
                <a:spcPct val="118000"/>
              </a:lnSpc>
            </a:pPr>
            <a:r>
              <a:rPr sz="1300" b="1">
                <a:solidFill>
                  <a:srgbClr val="5F646B"/>
                </a:solidFill>
                <a:latin typeface="BIZ UDゴシック"/>
                <a:ea typeface="BIZ UDゴシック"/>
              </a:rPr>
              <a:t>着眼2　既有知識をゆさぶる事象提示</a:t>
            </a:r>
          </a:p>
        </p:txBody>
      </p:sp>
      <p:sp>
        <p:nvSpPr>
          <p:cNvPr id="3" name="見出しの線"/>
          <p:cNvSpPr/>
          <p:nvPr/>
        </p:nvSpPr>
        <p:spPr>
          <a:xfrm>
            <a:off x="548640" y="640080"/>
            <a:ext cx="82296" cy="47548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見出し"/>
          <p:cNvSpPr txBox="1"/>
          <p:nvPr/>
        </p:nvSpPr>
        <p:spPr>
          <a:xfrm>
            <a:off x="749808" y="566928"/>
            <a:ext cx="10972800" cy="603504"/>
          </a:xfrm>
          <a:prstGeom prst="rect">
            <a:avLst/>
          </a:prstGeom>
          <a:noFill/>
        </p:spPr>
        <p:txBody>
          <a:bodyPr wrap="square" lIns="73152" rIns="73152" tIns="36576" bIns="36576" anchor="ctr">
            <a:spAutoFit/>
          </a:bodyPr>
          <a:lstStyle/>
          <a:p>
            <a:pPr algn="l">
              <a:lnSpc>
                <a:spcPct val="118000"/>
              </a:lnSpc>
            </a:pPr>
            <a:r>
              <a:rPr sz="2800" b="1">
                <a:solidFill>
                  <a:srgbClr val="1F2328"/>
                </a:solidFill>
                <a:latin typeface="BIZ UDゴシック"/>
                <a:ea typeface="BIZ UDゴシック"/>
              </a:rPr>
              <a:t>この単元で生まれる2つのずれ</a:t>
            </a:r>
          </a:p>
        </p:txBody>
      </p:sp>
      <p:sp>
        <p:nvSpPr>
          <p:cNvPr id="5" name="足もと"/>
          <p:cNvSpPr txBox="1"/>
          <p:nvPr/>
        </p:nvSpPr>
        <p:spPr>
          <a:xfrm>
            <a:off x="548640" y="6455664"/>
            <a:ext cx="8229600" cy="256032"/>
          </a:xfrm>
          <a:prstGeom prst="rect">
            <a:avLst/>
          </a:prstGeom>
          <a:noFill/>
        </p:spPr>
        <p:txBody>
          <a:bodyPr wrap="square" lIns="73152" rIns="73152" tIns="36576" bIns="36576" anchor="t">
            <a:spAutoFit/>
          </a:bodyPr>
          <a:lstStyle/>
          <a:p>
            <a:pPr algn="l">
              <a:lnSpc>
                <a:spcPct val="118000"/>
              </a:lnSpc>
            </a:pPr>
            <a:r>
              <a:rPr sz="1000" b="0">
                <a:solidFill>
                  <a:srgbClr val="8A9097"/>
                </a:solidFill>
                <a:latin typeface="BIZ UDゴシック"/>
                <a:ea typeface="BIZ UDゴシック"/>
              </a:rPr>
              <a:t>4年 理科　物の体積と温度　授業者説明</a:t>
            </a:r>
          </a:p>
        </p:txBody>
      </p:sp>
      <p:sp>
        <p:nvSpPr>
          <p:cNvPr id="6" name="ページ"/>
          <p:cNvSpPr txBox="1"/>
          <p:nvPr/>
        </p:nvSpPr>
        <p:spPr>
          <a:xfrm>
            <a:off x="10545775" y="6455664"/>
            <a:ext cx="1097280" cy="256032"/>
          </a:xfrm>
          <a:prstGeom prst="rect">
            <a:avLst/>
          </a:prstGeom>
          <a:noFill/>
        </p:spPr>
        <p:txBody>
          <a:bodyPr wrap="square" lIns="73152" rIns="73152" tIns="36576" bIns="36576" anchor="t">
            <a:spAutoFit/>
          </a:bodyPr>
          <a:lstStyle/>
          <a:p>
            <a:pPr algn="r">
              <a:lnSpc>
                <a:spcPct val="118000"/>
              </a:lnSpc>
            </a:pPr>
            <a:r>
              <a:rPr sz="1000" b="0">
                <a:solidFill>
                  <a:srgbClr val="8A9097"/>
                </a:solidFill>
                <a:latin typeface="BIZ UDゴシック"/>
                <a:ea typeface="BIZ UDゴシック"/>
              </a:rPr>
              <a:t>7</a:t>
            </a:r>
          </a:p>
        </p:txBody>
      </p:sp>
      <p:sp>
        <p:nvSpPr>
          <p:cNvPr id="7" name="Rectangle 6"/>
          <p:cNvSpPr/>
          <p:nvPr/>
        </p:nvSpPr>
        <p:spPr>
          <a:xfrm>
            <a:off x="548640" y="1325880"/>
            <a:ext cx="5408676" cy="443484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444752"/>
            <a:ext cx="4951476" cy="411480"/>
          </a:xfrm>
          <a:prstGeom prst="rect">
            <a:avLst/>
          </a:prstGeom>
          <a:noFill/>
        </p:spPr>
        <p:txBody>
          <a:bodyPr wrap="square" lIns="73152" rIns="73152" tIns="36576" bIns="36576" anchor="t">
            <a:spAutoFit/>
          </a:bodyPr>
          <a:lstStyle/>
          <a:p>
            <a:pPr algn="l">
              <a:lnSpc>
                <a:spcPct val="118000"/>
              </a:lnSpc>
            </a:pPr>
            <a:r>
              <a:rPr sz="1900" b="1">
                <a:solidFill>
                  <a:srgbClr val="1F2328"/>
                </a:solidFill>
                <a:latin typeface="BIZ UDゴシック"/>
                <a:ea typeface="BIZ UDゴシック"/>
              </a:rPr>
              <a:t>1　子どもどうしの考えのずれ</a:t>
            </a:r>
          </a:p>
        </p:txBody>
      </p:sp>
      <p:sp>
        <p:nvSpPr>
          <p:cNvPr id="9" name="吹き出し"/>
          <p:cNvSpPr/>
          <p:nvPr/>
        </p:nvSpPr>
        <p:spPr>
          <a:xfrm>
            <a:off x="822959" y="2148840"/>
            <a:ext cx="2331720" cy="1234440"/>
          </a:xfrm>
          <a:prstGeom prst="wedgeRoundRectCallout">
            <a:avLst>
              <a:gd name="adj1" fmla="val -20000"/>
              <a:gd name="adj2" fmla="val 75000"/>
              <a:gd name="adj3" fmla="val 16667"/>
            </a:avLst>
          </a:prstGeom>
          <a:solidFill>
            <a:srgbClr val="FFFFFF"/>
          </a:solidFill>
          <a:ln w="25400">
            <a:solidFill>
              <a:srgbClr val="2B9A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1" y="2240280"/>
            <a:ext cx="2194560" cy="1051560"/>
          </a:xfrm>
          <a:prstGeom prst="rect">
            <a:avLst/>
          </a:prstGeom>
          <a:noFill/>
        </p:spPr>
        <p:txBody>
          <a:bodyPr wrap="square" lIns="73152" rIns="73152" tIns="36576" bIns="36576" anchor="ctr">
            <a:spAutoFit/>
          </a:bodyPr>
          <a:lstStyle/>
          <a:p>
            <a:pPr algn="ctr">
              <a:lnSpc>
                <a:spcPct val="118000"/>
              </a:lnSpc>
            </a:pPr>
            <a:r>
              <a:rPr sz="1450" b="1">
                <a:solidFill>
                  <a:srgbClr val="1F2328"/>
                </a:solidFill>
                <a:latin typeface="BIZ UDゴシック"/>
                <a:ea typeface="BIZ UDゴシック"/>
              </a:rPr>
              <a:t>空気も水も</a:t>
            </a:r>
          </a:p>
          <a:p>
            <a:pPr algn="ctr">
              <a:lnSpc>
                <a:spcPct val="118000"/>
              </a:lnSpc>
            </a:pPr>
            <a:r>
              <a:rPr sz="1450" b="1">
                <a:solidFill>
                  <a:srgbClr val="1F2328"/>
                </a:solidFill>
                <a:latin typeface="BIZ UDゴシック"/>
                <a:ea typeface="BIZ UDゴシック"/>
              </a:rPr>
              <a:t>大きくなったから</a:t>
            </a:r>
          </a:p>
          <a:p>
            <a:pPr algn="ctr">
              <a:lnSpc>
                <a:spcPct val="118000"/>
              </a:lnSpc>
            </a:pPr>
            <a:r>
              <a:rPr sz="1450" b="1">
                <a:solidFill>
                  <a:srgbClr val="1F2328"/>
                </a:solidFill>
                <a:latin typeface="BIZ UDゴシック"/>
                <a:ea typeface="BIZ UDゴシック"/>
              </a:rPr>
              <a:t>金ぞくも大きくなる</a:t>
            </a:r>
          </a:p>
        </p:txBody>
      </p:sp>
      <p:sp>
        <p:nvSpPr>
          <p:cNvPr id="11" name="吹き出し"/>
          <p:cNvSpPr/>
          <p:nvPr/>
        </p:nvSpPr>
        <p:spPr>
          <a:xfrm>
            <a:off x="3337560" y="2148840"/>
            <a:ext cx="2331720" cy="1234440"/>
          </a:xfrm>
          <a:prstGeom prst="wedgeRoundRectCallout">
            <a:avLst>
              <a:gd name="adj1" fmla="val 20000"/>
              <a:gd name="adj2" fmla="val 75000"/>
              <a:gd name="adj3" fmla="val 16667"/>
            </a:avLst>
          </a:prstGeom>
          <a:solidFill>
            <a:srgbClr val="FFFFFF"/>
          </a:solidFill>
          <a:ln w="25400">
            <a:solidFill>
              <a:srgbClr val="E066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10712" y="2240280"/>
            <a:ext cx="2194560" cy="1051560"/>
          </a:xfrm>
          <a:prstGeom prst="rect">
            <a:avLst/>
          </a:prstGeom>
          <a:noFill/>
        </p:spPr>
        <p:txBody>
          <a:bodyPr wrap="square" lIns="73152" rIns="73152" tIns="36576" bIns="36576" anchor="ctr">
            <a:spAutoFit/>
          </a:bodyPr>
          <a:lstStyle/>
          <a:p>
            <a:pPr algn="ctr">
              <a:lnSpc>
                <a:spcPct val="118000"/>
              </a:lnSpc>
            </a:pPr>
            <a:r>
              <a:rPr sz="1450" b="1">
                <a:solidFill>
                  <a:srgbClr val="1F2328"/>
                </a:solidFill>
                <a:latin typeface="BIZ UDゴシック"/>
                <a:ea typeface="BIZ UDゴシック"/>
              </a:rPr>
              <a:t>生活の中で</a:t>
            </a:r>
          </a:p>
          <a:p>
            <a:pPr algn="ctr">
              <a:lnSpc>
                <a:spcPct val="118000"/>
              </a:lnSpc>
            </a:pPr>
            <a:r>
              <a:rPr sz="1450" b="1">
                <a:solidFill>
                  <a:srgbClr val="1F2328"/>
                </a:solidFill>
                <a:latin typeface="BIZ UDゴシック"/>
                <a:ea typeface="BIZ UDゴシック"/>
              </a:rPr>
              <a:t>金ぞくが大きくなるのは</a:t>
            </a:r>
          </a:p>
          <a:p>
            <a:pPr algn="ctr">
              <a:lnSpc>
                <a:spcPct val="118000"/>
              </a:lnSpc>
            </a:pPr>
            <a:r>
              <a:rPr sz="1450" b="1">
                <a:solidFill>
                  <a:srgbClr val="1F2328"/>
                </a:solidFill>
                <a:latin typeface="BIZ UDゴシック"/>
                <a:ea typeface="BIZ UDゴシック"/>
              </a:rPr>
              <a:t>見たことがない</a:t>
            </a:r>
          </a:p>
        </p:txBody>
      </p:sp>
      <p:sp>
        <p:nvSpPr>
          <p:cNvPr id="13" name="TextBox 12"/>
          <p:cNvSpPr txBox="1"/>
          <p:nvPr/>
        </p:nvSpPr>
        <p:spPr>
          <a:xfrm>
            <a:off x="777240" y="3977639"/>
            <a:ext cx="4951476" cy="1645920"/>
          </a:xfrm>
          <a:prstGeom prst="rect">
            <a:avLst/>
          </a:prstGeom>
          <a:noFill/>
        </p:spPr>
        <p:txBody>
          <a:bodyPr wrap="square" lIns="73152" rIns="73152" tIns="36576" bIns="36576" anchor="t">
            <a:spAutoFit/>
          </a:bodyPr>
          <a:lstStyle/>
          <a:p>
            <a:pPr algn="l">
              <a:lnSpc>
                <a:spcPct val="130000"/>
              </a:lnSpc>
            </a:pPr>
            <a:r>
              <a:rPr sz="1450" b="0">
                <a:solidFill>
                  <a:srgbClr val="1F2328"/>
                </a:solidFill>
                <a:latin typeface="BIZ UDゴシック"/>
                <a:ea typeface="BIZ UDゴシック"/>
              </a:rPr>
              <a:t>空気と水の学習が「変わる」の根拠になり</a:t>
            </a:r>
          </a:p>
          <a:p>
            <a:pPr algn="l">
              <a:lnSpc>
                <a:spcPct val="130000"/>
              </a:lnSpc>
            </a:pPr>
            <a:r>
              <a:rPr sz="1450" b="0">
                <a:solidFill>
                  <a:srgbClr val="1F2328"/>
                </a:solidFill>
                <a:latin typeface="BIZ UDゴシック"/>
                <a:ea typeface="BIZ UDゴシック"/>
              </a:rPr>
              <a:t>生活経験が「変わらない」の根拠になる</a:t>
            </a:r>
          </a:p>
          <a:p>
            <a:pPr algn="l">
              <a:lnSpc>
                <a:spcPct val="130000"/>
              </a:lnSpc>
            </a:pPr>
            <a:r>
              <a:rPr sz="1450" b="0">
                <a:solidFill>
                  <a:srgbClr val="1F2328"/>
                </a:solidFill>
                <a:latin typeface="BIZ UDゴシック"/>
                <a:ea typeface="BIZ UDゴシック"/>
              </a:rPr>
              <a:t>本時は 玉だけを配って このずれを引き出す</a:t>
            </a:r>
          </a:p>
          <a:p>
            <a:pPr algn="l">
              <a:lnSpc>
                <a:spcPct val="130000"/>
              </a:lnSpc>
            </a:pPr>
            <a:r>
              <a:rPr sz="1450" b="0">
                <a:solidFill>
                  <a:srgbClr val="1F2328"/>
                </a:solidFill>
                <a:latin typeface="BIZ UDゴシック"/>
                <a:ea typeface="BIZ UDゴシック"/>
              </a:rPr>
              <a:t>両方の理由を聞き合うと 確かめたくなる</a:t>
            </a:r>
          </a:p>
        </p:txBody>
      </p:sp>
      <p:sp>
        <p:nvSpPr>
          <p:cNvPr id="14" name="Rectangle 13"/>
          <p:cNvSpPr/>
          <p:nvPr/>
        </p:nvSpPr>
        <p:spPr>
          <a:xfrm>
            <a:off x="6231636" y="1325880"/>
            <a:ext cx="5408676" cy="443484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1444752"/>
            <a:ext cx="4951476" cy="411480"/>
          </a:xfrm>
          <a:prstGeom prst="rect">
            <a:avLst/>
          </a:prstGeom>
          <a:noFill/>
        </p:spPr>
        <p:txBody>
          <a:bodyPr wrap="square" lIns="73152" rIns="73152" tIns="36576" bIns="36576" anchor="t">
            <a:spAutoFit/>
          </a:bodyPr>
          <a:lstStyle/>
          <a:p>
            <a:pPr algn="l">
              <a:lnSpc>
                <a:spcPct val="118000"/>
              </a:lnSpc>
            </a:pPr>
            <a:r>
              <a:rPr sz="1900" b="1">
                <a:solidFill>
                  <a:srgbClr val="1F2328"/>
                </a:solidFill>
                <a:latin typeface="BIZ UDゴシック"/>
                <a:ea typeface="BIZ UDゴシック"/>
              </a:rPr>
              <a:t>2　予想と結果のずれ</a:t>
            </a:r>
          </a:p>
        </p:txBody>
      </p:sp>
      <p:sp>
        <p:nvSpPr>
          <p:cNvPr id="16" name="Rectangle 15"/>
          <p:cNvSpPr/>
          <p:nvPr/>
        </p:nvSpPr>
        <p:spPr>
          <a:xfrm>
            <a:off x="6597396" y="2011680"/>
            <a:ext cx="4677156" cy="896112"/>
          </a:xfrm>
          <a:prstGeom prst="rect">
            <a:avLst/>
          </a:prstGeom>
          <a:solidFill>
            <a:srgbClr val="FFFFFF"/>
          </a:solidFill>
          <a:ln w="19050">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43116" y="2011680"/>
            <a:ext cx="4585716" cy="896112"/>
          </a:xfrm>
          <a:prstGeom prst="rect">
            <a:avLst/>
          </a:prstGeom>
          <a:noFill/>
        </p:spPr>
        <p:txBody>
          <a:bodyPr wrap="square" lIns="73152" rIns="73152" tIns="36576" bIns="36576" anchor="ctr">
            <a:spAutoFit/>
          </a:bodyPr>
          <a:lstStyle/>
          <a:p>
            <a:pPr algn="ctr">
              <a:lnSpc>
                <a:spcPct val="118000"/>
              </a:lnSpc>
            </a:pPr>
            <a:r>
              <a:rPr sz="1500" b="1">
                <a:solidFill>
                  <a:srgbClr val="1F2328"/>
                </a:solidFill>
                <a:latin typeface="BIZ UDゴシック"/>
                <a:ea typeface="BIZ UDゴシック"/>
              </a:rPr>
              <a:t>大きくなるなら</a:t>
            </a:r>
          </a:p>
          <a:p>
            <a:pPr algn="ctr">
              <a:lnSpc>
                <a:spcPct val="118000"/>
              </a:lnSpc>
            </a:pPr>
            <a:r>
              <a:rPr sz="1500" b="1">
                <a:solidFill>
                  <a:srgbClr val="1F2328"/>
                </a:solidFill>
                <a:latin typeface="BIZ UDゴシック"/>
                <a:ea typeface="BIZ UDゴシック"/>
              </a:rPr>
              <a:t>あたためた玉は輪を通らないはず</a:t>
            </a:r>
          </a:p>
        </p:txBody>
      </p:sp>
      <p:sp>
        <p:nvSpPr>
          <p:cNvPr id="18" name="矢印"/>
          <p:cNvSpPr/>
          <p:nvPr/>
        </p:nvSpPr>
        <p:spPr>
          <a:xfrm>
            <a:off x="8798813" y="2944368"/>
            <a:ext cx="274320" cy="237744"/>
          </a:xfrm>
          <a:prstGeom prst="downArrow">
            <a:avLst/>
          </a:prstGeom>
          <a:solidFill>
            <a:srgbClr val="8A90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97396" y="3218688"/>
            <a:ext cx="4677156" cy="896112"/>
          </a:xfrm>
          <a:prstGeom prst="rect">
            <a:avLst/>
          </a:prstGeom>
          <a:solidFill>
            <a:srgbClr val="FDEEE4"/>
          </a:solidFill>
          <a:ln w="1905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43116" y="3218688"/>
            <a:ext cx="4585716" cy="896112"/>
          </a:xfrm>
          <a:prstGeom prst="rect">
            <a:avLst/>
          </a:prstGeom>
          <a:noFill/>
        </p:spPr>
        <p:txBody>
          <a:bodyPr wrap="square" lIns="73152" rIns="73152" tIns="36576" bIns="36576" anchor="ctr">
            <a:spAutoFit/>
          </a:bodyPr>
          <a:lstStyle/>
          <a:p>
            <a:pPr algn="ctr">
              <a:lnSpc>
                <a:spcPct val="118000"/>
              </a:lnSpc>
            </a:pPr>
            <a:r>
              <a:rPr sz="1500" b="1">
                <a:solidFill>
                  <a:srgbClr val="C2410C"/>
                </a:solidFill>
                <a:latin typeface="BIZ UDゴシック"/>
                <a:ea typeface="BIZ UDゴシック"/>
              </a:rPr>
              <a:t>湯であたためても</a:t>
            </a:r>
          </a:p>
          <a:p>
            <a:pPr algn="ctr">
              <a:lnSpc>
                <a:spcPct val="118000"/>
              </a:lnSpc>
            </a:pPr>
            <a:r>
              <a:rPr sz="1500" b="1">
                <a:solidFill>
                  <a:srgbClr val="C2410C"/>
                </a:solidFill>
                <a:latin typeface="BIZ UDゴシック"/>
                <a:ea typeface="BIZ UDゴシック"/>
              </a:rPr>
              <a:t>玉が輪を通った</a:t>
            </a:r>
          </a:p>
        </p:txBody>
      </p:sp>
      <p:sp>
        <p:nvSpPr>
          <p:cNvPr id="21" name="矢印"/>
          <p:cNvSpPr/>
          <p:nvPr/>
        </p:nvSpPr>
        <p:spPr>
          <a:xfrm>
            <a:off x="8798813" y="4151376"/>
            <a:ext cx="274320" cy="237744"/>
          </a:xfrm>
          <a:prstGeom prst="downArrow">
            <a:avLst/>
          </a:prstGeom>
          <a:solidFill>
            <a:srgbClr val="8A90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97396" y="4425696"/>
            <a:ext cx="4677156" cy="896112"/>
          </a:xfrm>
          <a:prstGeom prst="rect">
            <a:avLst/>
          </a:prstGeom>
          <a:solidFill>
            <a:srgbClr val="FFFFFF"/>
          </a:solidFill>
          <a:ln w="19050">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43116" y="4425696"/>
            <a:ext cx="4585716" cy="896112"/>
          </a:xfrm>
          <a:prstGeom prst="rect">
            <a:avLst/>
          </a:prstGeom>
          <a:noFill/>
        </p:spPr>
        <p:txBody>
          <a:bodyPr wrap="square" lIns="73152" rIns="73152" tIns="36576" bIns="36576" anchor="ctr">
            <a:spAutoFit/>
          </a:bodyPr>
          <a:lstStyle/>
          <a:p>
            <a:pPr algn="ctr">
              <a:lnSpc>
                <a:spcPct val="118000"/>
              </a:lnSpc>
            </a:pPr>
            <a:r>
              <a:rPr sz="1500" b="1">
                <a:solidFill>
                  <a:srgbClr val="1F2328"/>
                </a:solidFill>
                <a:latin typeface="BIZ UDゴシック"/>
                <a:ea typeface="BIZ UDゴシック"/>
              </a:rPr>
              <a:t>レールにはすきまがある</a:t>
            </a:r>
          </a:p>
          <a:p>
            <a:pPr algn="ctr">
              <a:lnSpc>
                <a:spcPct val="118000"/>
              </a:lnSpc>
            </a:pPr>
            <a:r>
              <a:rPr sz="1500" b="1">
                <a:solidFill>
                  <a:srgbClr val="1F2328"/>
                </a:solidFill>
                <a:latin typeface="BIZ UDゴシック"/>
                <a:ea typeface="BIZ UDゴシック"/>
              </a:rPr>
              <a:t>あたため方が足りないのかも</a:t>
            </a:r>
          </a:p>
        </p:txBody>
      </p:sp>
      <p:sp>
        <p:nvSpPr>
          <p:cNvPr id="24" name="TextBox 23"/>
          <p:cNvSpPr txBox="1"/>
          <p:nvPr/>
        </p:nvSpPr>
        <p:spPr>
          <a:xfrm>
            <a:off x="548640" y="5870448"/>
            <a:ext cx="11091672" cy="502920"/>
          </a:xfrm>
          <a:prstGeom prst="rect">
            <a:avLst/>
          </a:prstGeom>
          <a:noFill/>
        </p:spPr>
        <p:txBody>
          <a:bodyPr wrap="square" lIns="73152" rIns="73152" tIns="36576" bIns="36576" anchor="t">
            <a:spAutoFit/>
          </a:bodyPr>
          <a:lstStyle/>
          <a:p>
            <a:pPr algn="l">
              <a:lnSpc>
                <a:spcPct val="115000"/>
              </a:lnSpc>
            </a:pPr>
            <a:r>
              <a:rPr sz="1100" b="0">
                <a:solidFill>
                  <a:srgbClr val="5F646B"/>
                </a:solidFill>
                <a:latin typeface="BIZ UDゴシック"/>
                <a:ea typeface="BIZ UDゴシック"/>
              </a:rPr>
              <a:t>指導案 教材観より　子どもどうしの考えのずれと 予想と結果のずれから追究意欲を引き出し</a:t>
            </a:r>
          </a:p>
          <a:p>
            <a:pPr algn="l">
              <a:lnSpc>
                <a:spcPct val="115000"/>
              </a:lnSpc>
            </a:pPr>
            <a:r>
              <a:rPr sz="1100" b="0">
                <a:solidFill>
                  <a:srgbClr val="5F646B"/>
                </a:solidFill>
                <a:latin typeface="BIZ UDゴシック"/>
                <a:ea typeface="BIZ UDゴシック"/>
              </a:rPr>
              <a:t>目に見えない金属のふくらみを実感させる　本時は2つとも起きる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区分"/>
          <p:cNvSpPr txBox="1"/>
          <p:nvPr/>
        </p:nvSpPr>
        <p:spPr>
          <a:xfrm>
            <a:off x="548640" y="274320"/>
            <a:ext cx="8229600" cy="292608"/>
          </a:xfrm>
          <a:prstGeom prst="rect">
            <a:avLst/>
          </a:prstGeom>
          <a:noFill/>
        </p:spPr>
        <p:txBody>
          <a:bodyPr wrap="square" lIns="73152" rIns="73152" tIns="36576" bIns="36576" anchor="t">
            <a:spAutoFit/>
          </a:bodyPr>
          <a:lstStyle/>
          <a:p>
            <a:pPr algn="l">
              <a:lnSpc>
                <a:spcPct val="118000"/>
              </a:lnSpc>
            </a:pPr>
            <a:r>
              <a:rPr sz="1300" b="1">
                <a:solidFill>
                  <a:srgbClr val="5F646B"/>
                </a:solidFill>
                <a:latin typeface="BIZ UDゴシック"/>
                <a:ea typeface="BIZ UDゴシック"/>
              </a:rPr>
              <a:t>着眼2　既有知識をゆさぶる事象提示</a:t>
            </a:r>
          </a:p>
        </p:txBody>
      </p:sp>
      <p:sp>
        <p:nvSpPr>
          <p:cNvPr id="3" name="見出しの線"/>
          <p:cNvSpPr/>
          <p:nvPr/>
        </p:nvSpPr>
        <p:spPr>
          <a:xfrm>
            <a:off x="548640" y="640080"/>
            <a:ext cx="82296" cy="47548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見出し"/>
          <p:cNvSpPr txBox="1"/>
          <p:nvPr/>
        </p:nvSpPr>
        <p:spPr>
          <a:xfrm>
            <a:off x="749808" y="566928"/>
            <a:ext cx="10972800" cy="603504"/>
          </a:xfrm>
          <a:prstGeom prst="rect">
            <a:avLst/>
          </a:prstGeom>
          <a:noFill/>
        </p:spPr>
        <p:txBody>
          <a:bodyPr wrap="square" lIns="73152" rIns="73152" tIns="36576" bIns="36576" anchor="ctr">
            <a:spAutoFit/>
          </a:bodyPr>
          <a:lstStyle/>
          <a:p>
            <a:pPr algn="l">
              <a:lnSpc>
                <a:spcPct val="118000"/>
              </a:lnSpc>
            </a:pPr>
            <a:r>
              <a:rPr sz="2800" b="1">
                <a:solidFill>
                  <a:srgbClr val="1F2328"/>
                </a:solidFill>
                <a:latin typeface="BIZ UDゴシック"/>
                <a:ea typeface="BIZ UDゴシック"/>
              </a:rPr>
              <a:t>次ごとの事象提示と予想される子どもの姿</a:t>
            </a:r>
          </a:p>
        </p:txBody>
      </p:sp>
      <p:sp>
        <p:nvSpPr>
          <p:cNvPr id="5" name="足もと"/>
          <p:cNvSpPr txBox="1"/>
          <p:nvPr/>
        </p:nvSpPr>
        <p:spPr>
          <a:xfrm>
            <a:off x="548640" y="6455664"/>
            <a:ext cx="8229600" cy="256032"/>
          </a:xfrm>
          <a:prstGeom prst="rect">
            <a:avLst/>
          </a:prstGeom>
          <a:noFill/>
        </p:spPr>
        <p:txBody>
          <a:bodyPr wrap="square" lIns="73152" rIns="73152" tIns="36576" bIns="36576" anchor="t">
            <a:spAutoFit/>
          </a:bodyPr>
          <a:lstStyle/>
          <a:p>
            <a:pPr algn="l">
              <a:lnSpc>
                <a:spcPct val="118000"/>
              </a:lnSpc>
            </a:pPr>
            <a:r>
              <a:rPr sz="1000" b="0">
                <a:solidFill>
                  <a:srgbClr val="8A9097"/>
                </a:solidFill>
                <a:latin typeface="BIZ UDゴシック"/>
                <a:ea typeface="BIZ UDゴシック"/>
              </a:rPr>
              <a:t>4年 理科　物の体積と温度　授業者説明</a:t>
            </a:r>
          </a:p>
        </p:txBody>
      </p:sp>
      <p:sp>
        <p:nvSpPr>
          <p:cNvPr id="6" name="ページ"/>
          <p:cNvSpPr txBox="1"/>
          <p:nvPr/>
        </p:nvSpPr>
        <p:spPr>
          <a:xfrm>
            <a:off x="10545775" y="6455664"/>
            <a:ext cx="1097280" cy="256032"/>
          </a:xfrm>
          <a:prstGeom prst="rect">
            <a:avLst/>
          </a:prstGeom>
          <a:noFill/>
        </p:spPr>
        <p:txBody>
          <a:bodyPr wrap="square" lIns="73152" rIns="73152" tIns="36576" bIns="36576" anchor="t">
            <a:spAutoFit/>
          </a:bodyPr>
          <a:lstStyle/>
          <a:p>
            <a:pPr algn="r">
              <a:lnSpc>
                <a:spcPct val="118000"/>
              </a:lnSpc>
            </a:pPr>
            <a:r>
              <a:rPr sz="1000" b="0">
                <a:solidFill>
                  <a:srgbClr val="8A9097"/>
                </a:solidFill>
                <a:latin typeface="BIZ UDゴシック"/>
                <a:ea typeface="BIZ UDゴシック"/>
              </a:rPr>
              <a:t>8</a:t>
            </a:r>
          </a:p>
        </p:txBody>
      </p:sp>
      <p:graphicFrame>
        <p:nvGraphicFramePr>
          <p:cNvPr id="7" name="Table 6"/>
          <p:cNvGraphicFramePr>
            <a:graphicFrameLocks noGrp="1"/>
          </p:cNvGraphicFramePr>
          <p:nvPr/>
        </p:nvGraphicFramePr>
        <p:xfrm>
          <a:off x="548640" y="1325880"/>
          <a:ext cx="11091672" cy="4215384"/>
        </p:xfrm>
        <a:graphic>
          <a:graphicData uri="http://schemas.openxmlformats.org/drawingml/2006/table">
            <a:tbl>
              <a:tblPr firstRow="1" bandRow="1">
                <a:tableStyleId>{5940675A-B579-460E-94D1-54222C63F5DA}</a:tableStyleId>
              </a:tblPr>
              <a:tblGrid>
                <a:gridCol w="1143000"/>
                <a:gridCol w="4846320"/>
                <a:gridCol w="5102352"/>
              </a:tblGrid>
              <a:tr h="384048">
                <a:tc>
                  <a:txBody>
                    <a:bodyPr wrap="square"/>
                    <a:lstStyle/>
                    <a:p>
                      <a:pPr>
                        <a:lnSpc>
                          <a:spcPct val="108000"/>
                        </a:lnSpc>
                      </a:pPr>
                      <a:r>
                        <a:rPr sz="1400" b="1">
                          <a:solidFill>
                            <a:srgbClr val="FFFFFF"/>
                          </a:solidFill>
                          <a:latin typeface="BIZ UDゴシック"/>
                          <a:ea typeface="BIZ UDゴシック"/>
                        </a:rPr>
                        <a:t>次</a:t>
                      </a:r>
                    </a:p>
                  </a:txBody>
                  <a:tcPr marL="73152" marR="73152" marT="36576" marB="36576" anchor="ctr">
                    <a:solidFill>
                      <a:srgbClr val="1F2328"/>
                    </a:solidFill>
                  </a:tcPr>
                </a:tc>
                <a:tc>
                  <a:txBody>
                    <a:bodyPr wrap="square"/>
                    <a:lstStyle/>
                    <a:p>
                      <a:pPr>
                        <a:lnSpc>
                          <a:spcPct val="108000"/>
                        </a:lnSpc>
                      </a:pPr>
                      <a:r>
                        <a:rPr sz="1400" b="1">
                          <a:solidFill>
                            <a:srgbClr val="FFFFFF"/>
                          </a:solidFill>
                          <a:latin typeface="BIZ UDゴシック"/>
                          <a:ea typeface="BIZ UDゴシック"/>
                        </a:rPr>
                        <a:t>事象提示</a:t>
                      </a:r>
                    </a:p>
                  </a:txBody>
                  <a:tcPr marL="73152" marR="73152" marT="36576" marB="36576" anchor="ctr">
                    <a:solidFill>
                      <a:srgbClr val="1F2328"/>
                    </a:solidFill>
                  </a:tcPr>
                </a:tc>
                <a:tc>
                  <a:txBody>
                    <a:bodyPr wrap="square"/>
                    <a:lstStyle/>
                    <a:p>
                      <a:pPr>
                        <a:lnSpc>
                          <a:spcPct val="108000"/>
                        </a:lnSpc>
                      </a:pPr>
                      <a:r>
                        <a:rPr sz="1400" b="1">
                          <a:solidFill>
                            <a:srgbClr val="FFFFFF"/>
                          </a:solidFill>
                          <a:latin typeface="BIZ UDゴシック"/>
                          <a:ea typeface="BIZ UDゴシック"/>
                        </a:rPr>
                        <a:t>予想される子どもの姿</a:t>
                      </a:r>
                    </a:p>
                  </a:txBody>
                  <a:tcPr marL="73152" marR="73152" marT="36576" marB="36576" anchor="ctr">
                    <a:solidFill>
                      <a:srgbClr val="1F2328"/>
                    </a:solidFill>
                  </a:tcPr>
                </a:tc>
              </a:tr>
              <a:tr h="1024128">
                <a:tc>
                  <a:txBody>
                    <a:bodyPr wrap="square"/>
                    <a:lstStyle/>
                    <a:p>
                      <a:pPr>
                        <a:lnSpc>
                          <a:spcPct val="108000"/>
                        </a:lnSpc>
                      </a:pPr>
                      <a:r>
                        <a:rPr sz="1400" b="1">
                          <a:solidFill>
                            <a:srgbClr val="1F2328"/>
                          </a:solidFill>
                          <a:latin typeface="BIZ UDゴシック"/>
                          <a:ea typeface="BIZ UDゴシック"/>
                        </a:rPr>
                        <a:t>1次</a:t>
                      </a:r>
                    </a:p>
                    <a:p>
                      <a:pPr>
                        <a:lnSpc>
                          <a:spcPct val="108000"/>
                        </a:lnSpc>
                      </a:pPr>
                      <a:r>
                        <a:rPr sz="1400" b="1">
                          <a:solidFill>
                            <a:srgbClr val="1F2328"/>
                          </a:solidFill>
                          <a:latin typeface="BIZ UDゴシック"/>
                          <a:ea typeface="BIZ UDゴシック"/>
                        </a:rPr>
                        <a:t>空気</a:t>
                      </a:r>
                    </a:p>
                  </a:txBody>
                  <a:tcPr marL="73152" marR="73152" marT="36576" marB="36576" anchor="ctr">
                    <a:solidFill>
                      <a:srgbClr val="FFFFFF"/>
                    </a:solidFill>
                  </a:tcPr>
                </a:tc>
                <a:tc>
                  <a:txBody>
                    <a:bodyPr wrap="square"/>
                    <a:lstStyle/>
                    <a:p>
                      <a:pPr>
                        <a:lnSpc>
                          <a:spcPct val="108000"/>
                        </a:lnSpc>
                      </a:pPr>
                      <a:r>
                        <a:rPr sz="1400" b="0">
                          <a:solidFill>
                            <a:srgbClr val="1F2328"/>
                          </a:solidFill>
                          <a:latin typeface="BIZ UDゴシック"/>
                          <a:ea typeface="BIZ UDゴシック"/>
                        </a:rPr>
                        <a:t>試験管の口にせっけん水のまくをはり</a:t>
                      </a:r>
                    </a:p>
                    <a:p>
                      <a:pPr>
                        <a:lnSpc>
                          <a:spcPct val="108000"/>
                        </a:lnSpc>
                      </a:pPr>
                      <a:r>
                        <a:rPr sz="1400" b="0">
                          <a:solidFill>
                            <a:srgbClr val="1F2328"/>
                          </a:solidFill>
                          <a:latin typeface="BIZ UDゴシック"/>
                          <a:ea typeface="BIZ UDゴシック"/>
                        </a:rPr>
                        <a:t>全員が自分の手でにぎる</a:t>
                      </a:r>
                    </a:p>
                    <a:p>
                      <a:pPr>
                        <a:lnSpc>
                          <a:spcPct val="108000"/>
                        </a:lnSpc>
                      </a:pPr>
                      <a:r>
                        <a:rPr sz="1400" b="0">
                          <a:solidFill>
                            <a:srgbClr val="1F2328"/>
                          </a:solidFill>
                          <a:latin typeface="BIZ UDゴシック"/>
                          <a:ea typeface="BIZ UDゴシック"/>
                        </a:rPr>
                        <a:t>前の単元「とじこめた空気や水」と結び付けて</a:t>
                      </a:r>
                    </a:p>
                    <a:p>
                      <a:pPr>
                        <a:lnSpc>
                          <a:spcPct val="108000"/>
                        </a:lnSpc>
                      </a:pPr>
                      <a:r>
                        <a:rPr sz="1400" b="0">
                          <a:solidFill>
                            <a:srgbClr val="1F2328"/>
                          </a:solidFill>
                          <a:latin typeface="BIZ UDゴシック"/>
                          <a:ea typeface="BIZ UDゴシック"/>
                        </a:rPr>
                        <a:t>温度と体積をつなぐ予想を引き出す</a:t>
                      </a:r>
                    </a:p>
                  </a:txBody>
                  <a:tcPr marL="73152" marR="73152" marT="36576" marB="36576" anchor="ctr">
                    <a:solidFill>
                      <a:srgbClr val="FFFFFF"/>
                    </a:solidFill>
                  </a:tcPr>
                </a:tc>
                <a:tc>
                  <a:txBody>
                    <a:bodyPr wrap="square"/>
                    <a:lstStyle/>
                    <a:p>
                      <a:pPr>
                        <a:lnSpc>
                          <a:spcPct val="108000"/>
                        </a:lnSpc>
                      </a:pPr>
                      <a:r>
                        <a:rPr sz="1400" b="0">
                          <a:solidFill>
                            <a:srgbClr val="1F2328"/>
                          </a:solidFill>
                          <a:latin typeface="BIZ UDゴシック"/>
                          <a:ea typeface="BIZ UDゴシック"/>
                        </a:rPr>
                        <a:t>にぎっただけでシャボン玉みたいにふくらんだ なんで？</a:t>
                      </a:r>
                    </a:p>
                    <a:p>
                      <a:pPr>
                        <a:lnSpc>
                          <a:spcPct val="108000"/>
                        </a:lnSpc>
                      </a:pPr>
                      <a:r>
                        <a:rPr sz="1400" b="0">
                          <a:solidFill>
                            <a:srgbClr val="1F2328"/>
                          </a:solidFill>
                          <a:latin typeface="BIZ UDゴシック"/>
                          <a:ea typeface="BIZ UDゴシック"/>
                        </a:rPr>
                        <a:t>空気を入れていないのに どうして？</a:t>
                      </a:r>
                    </a:p>
                    <a:p>
                      <a:pPr>
                        <a:lnSpc>
                          <a:spcPct val="108000"/>
                        </a:lnSpc>
                      </a:pPr>
                      <a:r>
                        <a:rPr sz="1400" b="0">
                          <a:solidFill>
                            <a:srgbClr val="1F2328"/>
                          </a:solidFill>
                          <a:latin typeface="BIZ UDゴシック"/>
                          <a:ea typeface="BIZ UDゴシック"/>
                        </a:rPr>
                        <a:t>中の何が変わったの？</a:t>
                      </a:r>
                    </a:p>
                  </a:txBody>
                  <a:tcPr marL="73152" marR="73152" marT="36576" marB="36576" anchor="ctr">
                    <a:solidFill>
                      <a:srgbClr val="FFFFFF"/>
                    </a:solidFill>
                  </a:tcPr>
                </a:tc>
              </a:tr>
              <a:tr h="1024128">
                <a:tc>
                  <a:txBody>
                    <a:bodyPr wrap="square"/>
                    <a:lstStyle/>
                    <a:p>
                      <a:pPr>
                        <a:lnSpc>
                          <a:spcPct val="108000"/>
                        </a:lnSpc>
                      </a:pPr>
                      <a:r>
                        <a:rPr sz="1400" b="1">
                          <a:solidFill>
                            <a:srgbClr val="1F2328"/>
                          </a:solidFill>
                          <a:latin typeface="BIZ UDゴシック"/>
                          <a:ea typeface="BIZ UDゴシック"/>
                        </a:rPr>
                        <a:t>2次</a:t>
                      </a:r>
                    </a:p>
                    <a:p>
                      <a:pPr>
                        <a:lnSpc>
                          <a:spcPct val="108000"/>
                        </a:lnSpc>
                      </a:pPr>
                      <a:r>
                        <a:rPr sz="1400" b="1">
                          <a:solidFill>
                            <a:srgbClr val="1F2328"/>
                          </a:solidFill>
                          <a:latin typeface="BIZ UDゴシック"/>
                          <a:ea typeface="BIZ UDゴシック"/>
                        </a:rPr>
                        <a:t>水</a:t>
                      </a:r>
                    </a:p>
                  </a:txBody>
                  <a:tcPr marL="73152" marR="73152" marT="36576" marB="36576" anchor="ctr">
                    <a:solidFill>
                      <a:srgbClr val="FFFFFF"/>
                    </a:solidFill>
                  </a:tcPr>
                </a:tc>
                <a:tc>
                  <a:txBody>
                    <a:bodyPr wrap="square"/>
                    <a:lstStyle/>
                    <a:p>
                      <a:pPr>
                        <a:lnSpc>
                          <a:spcPct val="108000"/>
                        </a:lnSpc>
                      </a:pPr>
                      <a:r>
                        <a:rPr sz="1400" b="0">
                          <a:solidFill>
                            <a:srgbClr val="1F2328"/>
                          </a:solidFill>
                          <a:latin typeface="BIZ UDゴシック"/>
                          <a:ea typeface="BIZ UDゴシック"/>
                        </a:rPr>
                        <a:t>第1次の分類で意見が分かれた水へ向かわせる</a:t>
                      </a:r>
                    </a:p>
                    <a:p>
                      <a:pPr>
                        <a:lnSpc>
                          <a:spcPct val="108000"/>
                        </a:lnSpc>
                      </a:pPr>
                      <a:r>
                        <a:rPr sz="1400" b="0">
                          <a:solidFill>
                            <a:srgbClr val="1F2328"/>
                          </a:solidFill>
                          <a:latin typeface="BIZ UDゴシック"/>
                          <a:ea typeface="BIZ UDゴシック"/>
                        </a:rPr>
                        <a:t>空気と同じ器具で 中身を水に変えて調べる</a:t>
                      </a:r>
                    </a:p>
                    <a:p>
                      <a:pPr>
                        <a:lnSpc>
                          <a:spcPct val="108000"/>
                        </a:lnSpc>
                      </a:pPr>
                      <a:r>
                        <a:rPr sz="1400" b="0">
                          <a:solidFill>
                            <a:srgbClr val="1F2328"/>
                          </a:solidFill>
                          <a:latin typeface="BIZ UDゴシック"/>
                          <a:ea typeface="BIZ UDゴシック"/>
                        </a:rPr>
                        <a:t>水面はわずかしか上がらない</a:t>
                      </a:r>
                    </a:p>
                  </a:txBody>
                  <a:tcPr marL="73152" marR="73152" marT="36576" marB="36576" anchor="ctr">
                    <a:solidFill>
                      <a:srgbClr val="FFFFFF"/>
                    </a:solidFill>
                  </a:tcPr>
                </a:tc>
                <a:tc>
                  <a:txBody>
                    <a:bodyPr wrap="square"/>
                    <a:lstStyle/>
                    <a:p>
                      <a:pPr>
                        <a:lnSpc>
                          <a:spcPct val="108000"/>
                        </a:lnSpc>
                      </a:pPr>
                      <a:r>
                        <a:rPr sz="1400" b="0">
                          <a:solidFill>
                            <a:srgbClr val="1F2328"/>
                          </a:solidFill>
                          <a:latin typeface="BIZ UDゴシック"/>
                          <a:ea typeface="BIZ UDゴシック"/>
                        </a:rPr>
                        <a:t>水は前の学習でおし縮められなかったから</a:t>
                      </a:r>
                    </a:p>
                    <a:p>
                      <a:pPr>
                        <a:lnSpc>
                          <a:spcPct val="108000"/>
                        </a:lnSpc>
                      </a:pPr>
                      <a:r>
                        <a:rPr sz="1400" b="0">
                          <a:solidFill>
                            <a:srgbClr val="1F2328"/>
                          </a:solidFill>
                          <a:latin typeface="BIZ UDゴシック"/>
                          <a:ea typeface="BIZ UDゴシック"/>
                        </a:rPr>
                        <a:t>あたためても変わらないと思う</a:t>
                      </a:r>
                    </a:p>
                    <a:p>
                      <a:pPr>
                        <a:lnSpc>
                          <a:spcPct val="108000"/>
                        </a:lnSpc>
                      </a:pPr>
                      <a:r>
                        <a:rPr sz="1400" b="0">
                          <a:solidFill>
                            <a:srgbClr val="1F2328"/>
                          </a:solidFill>
                          <a:latin typeface="BIZ UDゴシック"/>
                          <a:ea typeface="BIZ UDゴシック"/>
                        </a:rPr>
                        <a:t>少しだけど水面が上がった</a:t>
                      </a:r>
                    </a:p>
                    <a:p>
                      <a:pPr>
                        <a:lnSpc>
                          <a:spcPct val="108000"/>
                        </a:lnSpc>
                      </a:pPr>
                      <a:r>
                        <a:rPr sz="1400" b="0">
                          <a:solidFill>
                            <a:srgbClr val="1F2328"/>
                          </a:solidFill>
                          <a:latin typeface="BIZ UDゴシック"/>
                          <a:ea typeface="BIZ UDゴシック"/>
                        </a:rPr>
                        <a:t>空気より増え方が小さいのかな</a:t>
                      </a:r>
                    </a:p>
                  </a:txBody>
                  <a:tcPr marL="73152" marR="73152" marT="36576" marB="36576" anchor="ctr">
                    <a:solidFill>
                      <a:srgbClr val="FFFFFF"/>
                    </a:solidFill>
                  </a:tcPr>
                </a:tc>
              </a:tr>
              <a:tr h="1783080">
                <a:tc>
                  <a:txBody>
                    <a:bodyPr wrap="square"/>
                    <a:lstStyle/>
                    <a:p>
                      <a:pPr>
                        <a:lnSpc>
                          <a:spcPct val="108000"/>
                        </a:lnSpc>
                      </a:pPr>
                      <a:r>
                        <a:rPr sz="1400" b="1">
                          <a:solidFill>
                            <a:srgbClr val="1F2328"/>
                          </a:solidFill>
                          <a:latin typeface="BIZ UDゴシック"/>
                          <a:ea typeface="BIZ UDゴシック"/>
                        </a:rPr>
                        <a:t>3次</a:t>
                      </a:r>
                    </a:p>
                    <a:p>
                      <a:pPr>
                        <a:lnSpc>
                          <a:spcPct val="108000"/>
                        </a:lnSpc>
                      </a:pPr>
                      <a:r>
                        <a:rPr sz="1400" b="1">
                          <a:solidFill>
                            <a:srgbClr val="1F2328"/>
                          </a:solidFill>
                          <a:latin typeface="BIZ UDゴシック"/>
                          <a:ea typeface="BIZ UDゴシック"/>
                        </a:rPr>
                        <a:t>金属</a:t>
                      </a:r>
                    </a:p>
                    <a:p>
                      <a:pPr>
                        <a:lnSpc>
                          <a:spcPct val="108000"/>
                        </a:lnSpc>
                      </a:pPr>
                      <a:r>
                        <a:rPr sz="1400" b="1">
                          <a:solidFill>
                            <a:srgbClr val="1F2328"/>
                          </a:solidFill>
                          <a:latin typeface="BIZ UDゴシック"/>
                          <a:ea typeface="BIZ UDゴシック"/>
                        </a:rPr>
                        <a:t>本時</a:t>
                      </a:r>
                    </a:p>
                  </a:txBody>
                  <a:tcPr marL="73152" marR="73152" marT="36576" marB="36576" anchor="ctr">
                    <a:solidFill>
                      <a:srgbClr val="FFF3C4"/>
                    </a:solidFill>
                  </a:tcPr>
                </a:tc>
                <a:tc>
                  <a:txBody>
                    <a:bodyPr wrap="square"/>
                    <a:lstStyle/>
                    <a:p>
                      <a:pPr>
                        <a:lnSpc>
                          <a:spcPct val="108000"/>
                        </a:lnSpc>
                      </a:pPr>
                      <a:r>
                        <a:rPr sz="1400" b="0">
                          <a:solidFill>
                            <a:srgbClr val="1F2328"/>
                          </a:solidFill>
                          <a:latin typeface="BIZ UDゴシック"/>
                          <a:ea typeface="BIZ UDゴシック"/>
                        </a:rPr>
                        <a:t>第1次の分類表と学びの足あとをふり返る</a:t>
                      </a:r>
                    </a:p>
                    <a:p>
                      <a:pPr>
                        <a:lnSpc>
                          <a:spcPct val="108000"/>
                        </a:lnSpc>
                      </a:pPr>
                      <a:r>
                        <a:rPr sz="1400" b="0">
                          <a:solidFill>
                            <a:srgbClr val="1F2328"/>
                          </a:solidFill>
                          <a:latin typeface="BIZ UDゴシック"/>
                          <a:ea typeface="BIZ UDゴシック"/>
                        </a:rPr>
                        <a:t>金ぞくの玉だけを班に1つずつ配り さわらせる</a:t>
                      </a:r>
                    </a:p>
                    <a:p>
                      <a:pPr>
                        <a:lnSpc>
                          <a:spcPct val="108000"/>
                        </a:lnSpc>
                      </a:pPr>
                      <a:r>
                        <a:rPr sz="1400" b="0">
                          <a:solidFill>
                            <a:srgbClr val="1F2328"/>
                          </a:solidFill>
                          <a:latin typeface="BIZ UDゴシック"/>
                          <a:ea typeface="BIZ UDゴシック"/>
                        </a:rPr>
                        <a:t>輪は実験の前に見せる（玉は輪をぎりぎり通る）</a:t>
                      </a:r>
                    </a:p>
                    <a:p>
                      <a:pPr>
                        <a:lnSpc>
                          <a:spcPct val="108000"/>
                        </a:lnSpc>
                      </a:pPr>
                      <a:r>
                        <a:rPr sz="1400" b="0">
                          <a:solidFill>
                            <a:srgbClr val="1F2328"/>
                          </a:solidFill>
                          <a:latin typeface="BIZ UDゴシック"/>
                          <a:ea typeface="BIZ UDゴシック"/>
                        </a:rPr>
                        <a:t>湯であたためても 玉は輪を通る</a:t>
                      </a:r>
                    </a:p>
                    <a:p>
                      <a:pPr>
                        <a:lnSpc>
                          <a:spcPct val="108000"/>
                        </a:lnSpc>
                      </a:pPr>
                      <a:r>
                        <a:rPr sz="1400" b="0">
                          <a:solidFill>
                            <a:srgbClr val="1F2328"/>
                          </a:solidFill>
                          <a:latin typeface="BIZ UDゴシック"/>
                          <a:ea typeface="BIZ UDゴシック"/>
                        </a:rPr>
                        <a:t>そのあとで レールのつなぎ目のすきまの</a:t>
                      </a:r>
                    </a:p>
                    <a:p>
                      <a:pPr>
                        <a:lnSpc>
                          <a:spcPct val="108000"/>
                        </a:lnSpc>
                      </a:pPr>
                      <a:r>
                        <a:rPr sz="1400" b="0">
                          <a:solidFill>
                            <a:srgbClr val="1F2328"/>
                          </a:solidFill>
                          <a:latin typeface="BIZ UDゴシック"/>
                          <a:ea typeface="BIZ UDゴシック"/>
                        </a:rPr>
                        <a:t>写真を提示する</a:t>
                      </a:r>
                    </a:p>
                  </a:txBody>
                  <a:tcPr marL="73152" marR="73152" marT="36576" marB="36576" anchor="ctr">
                    <a:solidFill>
                      <a:srgbClr val="FFF3C4"/>
                    </a:solidFill>
                  </a:tcPr>
                </a:tc>
                <a:tc>
                  <a:txBody>
                    <a:bodyPr wrap="square"/>
                    <a:lstStyle/>
                    <a:p>
                      <a:pPr>
                        <a:lnSpc>
                          <a:spcPct val="108000"/>
                        </a:lnSpc>
                      </a:pPr>
                      <a:r>
                        <a:rPr sz="1400" b="0">
                          <a:solidFill>
                            <a:srgbClr val="1F2328"/>
                          </a:solidFill>
                          <a:latin typeface="BIZ UDゴシック"/>
                          <a:ea typeface="BIZ UDゴシック"/>
                        </a:rPr>
                        <a:t>つめたくて重い 金ぞくは「変わらなそう」</a:t>
                      </a:r>
                    </a:p>
                    <a:p>
                      <a:pPr>
                        <a:lnSpc>
                          <a:spcPct val="108000"/>
                        </a:lnSpc>
                      </a:pPr>
                      <a:r>
                        <a:rPr sz="1400" b="0">
                          <a:solidFill>
                            <a:srgbClr val="1F2328"/>
                          </a:solidFill>
                          <a:latin typeface="BIZ UDゴシック"/>
                          <a:ea typeface="BIZ UDゴシック"/>
                        </a:rPr>
                        <a:t>空気も水も大きくなったから 金ぞくも</a:t>
                      </a:r>
                    </a:p>
                    <a:p>
                      <a:pPr>
                        <a:lnSpc>
                          <a:spcPct val="108000"/>
                        </a:lnSpc>
                      </a:pPr>
                      <a:r>
                        <a:rPr sz="1400" b="0">
                          <a:solidFill>
                            <a:srgbClr val="1F2328"/>
                          </a:solidFill>
                          <a:latin typeface="BIZ UDゴシック"/>
                          <a:ea typeface="BIZ UDゴシック"/>
                        </a:rPr>
                        <a:t>湯でも通った やっぱり変わらないのかな</a:t>
                      </a:r>
                    </a:p>
                    <a:p>
                      <a:pPr>
                        <a:lnSpc>
                          <a:spcPct val="108000"/>
                        </a:lnSpc>
                      </a:pPr>
                      <a:r>
                        <a:rPr sz="1400" b="0">
                          <a:solidFill>
                            <a:srgbClr val="1F2328"/>
                          </a:solidFill>
                          <a:latin typeface="BIZ UDゴシック"/>
                          <a:ea typeface="BIZ UDゴシック"/>
                        </a:rPr>
                        <a:t>変わらないなら どうしてレールにすきまが？</a:t>
                      </a:r>
                    </a:p>
                    <a:p>
                      <a:pPr>
                        <a:lnSpc>
                          <a:spcPct val="108000"/>
                        </a:lnSpc>
                      </a:pPr>
                      <a:r>
                        <a:rPr sz="1400" b="0">
                          <a:solidFill>
                            <a:srgbClr val="1F2328"/>
                          </a:solidFill>
                          <a:latin typeface="BIZ UDゴシック"/>
                          <a:ea typeface="BIZ UDゴシック"/>
                        </a:rPr>
                        <a:t>あたため方が足りなかったのかな</a:t>
                      </a:r>
                    </a:p>
                  </a:txBody>
                  <a:tcPr marL="73152" marR="73152" marT="36576" marB="36576" anchor="ctr">
                    <a:solidFill>
                      <a:srgbClr val="FFF3C4"/>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区分"/>
          <p:cNvSpPr txBox="1"/>
          <p:nvPr/>
        </p:nvSpPr>
        <p:spPr>
          <a:xfrm>
            <a:off x="548640" y="274320"/>
            <a:ext cx="8229600" cy="292608"/>
          </a:xfrm>
          <a:prstGeom prst="rect">
            <a:avLst/>
          </a:prstGeom>
          <a:noFill/>
        </p:spPr>
        <p:txBody>
          <a:bodyPr wrap="square" lIns="73152" rIns="73152" tIns="36576" bIns="36576" anchor="t">
            <a:spAutoFit/>
          </a:bodyPr>
          <a:lstStyle/>
          <a:p>
            <a:pPr algn="l">
              <a:lnSpc>
                <a:spcPct val="118000"/>
              </a:lnSpc>
            </a:pPr>
            <a:r>
              <a:rPr sz="1300" b="1">
                <a:solidFill>
                  <a:srgbClr val="5F646B"/>
                </a:solidFill>
                <a:latin typeface="BIZ UDゴシック"/>
                <a:ea typeface="BIZ UDゴシック"/>
              </a:rPr>
              <a:t>着眼1と着眼2　第3次</a:t>
            </a:r>
          </a:p>
        </p:txBody>
      </p:sp>
      <p:sp>
        <p:nvSpPr>
          <p:cNvPr id="3" name="見出しの線"/>
          <p:cNvSpPr/>
          <p:nvPr/>
        </p:nvSpPr>
        <p:spPr>
          <a:xfrm>
            <a:off x="548640" y="640080"/>
            <a:ext cx="82296" cy="47548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見出し"/>
          <p:cNvSpPr txBox="1"/>
          <p:nvPr/>
        </p:nvSpPr>
        <p:spPr>
          <a:xfrm>
            <a:off x="749808" y="566928"/>
            <a:ext cx="10972800" cy="603504"/>
          </a:xfrm>
          <a:prstGeom prst="rect">
            <a:avLst/>
          </a:prstGeom>
          <a:noFill/>
        </p:spPr>
        <p:txBody>
          <a:bodyPr wrap="square" lIns="73152" rIns="73152" tIns="36576" bIns="36576" anchor="ctr">
            <a:spAutoFit/>
          </a:bodyPr>
          <a:lstStyle/>
          <a:p>
            <a:pPr algn="l">
              <a:lnSpc>
                <a:spcPct val="118000"/>
              </a:lnSpc>
            </a:pPr>
            <a:r>
              <a:rPr sz="2800" b="1">
                <a:solidFill>
                  <a:srgbClr val="1F2328"/>
                </a:solidFill>
                <a:latin typeface="BIZ UDゴシック"/>
                <a:ea typeface="BIZ UDゴシック"/>
              </a:rPr>
              <a:t>第3次 金属　学習活動と目指す児童の姿</a:t>
            </a:r>
          </a:p>
        </p:txBody>
      </p:sp>
      <p:sp>
        <p:nvSpPr>
          <p:cNvPr id="5" name="足もと"/>
          <p:cNvSpPr txBox="1"/>
          <p:nvPr/>
        </p:nvSpPr>
        <p:spPr>
          <a:xfrm>
            <a:off x="548640" y="6455664"/>
            <a:ext cx="8229600" cy="256032"/>
          </a:xfrm>
          <a:prstGeom prst="rect">
            <a:avLst/>
          </a:prstGeom>
          <a:noFill/>
        </p:spPr>
        <p:txBody>
          <a:bodyPr wrap="square" lIns="73152" rIns="73152" tIns="36576" bIns="36576" anchor="t">
            <a:spAutoFit/>
          </a:bodyPr>
          <a:lstStyle/>
          <a:p>
            <a:pPr algn="l">
              <a:lnSpc>
                <a:spcPct val="118000"/>
              </a:lnSpc>
            </a:pPr>
            <a:r>
              <a:rPr sz="1000" b="0">
                <a:solidFill>
                  <a:srgbClr val="8A9097"/>
                </a:solidFill>
                <a:latin typeface="BIZ UDゴシック"/>
                <a:ea typeface="BIZ UDゴシック"/>
              </a:rPr>
              <a:t>4年 理科　物の体積と温度　授業者説明</a:t>
            </a:r>
          </a:p>
        </p:txBody>
      </p:sp>
      <p:sp>
        <p:nvSpPr>
          <p:cNvPr id="6" name="ページ"/>
          <p:cNvSpPr txBox="1"/>
          <p:nvPr/>
        </p:nvSpPr>
        <p:spPr>
          <a:xfrm>
            <a:off x="10545775" y="6455664"/>
            <a:ext cx="1097280" cy="256032"/>
          </a:xfrm>
          <a:prstGeom prst="rect">
            <a:avLst/>
          </a:prstGeom>
          <a:noFill/>
        </p:spPr>
        <p:txBody>
          <a:bodyPr wrap="square" lIns="73152" rIns="73152" tIns="36576" bIns="36576" anchor="t">
            <a:spAutoFit/>
          </a:bodyPr>
          <a:lstStyle/>
          <a:p>
            <a:pPr algn="r">
              <a:lnSpc>
                <a:spcPct val="118000"/>
              </a:lnSpc>
            </a:pPr>
            <a:r>
              <a:rPr sz="1000" b="0">
                <a:solidFill>
                  <a:srgbClr val="8A9097"/>
                </a:solidFill>
                <a:latin typeface="BIZ UDゴシック"/>
                <a:ea typeface="BIZ UDゴシック"/>
              </a:rPr>
              <a:t>9</a:t>
            </a:r>
          </a:p>
        </p:txBody>
      </p:sp>
      <p:graphicFrame>
        <p:nvGraphicFramePr>
          <p:cNvPr id="7" name="Table 6"/>
          <p:cNvGraphicFramePr>
            <a:graphicFrameLocks noGrp="1"/>
          </p:cNvGraphicFramePr>
          <p:nvPr/>
        </p:nvGraphicFramePr>
        <p:xfrm>
          <a:off x="548640" y="1298448"/>
          <a:ext cx="11091672" cy="4151376"/>
        </p:xfrm>
        <a:graphic>
          <a:graphicData uri="http://schemas.openxmlformats.org/drawingml/2006/table">
            <a:tbl>
              <a:tblPr firstRow="1" bandRow="1">
                <a:tableStyleId>{5940675A-B579-460E-94D1-54222C63F5DA}</a:tableStyleId>
              </a:tblPr>
              <a:tblGrid>
                <a:gridCol w="1234440"/>
                <a:gridCol w="4206240"/>
                <a:gridCol w="5650992"/>
              </a:tblGrid>
              <a:tr h="365760">
                <a:tc>
                  <a:txBody>
                    <a:bodyPr wrap="square"/>
                    <a:lstStyle/>
                    <a:p>
                      <a:pPr>
                        <a:lnSpc>
                          <a:spcPct val="108000"/>
                        </a:lnSpc>
                      </a:pPr>
                      <a:r>
                        <a:rPr sz="1350" b="1">
                          <a:solidFill>
                            <a:srgbClr val="FFFFFF"/>
                          </a:solidFill>
                          <a:latin typeface="BIZ UDゴシック"/>
                          <a:ea typeface="BIZ UDゴシック"/>
                        </a:rPr>
                        <a:t>段階</a:t>
                      </a:r>
                    </a:p>
                  </a:txBody>
                  <a:tcPr marL="73152" marR="73152" marT="36576" marB="36576" anchor="ctr">
                    <a:solidFill>
                      <a:srgbClr val="1F2328"/>
                    </a:solidFill>
                  </a:tcPr>
                </a:tc>
                <a:tc>
                  <a:txBody>
                    <a:bodyPr wrap="square"/>
                    <a:lstStyle/>
                    <a:p>
                      <a:pPr>
                        <a:lnSpc>
                          <a:spcPct val="108000"/>
                        </a:lnSpc>
                      </a:pPr>
                      <a:r>
                        <a:rPr sz="1350" b="1">
                          <a:solidFill>
                            <a:srgbClr val="FFFFFF"/>
                          </a:solidFill>
                          <a:latin typeface="BIZ UDゴシック"/>
                          <a:ea typeface="BIZ UDゴシック"/>
                        </a:rPr>
                        <a:t>学習活動</a:t>
                      </a:r>
                    </a:p>
                  </a:txBody>
                  <a:tcPr marL="73152" marR="73152" marT="36576" marB="36576" anchor="ctr">
                    <a:solidFill>
                      <a:srgbClr val="1F2328"/>
                    </a:solidFill>
                  </a:tcPr>
                </a:tc>
                <a:tc>
                  <a:txBody>
                    <a:bodyPr wrap="square"/>
                    <a:lstStyle/>
                    <a:p>
                      <a:pPr>
                        <a:lnSpc>
                          <a:spcPct val="108000"/>
                        </a:lnSpc>
                      </a:pPr>
                      <a:r>
                        <a:rPr sz="1350" b="1">
                          <a:solidFill>
                            <a:srgbClr val="FFFFFF"/>
                          </a:solidFill>
                          <a:latin typeface="BIZ UDゴシック"/>
                          <a:ea typeface="BIZ UDゴシック"/>
                        </a:rPr>
                        <a:t>目指す児童の姿</a:t>
                      </a:r>
                    </a:p>
                  </a:txBody>
                  <a:tcPr marL="73152" marR="73152" marT="36576" marB="36576" anchor="ctr">
                    <a:solidFill>
                      <a:srgbClr val="1F2328"/>
                    </a:solidFill>
                  </a:tcPr>
                </a:tc>
              </a:tr>
              <a:tr h="786384">
                <a:tc>
                  <a:txBody>
                    <a:bodyPr wrap="square"/>
                    <a:lstStyle/>
                    <a:p>
                      <a:pPr>
                        <a:lnSpc>
                          <a:spcPct val="108000"/>
                        </a:lnSpc>
                      </a:pPr>
                      <a:r>
                        <a:rPr sz="1350" b="1">
                          <a:solidFill>
                            <a:srgbClr val="1F2328"/>
                          </a:solidFill>
                          <a:latin typeface="BIZ UDゴシック"/>
                          <a:ea typeface="BIZ UDゴシック"/>
                        </a:rPr>
                        <a:t>見いだす</a:t>
                      </a:r>
                    </a:p>
                    <a:p>
                      <a:pPr>
                        <a:lnSpc>
                          <a:spcPct val="108000"/>
                        </a:lnSpc>
                      </a:pPr>
                      <a:r>
                        <a:rPr sz="1350" b="1">
                          <a:solidFill>
                            <a:srgbClr val="1F2328"/>
                          </a:solidFill>
                          <a:latin typeface="BIZ UDゴシック"/>
                          <a:ea typeface="BIZ UDゴシック"/>
                        </a:rPr>
                        <a:t>つかむ</a:t>
                      </a:r>
                    </a:p>
                  </a:txBody>
                  <a:tcPr marL="73152" marR="73152" marT="36576" marB="36576" anchor="ctr">
                    <a:solidFill>
                      <a:srgbClr val="FFF3C4"/>
                    </a:solidFill>
                  </a:tcPr>
                </a:tc>
                <a:tc>
                  <a:txBody>
                    <a:bodyPr wrap="square"/>
                    <a:lstStyle/>
                    <a:p>
                      <a:pPr>
                        <a:lnSpc>
                          <a:spcPct val="108000"/>
                        </a:lnSpc>
                      </a:pPr>
                      <a:r>
                        <a:rPr sz="1350" b="0">
                          <a:solidFill>
                            <a:srgbClr val="1F2328"/>
                          </a:solidFill>
                          <a:latin typeface="BIZ UDゴシック"/>
                          <a:ea typeface="BIZ UDゴシック"/>
                        </a:rPr>
                        <a:t>分類表をふり返り 配られた玉にさわって</a:t>
                      </a:r>
                    </a:p>
                    <a:p>
                      <a:pPr>
                        <a:lnSpc>
                          <a:spcPct val="108000"/>
                        </a:lnSpc>
                      </a:pPr>
                      <a:r>
                        <a:rPr sz="1350" b="0">
                          <a:solidFill>
                            <a:srgbClr val="1F2328"/>
                          </a:solidFill>
                          <a:latin typeface="BIZ UDゴシック"/>
                          <a:ea typeface="BIZ UDゴシック"/>
                        </a:rPr>
                        <a:t>調べる物が金属だと気づき 問題をつくる</a:t>
                      </a:r>
                    </a:p>
                  </a:txBody>
                  <a:tcPr marL="73152" marR="73152" marT="36576" marB="36576" anchor="ctr">
                    <a:solidFill>
                      <a:srgbClr val="FFF3C4"/>
                    </a:solidFill>
                  </a:tcPr>
                </a:tc>
                <a:tc>
                  <a:txBody>
                    <a:bodyPr wrap="square"/>
                    <a:lstStyle/>
                    <a:p>
                      <a:pPr>
                        <a:lnSpc>
                          <a:spcPct val="108000"/>
                        </a:lnSpc>
                      </a:pPr>
                      <a:r>
                        <a:rPr sz="1350" b="0">
                          <a:solidFill>
                            <a:srgbClr val="1F2328"/>
                          </a:solidFill>
                          <a:latin typeface="BIZ UDゴシック"/>
                          <a:ea typeface="BIZ UDゴシック"/>
                        </a:rPr>
                        <a:t>空気と水について導きだした結論や分類表と関係付け</a:t>
                      </a:r>
                    </a:p>
                    <a:p>
                      <a:pPr>
                        <a:lnSpc>
                          <a:spcPct val="108000"/>
                        </a:lnSpc>
                      </a:pPr>
                      <a:r>
                        <a:rPr sz="1350" b="0">
                          <a:solidFill>
                            <a:srgbClr val="1F2328"/>
                          </a:solidFill>
                          <a:latin typeface="BIZ UDゴシック"/>
                          <a:ea typeface="BIZ UDゴシック"/>
                        </a:rPr>
                        <a:t>「金ぞくは あたためたり冷やしたりすると</a:t>
                      </a:r>
                    </a:p>
                    <a:p>
                      <a:pPr>
                        <a:lnSpc>
                          <a:spcPct val="108000"/>
                        </a:lnSpc>
                      </a:pPr>
                      <a:r>
                        <a:rPr sz="1350" b="0">
                          <a:solidFill>
                            <a:srgbClr val="1F2328"/>
                          </a:solidFill>
                          <a:latin typeface="BIZ UDゴシック"/>
                          <a:ea typeface="BIZ UDゴシック"/>
                        </a:rPr>
                        <a:t>体積は変わるのだろうか」という問題を見いだす</a:t>
                      </a:r>
                    </a:p>
                  </a:txBody>
                  <a:tcPr marL="73152" marR="73152" marT="36576" marB="36576" anchor="ctr">
                    <a:solidFill>
                      <a:srgbClr val="FFF3C4"/>
                    </a:solidFill>
                  </a:tcPr>
                </a:tc>
              </a:tr>
              <a:tr h="1024128">
                <a:tc>
                  <a:txBody>
                    <a:bodyPr wrap="square"/>
                    <a:lstStyle/>
                    <a:p>
                      <a:pPr>
                        <a:lnSpc>
                          <a:spcPct val="108000"/>
                        </a:lnSpc>
                      </a:pPr>
                      <a:r>
                        <a:rPr sz="1350" b="1">
                          <a:solidFill>
                            <a:srgbClr val="1F2328"/>
                          </a:solidFill>
                          <a:latin typeface="BIZ UDゴシック"/>
                          <a:ea typeface="BIZ UDゴシック"/>
                        </a:rPr>
                        <a:t>見通す</a:t>
                      </a:r>
                    </a:p>
                  </a:txBody>
                  <a:tcPr marL="73152" marR="73152" marT="36576" marB="36576" anchor="ctr">
                    <a:solidFill>
                      <a:srgbClr val="FFF3C4"/>
                    </a:solidFill>
                  </a:tcPr>
                </a:tc>
                <a:tc>
                  <a:txBody>
                    <a:bodyPr wrap="square"/>
                    <a:lstStyle/>
                    <a:p>
                      <a:pPr>
                        <a:lnSpc>
                          <a:spcPct val="108000"/>
                        </a:lnSpc>
                      </a:pPr>
                      <a:r>
                        <a:rPr sz="1350" b="0">
                          <a:solidFill>
                            <a:srgbClr val="1F2328"/>
                          </a:solidFill>
                          <a:latin typeface="BIZ UDゴシック"/>
                          <a:ea typeface="BIZ UDゴシック"/>
                        </a:rPr>
                        <a:t>空気や水の学習や生活経験を基に予想し</a:t>
                      </a:r>
                    </a:p>
                    <a:p>
                      <a:pPr>
                        <a:lnSpc>
                          <a:spcPct val="108000"/>
                        </a:lnSpc>
                      </a:pPr>
                      <a:r>
                        <a:rPr sz="1350" b="0">
                          <a:solidFill>
                            <a:srgbClr val="1F2328"/>
                          </a:solidFill>
                          <a:latin typeface="BIZ UDゴシック"/>
                          <a:ea typeface="BIZ UDゴシック"/>
                        </a:rPr>
                        <a:t>理由を伝え合う　空気や水の実験の方法を</a:t>
                      </a:r>
                    </a:p>
                    <a:p>
                      <a:pPr>
                        <a:lnSpc>
                          <a:spcPct val="108000"/>
                        </a:lnSpc>
                      </a:pPr>
                      <a:r>
                        <a:rPr sz="1350" b="0">
                          <a:solidFill>
                            <a:srgbClr val="1F2328"/>
                          </a:solidFill>
                          <a:latin typeface="BIZ UDゴシック"/>
                          <a:ea typeface="BIZ UDゴシック"/>
                        </a:rPr>
                        <a:t>基に 湯で調べる計画を立てる</a:t>
                      </a:r>
                    </a:p>
                  </a:txBody>
                  <a:tcPr marL="73152" marR="73152" marT="36576" marB="36576" anchor="ctr">
                    <a:solidFill>
                      <a:srgbClr val="FFF3C4"/>
                    </a:solidFill>
                  </a:tcPr>
                </a:tc>
                <a:tc>
                  <a:txBody>
                    <a:bodyPr wrap="square"/>
                    <a:lstStyle/>
                    <a:p>
                      <a:pPr>
                        <a:lnSpc>
                          <a:spcPct val="108000"/>
                        </a:lnSpc>
                      </a:pPr>
                      <a:r>
                        <a:rPr sz="1350" b="0">
                          <a:solidFill>
                            <a:srgbClr val="1F2328"/>
                          </a:solidFill>
                          <a:latin typeface="BIZ UDゴシック"/>
                          <a:ea typeface="BIZ UDゴシック"/>
                        </a:rPr>
                        <a:t>空気や水について導きだした結論や生活経験と関係付けて</a:t>
                      </a:r>
                    </a:p>
                    <a:p>
                      <a:pPr>
                        <a:lnSpc>
                          <a:spcPct val="108000"/>
                        </a:lnSpc>
                      </a:pPr>
                      <a:r>
                        <a:rPr sz="1350" b="0">
                          <a:solidFill>
                            <a:srgbClr val="1F2328"/>
                          </a:solidFill>
                          <a:latin typeface="BIZ UDゴシック"/>
                          <a:ea typeface="BIZ UDゴシック"/>
                        </a:rPr>
                        <a:t>根拠のある予想を発想し「大きくなるなら あたためた玉は</a:t>
                      </a:r>
                    </a:p>
                    <a:p>
                      <a:pPr>
                        <a:lnSpc>
                          <a:spcPct val="108000"/>
                        </a:lnSpc>
                      </a:pPr>
                      <a:r>
                        <a:rPr sz="1350" b="0">
                          <a:solidFill>
                            <a:srgbClr val="1F2328"/>
                          </a:solidFill>
                          <a:latin typeface="BIZ UDゴシック"/>
                          <a:ea typeface="BIZ UDゴシック"/>
                        </a:rPr>
                        <a:t>輪を通らなくなるはず」と結果を見通して 同じ方法で調べる</a:t>
                      </a:r>
                    </a:p>
                    <a:p>
                      <a:pPr>
                        <a:lnSpc>
                          <a:spcPct val="108000"/>
                        </a:lnSpc>
                      </a:pPr>
                      <a:r>
                        <a:rPr sz="1350" b="0">
                          <a:solidFill>
                            <a:srgbClr val="1F2328"/>
                          </a:solidFill>
                          <a:latin typeface="BIZ UDゴシック"/>
                          <a:ea typeface="BIZ UDゴシック"/>
                        </a:rPr>
                        <a:t>計画を立てている</a:t>
                      </a:r>
                    </a:p>
                  </a:txBody>
                  <a:tcPr marL="73152" marR="73152" marT="36576" marB="36576" anchor="ctr">
                    <a:solidFill>
                      <a:srgbClr val="FFF3C4"/>
                    </a:solidFill>
                  </a:tcPr>
                </a:tc>
              </a:tr>
              <a:tr h="841248">
                <a:tc>
                  <a:txBody>
                    <a:bodyPr wrap="square"/>
                    <a:lstStyle/>
                    <a:p>
                      <a:pPr>
                        <a:lnSpc>
                          <a:spcPct val="108000"/>
                        </a:lnSpc>
                      </a:pPr>
                      <a:r>
                        <a:rPr sz="1350" b="1">
                          <a:solidFill>
                            <a:srgbClr val="1F2328"/>
                          </a:solidFill>
                          <a:latin typeface="BIZ UDゴシック"/>
                          <a:ea typeface="BIZ UDゴシック"/>
                        </a:rPr>
                        <a:t>調べる</a:t>
                      </a:r>
                    </a:p>
                  </a:txBody>
                  <a:tcPr marL="73152" marR="73152" marT="36576" marB="36576" anchor="ctr">
                    <a:solidFill>
                      <a:srgbClr val="FFF3C4"/>
                    </a:solidFill>
                  </a:tcPr>
                </a:tc>
                <a:tc>
                  <a:txBody>
                    <a:bodyPr wrap="square"/>
                    <a:lstStyle/>
                    <a:p>
                      <a:pPr>
                        <a:lnSpc>
                          <a:spcPct val="108000"/>
                        </a:lnSpc>
                      </a:pPr>
                      <a:r>
                        <a:rPr sz="1350" b="0">
                          <a:solidFill>
                            <a:srgbClr val="1F2328"/>
                          </a:solidFill>
                          <a:latin typeface="BIZ UDゴシック"/>
                          <a:ea typeface="BIZ UDゴシック"/>
                        </a:rPr>
                        <a:t>湯であたためて 輪を通るか調べる（本時）</a:t>
                      </a:r>
                    </a:p>
                    <a:p>
                      <a:pPr>
                        <a:lnSpc>
                          <a:spcPct val="108000"/>
                        </a:lnSpc>
                      </a:pPr>
                      <a:r>
                        <a:rPr sz="1350" b="0">
                          <a:solidFill>
                            <a:srgbClr val="1F2328"/>
                          </a:solidFill>
                          <a:latin typeface="BIZ UDゴシック"/>
                          <a:ea typeface="BIZ UDゴシック"/>
                        </a:rPr>
                        <a:t>あたため方を見直し 炎で熱したり</a:t>
                      </a:r>
                    </a:p>
                    <a:p>
                      <a:pPr>
                        <a:lnSpc>
                          <a:spcPct val="108000"/>
                        </a:lnSpc>
                      </a:pPr>
                      <a:r>
                        <a:rPr sz="1350" b="0">
                          <a:solidFill>
                            <a:srgbClr val="1F2328"/>
                          </a:solidFill>
                          <a:latin typeface="BIZ UDゴシック"/>
                          <a:ea typeface="BIZ UDゴシック"/>
                        </a:rPr>
                        <a:t>冷やしたりする（実験3）</a:t>
                      </a:r>
                    </a:p>
                  </a:txBody>
                  <a:tcPr marL="73152" marR="73152" marT="36576" marB="36576" anchor="ctr">
                    <a:solidFill>
                      <a:srgbClr val="FFF3C4"/>
                    </a:solidFill>
                  </a:tcPr>
                </a:tc>
                <a:tc>
                  <a:txBody>
                    <a:bodyPr wrap="square"/>
                    <a:lstStyle/>
                    <a:p>
                      <a:pPr>
                        <a:lnSpc>
                          <a:spcPct val="108000"/>
                        </a:lnSpc>
                      </a:pPr>
                      <a:r>
                        <a:rPr sz="1350" b="0">
                          <a:solidFill>
                            <a:srgbClr val="1F2328"/>
                          </a:solidFill>
                          <a:latin typeface="BIZ UDゴシック"/>
                          <a:ea typeface="BIZ UDゴシック"/>
                        </a:rPr>
                        <a:t>湯でも玉が通った結果とレールのすきまとのずれから</a:t>
                      </a:r>
                    </a:p>
                    <a:p>
                      <a:pPr>
                        <a:lnSpc>
                          <a:spcPct val="108000"/>
                        </a:lnSpc>
                      </a:pPr>
                      <a:r>
                        <a:rPr sz="1350" b="0">
                          <a:solidFill>
                            <a:srgbClr val="1F2328"/>
                          </a:solidFill>
                          <a:latin typeface="BIZ UDゴシック"/>
                          <a:ea typeface="BIZ UDゴシック"/>
                        </a:rPr>
                        <a:t>あたため方を見直し 加熱器具を安全に扱いながら</a:t>
                      </a:r>
                    </a:p>
                    <a:p>
                      <a:pPr>
                        <a:lnSpc>
                          <a:spcPct val="108000"/>
                        </a:lnSpc>
                      </a:pPr>
                      <a:r>
                        <a:rPr sz="1350" b="0">
                          <a:solidFill>
                            <a:srgbClr val="1F2328"/>
                          </a:solidFill>
                          <a:latin typeface="BIZ UDゴシック"/>
                          <a:ea typeface="BIZ UDゴシック"/>
                        </a:rPr>
                        <a:t>結果を記録している</a:t>
                      </a:r>
                    </a:p>
                  </a:txBody>
                  <a:tcPr marL="73152" marR="73152" marT="36576" marB="36576" anchor="ctr">
                    <a:solidFill>
                      <a:srgbClr val="FFF3C4"/>
                    </a:solidFill>
                  </a:tcPr>
                </a:tc>
              </a:tr>
              <a:tr h="566928">
                <a:tc>
                  <a:txBody>
                    <a:bodyPr wrap="square"/>
                    <a:lstStyle/>
                    <a:p>
                      <a:pPr>
                        <a:lnSpc>
                          <a:spcPct val="108000"/>
                        </a:lnSpc>
                      </a:pPr>
                      <a:r>
                        <a:rPr sz="1350" b="1">
                          <a:solidFill>
                            <a:srgbClr val="1F2328"/>
                          </a:solidFill>
                          <a:latin typeface="BIZ UDゴシック"/>
                          <a:ea typeface="BIZ UDゴシック"/>
                        </a:rPr>
                        <a:t>まとめる</a:t>
                      </a:r>
                    </a:p>
                  </a:txBody>
                  <a:tcPr marL="73152" marR="73152" marT="36576" marB="36576" anchor="ctr">
                    <a:solidFill>
                      <a:srgbClr val="FFFFFF"/>
                    </a:solidFill>
                  </a:tcPr>
                </a:tc>
                <a:tc>
                  <a:txBody>
                    <a:bodyPr wrap="square"/>
                    <a:lstStyle/>
                    <a:p>
                      <a:pPr>
                        <a:lnSpc>
                          <a:spcPct val="108000"/>
                        </a:lnSpc>
                      </a:pPr>
                      <a:r>
                        <a:rPr sz="1350" b="0">
                          <a:solidFill>
                            <a:srgbClr val="1F2328"/>
                          </a:solidFill>
                          <a:latin typeface="BIZ UDゴシック"/>
                          <a:ea typeface="BIZ UDゴシック"/>
                        </a:rPr>
                        <a:t>結果を空気や水と比べ</a:t>
                      </a:r>
                    </a:p>
                    <a:p>
                      <a:pPr>
                        <a:lnSpc>
                          <a:spcPct val="108000"/>
                        </a:lnSpc>
                      </a:pPr>
                      <a:r>
                        <a:rPr sz="1350" b="0">
                          <a:solidFill>
                            <a:srgbClr val="1F2328"/>
                          </a:solidFill>
                          <a:latin typeface="BIZ UDゴシック"/>
                          <a:ea typeface="BIZ UDゴシック"/>
                        </a:rPr>
                        <a:t>増え方のちがいも合わせてまとめる</a:t>
                      </a:r>
                    </a:p>
                  </a:txBody>
                  <a:tcPr marL="73152" marR="73152" marT="36576" marB="36576" anchor="ctr">
                    <a:solidFill>
                      <a:srgbClr val="FFFFFF"/>
                    </a:solidFill>
                  </a:tcPr>
                </a:tc>
                <a:tc>
                  <a:txBody>
                    <a:bodyPr wrap="square"/>
                    <a:lstStyle/>
                    <a:p>
                      <a:pPr>
                        <a:lnSpc>
                          <a:spcPct val="108000"/>
                        </a:lnSpc>
                      </a:pPr>
                      <a:r>
                        <a:rPr sz="1350" b="0">
                          <a:solidFill>
                            <a:srgbClr val="1F2328"/>
                          </a:solidFill>
                          <a:latin typeface="BIZ UDゴシック"/>
                          <a:ea typeface="BIZ UDゴシック"/>
                        </a:rPr>
                        <a:t>根拠を基に「金ぞくも あたためると体積が大きくなり</a:t>
                      </a:r>
                    </a:p>
                    <a:p>
                      <a:pPr>
                        <a:lnSpc>
                          <a:spcPct val="108000"/>
                        </a:lnSpc>
                      </a:pPr>
                      <a:r>
                        <a:rPr sz="1350" b="0">
                          <a:solidFill>
                            <a:srgbClr val="1F2328"/>
                          </a:solidFill>
                          <a:latin typeface="BIZ UDゴシック"/>
                          <a:ea typeface="BIZ UDゴシック"/>
                        </a:rPr>
                        <a:t>冷やすと小さくなる」という妥当な結論を導きだし 表現している</a:t>
                      </a:r>
                    </a:p>
                  </a:txBody>
                  <a:tcPr marL="73152" marR="73152" marT="36576" marB="36576" anchor="ctr">
                    <a:solidFill>
                      <a:srgbClr val="FFFFFF"/>
                    </a:solidFill>
                  </a:tcPr>
                </a:tc>
              </a:tr>
              <a:tr h="566928">
                <a:tc>
                  <a:txBody>
                    <a:bodyPr wrap="square"/>
                    <a:lstStyle/>
                    <a:p>
                      <a:pPr>
                        <a:lnSpc>
                          <a:spcPct val="108000"/>
                        </a:lnSpc>
                      </a:pPr>
                      <a:r>
                        <a:rPr sz="1350" b="1">
                          <a:solidFill>
                            <a:srgbClr val="1F2328"/>
                          </a:solidFill>
                          <a:latin typeface="BIZ UDゴシック"/>
                          <a:ea typeface="BIZ UDゴシック"/>
                        </a:rPr>
                        <a:t>生かす</a:t>
                      </a:r>
                    </a:p>
                  </a:txBody>
                  <a:tcPr marL="73152" marR="73152" marT="36576" marB="36576" anchor="ctr">
                    <a:solidFill>
                      <a:srgbClr val="FFFFFF"/>
                    </a:solidFill>
                  </a:tcPr>
                </a:tc>
                <a:tc>
                  <a:txBody>
                    <a:bodyPr wrap="square"/>
                    <a:lstStyle/>
                    <a:p>
                      <a:pPr>
                        <a:lnSpc>
                          <a:spcPct val="108000"/>
                        </a:lnSpc>
                      </a:pPr>
                      <a:r>
                        <a:rPr sz="1350" b="0">
                          <a:solidFill>
                            <a:srgbClr val="1F2328"/>
                          </a:solidFill>
                          <a:latin typeface="BIZ UDゴシック"/>
                          <a:ea typeface="BIZ UDゴシック"/>
                        </a:rPr>
                        <a:t>学んだことが 日常生活の中で</a:t>
                      </a:r>
                    </a:p>
                    <a:p>
                      <a:pPr>
                        <a:lnSpc>
                          <a:spcPct val="108000"/>
                        </a:lnSpc>
                      </a:pPr>
                      <a:r>
                        <a:rPr sz="1350" b="0">
                          <a:solidFill>
                            <a:srgbClr val="1F2328"/>
                          </a:solidFill>
                          <a:latin typeface="BIZ UDゴシック"/>
                          <a:ea typeface="BIZ UDゴシック"/>
                        </a:rPr>
                        <a:t>どのように生かされているのかを考える</a:t>
                      </a:r>
                    </a:p>
                  </a:txBody>
                  <a:tcPr marL="73152" marR="73152" marT="36576" marB="36576" anchor="ctr">
                    <a:solidFill>
                      <a:srgbClr val="FFFFFF"/>
                    </a:solidFill>
                  </a:tcPr>
                </a:tc>
                <a:tc>
                  <a:txBody>
                    <a:bodyPr wrap="square"/>
                    <a:lstStyle/>
                    <a:p>
                      <a:pPr>
                        <a:lnSpc>
                          <a:spcPct val="108000"/>
                        </a:lnSpc>
                      </a:pPr>
                      <a:r>
                        <a:rPr sz="1350" b="0">
                          <a:solidFill>
                            <a:srgbClr val="1F2328"/>
                          </a:solidFill>
                          <a:latin typeface="BIZ UDゴシック"/>
                          <a:ea typeface="BIZ UDゴシック"/>
                        </a:rPr>
                        <a:t>焼きばめの事例について知り 科学によって</a:t>
                      </a:r>
                    </a:p>
                    <a:p>
                      <a:pPr>
                        <a:lnSpc>
                          <a:spcPct val="108000"/>
                        </a:lnSpc>
                      </a:pPr>
                      <a:r>
                        <a:rPr sz="1350" b="0">
                          <a:solidFill>
                            <a:srgbClr val="1F2328"/>
                          </a:solidFill>
                          <a:latin typeface="BIZ UDゴシック"/>
                          <a:ea typeface="BIZ UDゴシック"/>
                        </a:rPr>
                        <a:t>私たちの生活が支えられていることに気づき 表現している</a:t>
                      </a:r>
                    </a:p>
                  </a:txBody>
                  <a:tcPr marL="73152" marR="73152" marT="36576" marB="36576" anchor="ctr">
                    <a:solidFill>
                      <a:srgbClr val="FFFFFF"/>
                    </a:solidFill>
                  </a:tcPr>
                </a:tc>
              </a:tr>
            </a:tbl>
          </a:graphicData>
        </a:graphic>
      </p:graphicFrame>
      <p:sp>
        <p:nvSpPr>
          <p:cNvPr id="8" name="札_本時（第8時）"/>
          <p:cNvSpPr/>
          <p:nvPr/>
        </p:nvSpPr>
        <p:spPr>
          <a:xfrm>
            <a:off x="566928" y="5577840"/>
            <a:ext cx="1182370" cy="310896"/>
          </a:xfrm>
          <a:prstGeom prst="roundRect">
            <a:avLst>
              <a:gd name="adj" fmla="val 3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5568696"/>
            <a:ext cx="1182370" cy="329184"/>
          </a:xfrm>
          <a:prstGeom prst="rect">
            <a:avLst/>
          </a:prstGeom>
          <a:noFill/>
        </p:spPr>
        <p:txBody>
          <a:bodyPr wrap="square" lIns="73152" rIns="73152" tIns="36576" bIns="36576" anchor="ctr">
            <a:spAutoFit/>
          </a:bodyPr>
          <a:lstStyle/>
          <a:p>
            <a:pPr algn="ctr">
              <a:lnSpc>
                <a:spcPct val="118000"/>
              </a:lnSpc>
            </a:pPr>
            <a:r>
              <a:rPr sz="1100" b="1">
                <a:solidFill>
                  <a:srgbClr val="FFFFFF"/>
                </a:solidFill>
                <a:latin typeface="BIZ UDゴシック"/>
                <a:ea typeface="BIZ UDゴシック"/>
              </a:rPr>
              <a:t>本時（第8時）</a:t>
            </a:r>
          </a:p>
        </p:txBody>
      </p:sp>
      <p:sp>
        <p:nvSpPr>
          <p:cNvPr id="10" name="TextBox 9"/>
          <p:cNvSpPr txBox="1"/>
          <p:nvPr/>
        </p:nvSpPr>
        <p:spPr>
          <a:xfrm>
            <a:off x="2011680" y="5550408"/>
            <a:ext cx="9601200" cy="329184"/>
          </a:xfrm>
          <a:prstGeom prst="rect">
            <a:avLst/>
          </a:prstGeom>
          <a:noFill/>
        </p:spPr>
        <p:txBody>
          <a:bodyPr wrap="square" lIns="73152" rIns="73152" tIns="36576" bIns="36576" anchor="ctr">
            <a:spAutoFit/>
          </a:bodyPr>
          <a:lstStyle/>
          <a:p>
            <a:pPr algn="l">
              <a:lnSpc>
                <a:spcPct val="118000"/>
              </a:lnSpc>
            </a:pPr>
            <a:r>
              <a:rPr sz="1150" b="0">
                <a:solidFill>
                  <a:srgbClr val="5F646B"/>
                </a:solidFill>
                <a:latin typeface="BIZ UDゴシック"/>
                <a:ea typeface="BIZ UDゴシック"/>
              </a:rPr>
              <a:t>本時は「見いだす・つかむ」「見通す」と「調べる」の湯の実験まで　炎は第9時　「まとめる」と「生かす」は第10時</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区分"/>
          <p:cNvSpPr txBox="1"/>
          <p:nvPr/>
        </p:nvSpPr>
        <p:spPr>
          <a:xfrm>
            <a:off x="548640" y="274320"/>
            <a:ext cx="8229600" cy="292608"/>
          </a:xfrm>
          <a:prstGeom prst="rect">
            <a:avLst/>
          </a:prstGeom>
          <a:noFill/>
        </p:spPr>
        <p:txBody>
          <a:bodyPr wrap="square" lIns="73152" rIns="73152" tIns="36576" bIns="36576" anchor="t">
            <a:spAutoFit/>
          </a:bodyPr>
          <a:lstStyle/>
          <a:p>
            <a:pPr algn="l">
              <a:lnSpc>
                <a:spcPct val="118000"/>
              </a:lnSpc>
            </a:pPr>
            <a:r>
              <a:rPr sz="1300" b="1">
                <a:solidFill>
                  <a:srgbClr val="5F646B"/>
                </a:solidFill>
                <a:latin typeface="BIZ UDゴシック"/>
                <a:ea typeface="BIZ UDゴシック"/>
              </a:rPr>
              <a:t>本時　第8時</a:t>
            </a:r>
          </a:p>
        </p:txBody>
      </p:sp>
      <p:sp>
        <p:nvSpPr>
          <p:cNvPr id="3" name="見出しの線"/>
          <p:cNvSpPr/>
          <p:nvPr/>
        </p:nvSpPr>
        <p:spPr>
          <a:xfrm>
            <a:off x="548640" y="640080"/>
            <a:ext cx="82296" cy="47548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見出し"/>
          <p:cNvSpPr txBox="1"/>
          <p:nvPr/>
        </p:nvSpPr>
        <p:spPr>
          <a:xfrm>
            <a:off x="749808" y="566928"/>
            <a:ext cx="10972800" cy="603504"/>
          </a:xfrm>
          <a:prstGeom prst="rect">
            <a:avLst/>
          </a:prstGeom>
          <a:noFill/>
        </p:spPr>
        <p:txBody>
          <a:bodyPr wrap="square" lIns="73152" rIns="73152" tIns="36576" bIns="36576" anchor="ctr">
            <a:spAutoFit/>
          </a:bodyPr>
          <a:lstStyle/>
          <a:p>
            <a:pPr algn="l">
              <a:lnSpc>
                <a:spcPct val="118000"/>
              </a:lnSpc>
            </a:pPr>
            <a:r>
              <a:rPr sz="2800" b="1">
                <a:solidFill>
                  <a:srgbClr val="1F2328"/>
                </a:solidFill>
                <a:latin typeface="BIZ UDゴシック"/>
                <a:ea typeface="BIZ UDゴシック"/>
              </a:rPr>
              <a:t>本時の流れとずれを引き出す手立て</a:t>
            </a:r>
          </a:p>
        </p:txBody>
      </p:sp>
      <p:sp>
        <p:nvSpPr>
          <p:cNvPr id="5" name="足もと"/>
          <p:cNvSpPr txBox="1"/>
          <p:nvPr/>
        </p:nvSpPr>
        <p:spPr>
          <a:xfrm>
            <a:off x="548640" y="6455664"/>
            <a:ext cx="8229600" cy="256032"/>
          </a:xfrm>
          <a:prstGeom prst="rect">
            <a:avLst/>
          </a:prstGeom>
          <a:noFill/>
        </p:spPr>
        <p:txBody>
          <a:bodyPr wrap="square" lIns="73152" rIns="73152" tIns="36576" bIns="36576" anchor="t">
            <a:spAutoFit/>
          </a:bodyPr>
          <a:lstStyle/>
          <a:p>
            <a:pPr algn="l">
              <a:lnSpc>
                <a:spcPct val="118000"/>
              </a:lnSpc>
            </a:pPr>
            <a:r>
              <a:rPr sz="1000" b="0">
                <a:solidFill>
                  <a:srgbClr val="8A9097"/>
                </a:solidFill>
                <a:latin typeface="BIZ UDゴシック"/>
                <a:ea typeface="BIZ UDゴシック"/>
              </a:rPr>
              <a:t>4年 理科　物の体積と温度　授業者説明</a:t>
            </a:r>
          </a:p>
        </p:txBody>
      </p:sp>
      <p:sp>
        <p:nvSpPr>
          <p:cNvPr id="6" name="ページ"/>
          <p:cNvSpPr txBox="1"/>
          <p:nvPr/>
        </p:nvSpPr>
        <p:spPr>
          <a:xfrm>
            <a:off x="10545775" y="6455664"/>
            <a:ext cx="1097280" cy="256032"/>
          </a:xfrm>
          <a:prstGeom prst="rect">
            <a:avLst/>
          </a:prstGeom>
          <a:noFill/>
        </p:spPr>
        <p:txBody>
          <a:bodyPr wrap="square" lIns="73152" rIns="73152" tIns="36576" bIns="36576" anchor="t">
            <a:spAutoFit/>
          </a:bodyPr>
          <a:lstStyle/>
          <a:p>
            <a:pPr algn="r">
              <a:lnSpc>
                <a:spcPct val="118000"/>
              </a:lnSpc>
            </a:pPr>
            <a:r>
              <a:rPr sz="1000" b="0">
                <a:solidFill>
                  <a:srgbClr val="8A9097"/>
                </a:solidFill>
                <a:latin typeface="BIZ UDゴシック"/>
                <a:ea typeface="BIZ UDゴシック"/>
              </a:rPr>
              <a:t>10</a:t>
            </a:r>
          </a:p>
        </p:txBody>
      </p:sp>
      <p:sp>
        <p:nvSpPr>
          <p:cNvPr id="7" name="Rectangle 6"/>
          <p:cNvSpPr/>
          <p:nvPr/>
        </p:nvSpPr>
        <p:spPr>
          <a:xfrm>
            <a:off x="548640" y="1280160"/>
            <a:ext cx="11091672" cy="420624"/>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280160"/>
            <a:ext cx="914400" cy="420624"/>
          </a:xfrm>
          <a:prstGeom prst="rect">
            <a:avLst/>
          </a:prstGeom>
          <a:noFill/>
        </p:spPr>
        <p:txBody>
          <a:bodyPr wrap="square" lIns="73152" rIns="73152" tIns="36576" bIns="36576" anchor="ctr">
            <a:spAutoFit/>
          </a:bodyPr>
          <a:lstStyle/>
          <a:p>
            <a:pPr algn="l">
              <a:lnSpc>
                <a:spcPct val="118000"/>
              </a:lnSpc>
            </a:pPr>
            <a:r>
              <a:rPr sz="1400" b="1">
                <a:solidFill>
                  <a:srgbClr val="C2410C"/>
                </a:solidFill>
                <a:latin typeface="BIZ UDゴシック"/>
                <a:ea typeface="BIZ UDゴシック"/>
              </a:rPr>
              <a:t>問題</a:t>
            </a:r>
          </a:p>
        </p:txBody>
      </p:sp>
      <p:sp>
        <p:nvSpPr>
          <p:cNvPr id="9" name="TextBox 8"/>
          <p:cNvSpPr txBox="1"/>
          <p:nvPr/>
        </p:nvSpPr>
        <p:spPr>
          <a:xfrm>
            <a:off x="1554480" y="1280160"/>
            <a:ext cx="9966960" cy="420624"/>
          </a:xfrm>
          <a:prstGeom prst="rect">
            <a:avLst/>
          </a:prstGeom>
          <a:noFill/>
        </p:spPr>
        <p:txBody>
          <a:bodyPr wrap="square" lIns="73152" rIns="73152" tIns="36576" bIns="36576" anchor="ctr">
            <a:spAutoFit/>
          </a:bodyPr>
          <a:lstStyle/>
          <a:p>
            <a:pPr algn="l">
              <a:lnSpc>
                <a:spcPct val="118000"/>
              </a:lnSpc>
            </a:pPr>
            <a:r>
              <a:rPr sz="1700" b="1">
                <a:solidFill>
                  <a:srgbClr val="1F2328"/>
                </a:solidFill>
                <a:latin typeface="BIZ UDゴシック"/>
                <a:ea typeface="BIZ UDゴシック"/>
              </a:rPr>
              <a:t>金ぞくは あたためたり冷やしたりすると 体積は変わるのだろうか</a:t>
            </a:r>
          </a:p>
        </p:txBody>
      </p:sp>
      <p:sp>
        <p:nvSpPr>
          <p:cNvPr id="10" name="Rectangle 9"/>
          <p:cNvSpPr/>
          <p:nvPr/>
        </p:nvSpPr>
        <p:spPr>
          <a:xfrm>
            <a:off x="548640" y="1810512"/>
            <a:ext cx="3886200" cy="384048"/>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810512"/>
            <a:ext cx="365760" cy="384048"/>
          </a:xfrm>
          <a:prstGeom prst="rect">
            <a:avLst/>
          </a:prstGeom>
          <a:noFill/>
        </p:spPr>
        <p:txBody>
          <a:bodyPr wrap="square" lIns="73152" rIns="73152" tIns="36576" bIns="36576" anchor="ctr">
            <a:spAutoFit/>
          </a:bodyPr>
          <a:lstStyle/>
          <a:p>
            <a:pPr algn="l">
              <a:lnSpc>
                <a:spcPct val="118000"/>
              </a:lnSpc>
            </a:pPr>
            <a:r>
              <a:rPr sz="1600" b="1">
                <a:solidFill>
                  <a:srgbClr val="C2410C"/>
                </a:solidFill>
                <a:latin typeface="BIZ UDゴシック"/>
                <a:ea typeface="BIZ UDゴシック"/>
              </a:rPr>
              <a:t>1</a:t>
            </a:r>
          </a:p>
        </p:txBody>
      </p:sp>
      <p:sp>
        <p:nvSpPr>
          <p:cNvPr id="12" name="TextBox 11"/>
          <p:cNvSpPr txBox="1"/>
          <p:nvPr/>
        </p:nvSpPr>
        <p:spPr>
          <a:xfrm>
            <a:off x="1005840" y="1810512"/>
            <a:ext cx="3383280" cy="384048"/>
          </a:xfrm>
          <a:prstGeom prst="rect">
            <a:avLst/>
          </a:prstGeom>
          <a:noFill/>
        </p:spPr>
        <p:txBody>
          <a:bodyPr wrap="square" lIns="73152" rIns="73152" tIns="36576" bIns="36576" anchor="ctr">
            <a:spAutoFit/>
          </a:bodyPr>
          <a:lstStyle/>
          <a:p>
            <a:pPr algn="l">
              <a:lnSpc>
                <a:spcPct val="108000"/>
              </a:lnSpc>
            </a:pPr>
            <a:r>
              <a:rPr sz="1350" b="1">
                <a:solidFill>
                  <a:srgbClr val="1F2328"/>
                </a:solidFill>
                <a:latin typeface="BIZ UDゴシック"/>
                <a:ea typeface="BIZ UDゴシック"/>
              </a:rPr>
              <a:t>空気と水の学習をふり返る</a:t>
            </a:r>
          </a:p>
        </p:txBody>
      </p:sp>
      <p:sp>
        <p:nvSpPr>
          <p:cNvPr id="13" name="Rectangle 12"/>
          <p:cNvSpPr/>
          <p:nvPr/>
        </p:nvSpPr>
        <p:spPr>
          <a:xfrm>
            <a:off x="4526279" y="1810512"/>
            <a:ext cx="7114032" cy="384048"/>
          </a:xfrm>
          <a:prstGeom prst="rect">
            <a:avLst/>
          </a:prstGeom>
          <a:solidFill>
            <a:srgbClr val="FFFFFF"/>
          </a:solidFill>
          <a:ln w="9525">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1810512"/>
            <a:ext cx="6903720" cy="384048"/>
          </a:xfrm>
          <a:prstGeom prst="rect">
            <a:avLst/>
          </a:prstGeom>
          <a:noFill/>
        </p:spPr>
        <p:txBody>
          <a:bodyPr wrap="square" lIns="73152" rIns="73152" tIns="36576" bIns="36576" anchor="ctr">
            <a:spAutoFit/>
          </a:bodyPr>
          <a:lstStyle/>
          <a:p>
            <a:pPr algn="l">
              <a:lnSpc>
                <a:spcPct val="108000"/>
              </a:lnSpc>
            </a:pPr>
            <a:r>
              <a:rPr sz="1250" b="0">
                <a:solidFill>
                  <a:srgbClr val="1F2328"/>
                </a:solidFill>
                <a:latin typeface="BIZ UDゴシック"/>
                <a:ea typeface="BIZ UDゴシック"/>
              </a:rPr>
              <a:t>実験の写真と学びの足あとを掲示し 変わり方のちがいまで確かめる</a:t>
            </a:r>
          </a:p>
        </p:txBody>
      </p:sp>
      <p:sp>
        <p:nvSpPr>
          <p:cNvPr id="15" name="Rectangle 14"/>
          <p:cNvSpPr/>
          <p:nvPr/>
        </p:nvSpPr>
        <p:spPr>
          <a:xfrm>
            <a:off x="548640" y="2240280"/>
            <a:ext cx="3886200" cy="676656"/>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240280"/>
            <a:ext cx="365760" cy="676656"/>
          </a:xfrm>
          <a:prstGeom prst="rect">
            <a:avLst/>
          </a:prstGeom>
          <a:noFill/>
        </p:spPr>
        <p:txBody>
          <a:bodyPr wrap="square" lIns="73152" rIns="73152" tIns="36576" bIns="36576" anchor="ctr">
            <a:spAutoFit/>
          </a:bodyPr>
          <a:lstStyle/>
          <a:p>
            <a:pPr algn="l">
              <a:lnSpc>
                <a:spcPct val="118000"/>
              </a:lnSpc>
            </a:pPr>
            <a:r>
              <a:rPr sz="1600" b="1">
                <a:solidFill>
                  <a:srgbClr val="C2410C"/>
                </a:solidFill>
                <a:latin typeface="BIZ UDゴシック"/>
                <a:ea typeface="BIZ UDゴシック"/>
              </a:rPr>
              <a:t>2</a:t>
            </a:r>
          </a:p>
        </p:txBody>
      </p:sp>
      <p:sp>
        <p:nvSpPr>
          <p:cNvPr id="17" name="TextBox 16"/>
          <p:cNvSpPr txBox="1"/>
          <p:nvPr/>
        </p:nvSpPr>
        <p:spPr>
          <a:xfrm>
            <a:off x="1005840" y="2240280"/>
            <a:ext cx="3383280" cy="676656"/>
          </a:xfrm>
          <a:prstGeom prst="rect">
            <a:avLst/>
          </a:prstGeom>
          <a:noFill/>
        </p:spPr>
        <p:txBody>
          <a:bodyPr wrap="square" lIns="73152" rIns="73152" tIns="36576" bIns="36576" anchor="ctr">
            <a:spAutoFit/>
          </a:bodyPr>
          <a:lstStyle/>
          <a:p>
            <a:pPr algn="l">
              <a:lnSpc>
                <a:spcPct val="108000"/>
              </a:lnSpc>
            </a:pPr>
            <a:r>
              <a:rPr sz="1350" b="1">
                <a:solidFill>
                  <a:srgbClr val="1F2328"/>
                </a:solidFill>
                <a:latin typeface="BIZ UDゴシック"/>
                <a:ea typeface="BIZ UDゴシック"/>
              </a:rPr>
              <a:t>分類表を見て</a:t>
            </a:r>
          </a:p>
          <a:p>
            <a:pPr algn="l">
              <a:lnSpc>
                <a:spcPct val="108000"/>
              </a:lnSpc>
            </a:pPr>
            <a:r>
              <a:rPr sz="1350" b="1">
                <a:solidFill>
                  <a:srgbClr val="1F2328"/>
                </a:solidFill>
                <a:latin typeface="BIZ UDゴシック"/>
                <a:ea typeface="BIZ UDゴシック"/>
              </a:rPr>
              <a:t>金ぞくの玉にさわる</a:t>
            </a:r>
          </a:p>
        </p:txBody>
      </p:sp>
      <p:sp>
        <p:nvSpPr>
          <p:cNvPr id="18" name="Rectangle 17"/>
          <p:cNvSpPr/>
          <p:nvPr/>
        </p:nvSpPr>
        <p:spPr>
          <a:xfrm>
            <a:off x="4526279" y="2240280"/>
            <a:ext cx="7114032" cy="676656"/>
          </a:xfrm>
          <a:prstGeom prst="rect">
            <a:avLst/>
          </a:prstGeom>
          <a:solidFill>
            <a:srgbClr val="FDEEE4"/>
          </a:solidFill>
          <a:ln w="9525">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2240280"/>
            <a:ext cx="6903720" cy="676656"/>
          </a:xfrm>
          <a:prstGeom prst="rect">
            <a:avLst/>
          </a:prstGeom>
          <a:noFill/>
        </p:spPr>
        <p:txBody>
          <a:bodyPr wrap="square" lIns="73152" rIns="73152" tIns="36576" bIns="36576" anchor="ctr">
            <a:spAutoFit/>
          </a:bodyPr>
          <a:lstStyle/>
          <a:p>
            <a:pPr algn="l">
              <a:lnSpc>
                <a:spcPct val="108000"/>
              </a:lnSpc>
            </a:pPr>
            <a:r>
              <a:rPr sz="1250" b="0">
                <a:solidFill>
                  <a:srgbClr val="1F2328"/>
                </a:solidFill>
                <a:latin typeface="BIZ UDゴシック"/>
                <a:ea typeface="BIZ UDゴシック"/>
              </a:rPr>
              <a:t>玉だけを班に1つ配る（輪はまだ見せない）</a:t>
            </a:r>
          </a:p>
          <a:p>
            <a:pPr algn="l">
              <a:lnSpc>
                <a:spcPct val="108000"/>
              </a:lnSpc>
            </a:pPr>
            <a:r>
              <a:rPr sz="1250" b="0">
                <a:solidFill>
                  <a:srgbClr val="1F2328"/>
                </a:solidFill>
                <a:latin typeface="BIZ UDゴシック"/>
                <a:ea typeface="BIZ UDゴシック"/>
              </a:rPr>
              <a:t>「これは分類表のどこに入るかな」と問い 金ぞくだと気づかせる</a:t>
            </a:r>
          </a:p>
        </p:txBody>
      </p:sp>
      <p:sp>
        <p:nvSpPr>
          <p:cNvPr id="20" name="Rectangle 19"/>
          <p:cNvSpPr/>
          <p:nvPr/>
        </p:nvSpPr>
        <p:spPr>
          <a:xfrm>
            <a:off x="548640" y="2962656"/>
            <a:ext cx="3886200" cy="384048"/>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2962656"/>
            <a:ext cx="365760" cy="384048"/>
          </a:xfrm>
          <a:prstGeom prst="rect">
            <a:avLst/>
          </a:prstGeom>
          <a:noFill/>
        </p:spPr>
        <p:txBody>
          <a:bodyPr wrap="square" lIns="73152" rIns="73152" tIns="36576" bIns="36576" anchor="ctr">
            <a:spAutoFit/>
          </a:bodyPr>
          <a:lstStyle/>
          <a:p>
            <a:pPr algn="l">
              <a:lnSpc>
                <a:spcPct val="118000"/>
              </a:lnSpc>
            </a:pPr>
            <a:r>
              <a:rPr sz="1600" b="1">
                <a:solidFill>
                  <a:srgbClr val="C2410C"/>
                </a:solidFill>
                <a:latin typeface="BIZ UDゴシック"/>
                <a:ea typeface="BIZ UDゴシック"/>
              </a:rPr>
              <a:t>3</a:t>
            </a:r>
          </a:p>
        </p:txBody>
      </p:sp>
      <p:sp>
        <p:nvSpPr>
          <p:cNvPr id="22" name="TextBox 21"/>
          <p:cNvSpPr txBox="1"/>
          <p:nvPr/>
        </p:nvSpPr>
        <p:spPr>
          <a:xfrm>
            <a:off x="1005840" y="2962656"/>
            <a:ext cx="3383280" cy="384048"/>
          </a:xfrm>
          <a:prstGeom prst="rect">
            <a:avLst/>
          </a:prstGeom>
          <a:noFill/>
        </p:spPr>
        <p:txBody>
          <a:bodyPr wrap="square" lIns="73152" rIns="73152" tIns="36576" bIns="36576" anchor="ctr">
            <a:spAutoFit/>
          </a:bodyPr>
          <a:lstStyle/>
          <a:p>
            <a:pPr algn="l">
              <a:lnSpc>
                <a:spcPct val="108000"/>
              </a:lnSpc>
            </a:pPr>
            <a:r>
              <a:rPr sz="1350" b="1">
                <a:solidFill>
                  <a:srgbClr val="1F2328"/>
                </a:solidFill>
                <a:latin typeface="BIZ UDゴシック"/>
                <a:ea typeface="BIZ UDゴシック"/>
              </a:rPr>
              <a:t>問題をつくる</a:t>
            </a:r>
          </a:p>
        </p:txBody>
      </p:sp>
      <p:sp>
        <p:nvSpPr>
          <p:cNvPr id="23" name="Rectangle 22"/>
          <p:cNvSpPr/>
          <p:nvPr/>
        </p:nvSpPr>
        <p:spPr>
          <a:xfrm>
            <a:off x="4526279" y="2962656"/>
            <a:ext cx="7114032" cy="384048"/>
          </a:xfrm>
          <a:prstGeom prst="rect">
            <a:avLst/>
          </a:prstGeom>
          <a:solidFill>
            <a:srgbClr val="FFFFFF"/>
          </a:solidFill>
          <a:ln w="9525">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63440" y="2962656"/>
            <a:ext cx="6903720" cy="384048"/>
          </a:xfrm>
          <a:prstGeom prst="rect">
            <a:avLst/>
          </a:prstGeom>
          <a:noFill/>
        </p:spPr>
        <p:txBody>
          <a:bodyPr wrap="square" lIns="73152" rIns="73152" tIns="36576" bIns="36576" anchor="ctr">
            <a:spAutoFit/>
          </a:bodyPr>
          <a:lstStyle/>
          <a:p>
            <a:pPr algn="l">
              <a:lnSpc>
                <a:spcPct val="108000"/>
              </a:lnSpc>
            </a:pPr>
            <a:r>
              <a:rPr sz="1250" b="0">
                <a:solidFill>
                  <a:srgbClr val="1F2328"/>
                </a:solidFill>
                <a:latin typeface="BIZ UDゴシック"/>
                <a:ea typeface="BIZ UDゴシック"/>
              </a:rPr>
              <a:t>空気や水と同じ形の文で ［　　］に入る言葉を考える</a:t>
            </a:r>
          </a:p>
        </p:txBody>
      </p:sp>
      <p:sp>
        <p:nvSpPr>
          <p:cNvPr id="25" name="Rectangle 24"/>
          <p:cNvSpPr/>
          <p:nvPr/>
        </p:nvSpPr>
        <p:spPr>
          <a:xfrm>
            <a:off x="548640" y="3392424"/>
            <a:ext cx="3886200" cy="676656"/>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3392424"/>
            <a:ext cx="365760" cy="676656"/>
          </a:xfrm>
          <a:prstGeom prst="rect">
            <a:avLst/>
          </a:prstGeom>
          <a:noFill/>
        </p:spPr>
        <p:txBody>
          <a:bodyPr wrap="square" lIns="73152" rIns="73152" tIns="36576" bIns="36576" anchor="ctr">
            <a:spAutoFit/>
          </a:bodyPr>
          <a:lstStyle/>
          <a:p>
            <a:pPr algn="l">
              <a:lnSpc>
                <a:spcPct val="118000"/>
              </a:lnSpc>
            </a:pPr>
            <a:r>
              <a:rPr sz="1600" b="1">
                <a:solidFill>
                  <a:srgbClr val="C2410C"/>
                </a:solidFill>
                <a:latin typeface="BIZ UDゴシック"/>
                <a:ea typeface="BIZ UDゴシック"/>
              </a:rPr>
              <a:t>4</a:t>
            </a:r>
          </a:p>
        </p:txBody>
      </p:sp>
      <p:sp>
        <p:nvSpPr>
          <p:cNvPr id="27" name="TextBox 26"/>
          <p:cNvSpPr txBox="1"/>
          <p:nvPr/>
        </p:nvSpPr>
        <p:spPr>
          <a:xfrm>
            <a:off x="1005840" y="3392424"/>
            <a:ext cx="3383280" cy="676656"/>
          </a:xfrm>
          <a:prstGeom prst="rect">
            <a:avLst/>
          </a:prstGeom>
          <a:noFill/>
        </p:spPr>
        <p:txBody>
          <a:bodyPr wrap="square" lIns="73152" rIns="73152" tIns="36576" bIns="36576" anchor="ctr">
            <a:spAutoFit/>
          </a:bodyPr>
          <a:lstStyle/>
          <a:p>
            <a:pPr algn="l">
              <a:lnSpc>
                <a:spcPct val="108000"/>
              </a:lnSpc>
            </a:pPr>
            <a:r>
              <a:rPr sz="1350" b="1">
                <a:solidFill>
                  <a:srgbClr val="1F2328"/>
                </a:solidFill>
                <a:latin typeface="BIZ UDゴシック"/>
                <a:ea typeface="BIZ UDゴシック"/>
              </a:rPr>
              <a:t>予想を出し合う</a:t>
            </a:r>
          </a:p>
          <a:p>
            <a:pPr algn="l">
              <a:lnSpc>
                <a:spcPct val="108000"/>
              </a:lnSpc>
            </a:pPr>
            <a:r>
              <a:rPr sz="1350" b="1">
                <a:solidFill>
                  <a:srgbClr val="1F2328"/>
                </a:solidFill>
                <a:latin typeface="BIZ UDゴシック"/>
                <a:ea typeface="BIZ UDゴシック"/>
              </a:rPr>
              <a:t>ひとり 班 全体</a:t>
            </a:r>
          </a:p>
        </p:txBody>
      </p:sp>
      <p:sp>
        <p:nvSpPr>
          <p:cNvPr id="28" name="Rectangle 27"/>
          <p:cNvSpPr/>
          <p:nvPr/>
        </p:nvSpPr>
        <p:spPr>
          <a:xfrm>
            <a:off x="4526279" y="3392424"/>
            <a:ext cx="7114032" cy="676656"/>
          </a:xfrm>
          <a:prstGeom prst="rect">
            <a:avLst/>
          </a:prstGeom>
          <a:solidFill>
            <a:srgbClr val="FDEEE4"/>
          </a:solidFill>
          <a:ln w="9525">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3440" y="3392424"/>
            <a:ext cx="6903720" cy="676656"/>
          </a:xfrm>
          <a:prstGeom prst="rect">
            <a:avLst/>
          </a:prstGeom>
          <a:noFill/>
        </p:spPr>
        <p:txBody>
          <a:bodyPr wrap="square" lIns="73152" rIns="73152" tIns="36576" bIns="36576" anchor="ctr">
            <a:spAutoFit/>
          </a:bodyPr>
          <a:lstStyle/>
          <a:p>
            <a:pPr algn="l">
              <a:lnSpc>
                <a:spcPct val="108000"/>
              </a:lnSpc>
            </a:pPr>
            <a:r>
              <a:rPr sz="1250" b="0">
                <a:solidFill>
                  <a:srgbClr val="1F2328"/>
                </a:solidFill>
                <a:latin typeface="BIZ UDゴシック"/>
                <a:ea typeface="BIZ UDゴシック"/>
              </a:rPr>
              <a:t>付箋の色で予想を分ける（水色は変わる ピンクは変わらない）</a:t>
            </a:r>
          </a:p>
          <a:p>
            <a:pPr algn="l">
              <a:lnSpc>
                <a:spcPct val="108000"/>
              </a:lnSpc>
            </a:pPr>
            <a:r>
              <a:rPr sz="1250" b="0">
                <a:solidFill>
                  <a:srgbClr val="1F2328"/>
                </a:solidFill>
                <a:latin typeface="BIZ UDゴシック"/>
                <a:ea typeface="BIZ UDゴシック"/>
              </a:rPr>
              <a:t>理由を「空気や水の学習から」と「生活経験から」に分けて板書する</a:t>
            </a:r>
          </a:p>
        </p:txBody>
      </p:sp>
      <p:sp>
        <p:nvSpPr>
          <p:cNvPr id="30" name="Rectangle 29"/>
          <p:cNvSpPr/>
          <p:nvPr/>
        </p:nvSpPr>
        <p:spPr>
          <a:xfrm>
            <a:off x="548640" y="4114800"/>
            <a:ext cx="3886200" cy="676656"/>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4114800"/>
            <a:ext cx="365760" cy="676656"/>
          </a:xfrm>
          <a:prstGeom prst="rect">
            <a:avLst/>
          </a:prstGeom>
          <a:noFill/>
        </p:spPr>
        <p:txBody>
          <a:bodyPr wrap="square" lIns="73152" rIns="73152" tIns="36576" bIns="36576" anchor="ctr">
            <a:spAutoFit/>
          </a:bodyPr>
          <a:lstStyle/>
          <a:p>
            <a:pPr algn="l">
              <a:lnSpc>
                <a:spcPct val="118000"/>
              </a:lnSpc>
            </a:pPr>
            <a:r>
              <a:rPr sz="1600" b="1">
                <a:solidFill>
                  <a:srgbClr val="C2410C"/>
                </a:solidFill>
                <a:latin typeface="BIZ UDゴシック"/>
                <a:ea typeface="BIZ UDゴシック"/>
              </a:rPr>
              <a:t>5</a:t>
            </a:r>
          </a:p>
        </p:txBody>
      </p:sp>
      <p:sp>
        <p:nvSpPr>
          <p:cNvPr id="32" name="TextBox 31"/>
          <p:cNvSpPr txBox="1"/>
          <p:nvPr/>
        </p:nvSpPr>
        <p:spPr>
          <a:xfrm>
            <a:off x="1005840" y="4114800"/>
            <a:ext cx="3383280" cy="676656"/>
          </a:xfrm>
          <a:prstGeom prst="rect">
            <a:avLst/>
          </a:prstGeom>
          <a:noFill/>
        </p:spPr>
        <p:txBody>
          <a:bodyPr wrap="square" lIns="73152" rIns="73152" tIns="36576" bIns="36576" anchor="ctr">
            <a:spAutoFit/>
          </a:bodyPr>
          <a:lstStyle/>
          <a:p>
            <a:pPr algn="l">
              <a:lnSpc>
                <a:spcPct val="108000"/>
              </a:lnSpc>
            </a:pPr>
            <a:r>
              <a:rPr sz="1350" b="1">
                <a:solidFill>
                  <a:srgbClr val="1F2328"/>
                </a:solidFill>
                <a:latin typeface="BIZ UDゴシック"/>
                <a:ea typeface="BIZ UDゴシック"/>
              </a:rPr>
              <a:t>湯であたためて調べる</a:t>
            </a:r>
          </a:p>
        </p:txBody>
      </p:sp>
      <p:sp>
        <p:nvSpPr>
          <p:cNvPr id="33" name="Rectangle 32"/>
          <p:cNvSpPr/>
          <p:nvPr/>
        </p:nvSpPr>
        <p:spPr>
          <a:xfrm>
            <a:off x="4526279" y="4114800"/>
            <a:ext cx="7114032" cy="676656"/>
          </a:xfrm>
          <a:prstGeom prst="rect">
            <a:avLst/>
          </a:prstGeom>
          <a:solidFill>
            <a:srgbClr val="FFFFFF"/>
          </a:solidFill>
          <a:ln w="9525">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63440" y="4114800"/>
            <a:ext cx="6903720" cy="676656"/>
          </a:xfrm>
          <a:prstGeom prst="rect">
            <a:avLst/>
          </a:prstGeom>
          <a:noFill/>
        </p:spPr>
        <p:txBody>
          <a:bodyPr wrap="square" lIns="73152" rIns="73152" tIns="36576" bIns="36576" anchor="ctr">
            <a:spAutoFit/>
          </a:bodyPr>
          <a:lstStyle/>
          <a:p>
            <a:pPr algn="l">
              <a:lnSpc>
                <a:spcPct val="108000"/>
              </a:lnSpc>
            </a:pPr>
            <a:r>
              <a:rPr sz="1250" b="0">
                <a:solidFill>
                  <a:srgbClr val="1F2328"/>
                </a:solidFill>
                <a:latin typeface="BIZ UDゴシック"/>
                <a:ea typeface="BIZ UDゴシック"/>
              </a:rPr>
              <a:t>空気や水の方法を思い出して計画　ここで輪を見せ ぎりぎり通ることを確かめる</a:t>
            </a:r>
          </a:p>
          <a:p>
            <a:pPr algn="l">
              <a:lnSpc>
                <a:spcPct val="108000"/>
              </a:lnSpc>
            </a:pPr>
            <a:r>
              <a:rPr sz="1250" b="0">
                <a:solidFill>
                  <a:srgbClr val="1F2328"/>
                </a:solidFill>
                <a:latin typeface="BIZ UDゴシック"/>
                <a:ea typeface="BIZ UDゴシック"/>
              </a:rPr>
              <a:t>60℃くらいの湯に1分つけて輪に通す　どの班も玉は輪を通る</a:t>
            </a:r>
          </a:p>
        </p:txBody>
      </p:sp>
      <p:sp>
        <p:nvSpPr>
          <p:cNvPr id="35" name="Rectangle 34"/>
          <p:cNvSpPr/>
          <p:nvPr/>
        </p:nvSpPr>
        <p:spPr>
          <a:xfrm>
            <a:off x="548640" y="4837176"/>
            <a:ext cx="3886200" cy="676656"/>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4837176"/>
            <a:ext cx="365760" cy="676656"/>
          </a:xfrm>
          <a:prstGeom prst="rect">
            <a:avLst/>
          </a:prstGeom>
          <a:noFill/>
        </p:spPr>
        <p:txBody>
          <a:bodyPr wrap="square" lIns="73152" rIns="73152" tIns="36576" bIns="36576" anchor="ctr">
            <a:spAutoFit/>
          </a:bodyPr>
          <a:lstStyle/>
          <a:p>
            <a:pPr algn="l">
              <a:lnSpc>
                <a:spcPct val="118000"/>
              </a:lnSpc>
            </a:pPr>
            <a:r>
              <a:rPr sz="1600" b="1">
                <a:solidFill>
                  <a:srgbClr val="C2410C"/>
                </a:solidFill>
                <a:latin typeface="BIZ UDゴシック"/>
                <a:ea typeface="BIZ UDゴシック"/>
              </a:rPr>
              <a:t>6</a:t>
            </a:r>
          </a:p>
        </p:txBody>
      </p:sp>
      <p:sp>
        <p:nvSpPr>
          <p:cNvPr id="37" name="TextBox 36"/>
          <p:cNvSpPr txBox="1"/>
          <p:nvPr/>
        </p:nvSpPr>
        <p:spPr>
          <a:xfrm>
            <a:off x="1005840" y="4837176"/>
            <a:ext cx="3383280" cy="676656"/>
          </a:xfrm>
          <a:prstGeom prst="rect">
            <a:avLst/>
          </a:prstGeom>
          <a:noFill/>
        </p:spPr>
        <p:txBody>
          <a:bodyPr wrap="square" lIns="73152" rIns="73152" tIns="36576" bIns="36576" anchor="ctr">
            <a:spAutoFit/>
          </a:bodyPr>
          <a:lstStyle/>
          <a:p>
            <a:pPr algn="l">
              <a:lnSpc>
                <a:spcPct val="108000"/>
              </a:lnSpc>
            </a:pPr>
            <a:r>
              <a:rPr sz="1350" b="1">
                <a:solidFill>
                  <a:srgbClr val="1F2328"/>
                </a:solidFill>
                <a:latin typeface="BIZ UDゴシック"/>
                <a:ea typeface="BIZ UDゴシック"/>
              </a:rPr>
              <a:t>結果をふり返り</a:t>
            </a:r>
          </a:p>
          <a:p>
            <a:pPr algn="l">
              <a:lnSpc>
                <a:spcPct val="108000"/>
              </a:lnSpc>
            </a:pPr>
            <a:r>
              <a:rPr sz="1350" b="1">
                <a:solidFill>
                  <a:srgbClr val="1F2328"/>
                </a:solidFill>
                <a:latin typeface="BIZ UDゴシック"/>
                <a:ea typeface="BIZ UDゴシック"/>
              </a:rPr>
              <a:t>レールのすきまを見る</a:t>
            </a:r>
          </a:p>
        </p:txBody>
      </p:sp>
      <p:sp>
        <p:nvSpPr>
          <p:cNvPr id="38" name="Rectangle 37"/>
          <p:cNvSpPr/>
          <p:nvPr/>
        </p:nvSpPr>
        <p:spPr>
          <a:xfrm>
            <a:off x="4526279" y="4837176"/>
            <a:ext cx="7114032" cy="676656"/>
          </a:xfrm>
          <a:prstGeom prst="rect">
            <a:avLst/>
          </a:prstGeom>
          <a:solidFill>
            <a:srgbClr val="FDEEE4"/>
          </a:solidFill>
          <a:ln w="9525">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63440" y="4837176"/>
            <a:ext cx="6903720" cy="676656"/>
          </a:xfrm>
          <a:prstGeom prst="rect">
            <a:avLst/>
          </a:prstGeom>
          <a:noFill/>
        </p:spPr>
        <p:txBody>
          <a:bodyPr wrap="square" lIns="73152" rIns="73152" tIns="36576" bIns="36576" anchor="ctr">
            <a:spAutoFit/>
          </a:bodyPr>
          <a:lstStyle/>
          <a:p>
            <a:pPr algn="l">
              <a:lnSpc>
                <a:spcPct val="108000"/>
              </a:lnSpc>
            </a:pPr>
            <a:r>
              <a:rPr sz="1250" b="0">
                <a:solidFill>
                  <a:srgbClr val="1F2328"/>
                </a:solidFill>
                <a:latin typeface="BIZ UDゴシック"/>
                <a:ea typeface="BIZ UDゴシック"/>
              </a:rPr>
              <a:t>「この結果から どうまとめる？」　レールのつなぎ目の写真を提示</a:t>
            </a:r>
          </a:p>
          <a:p>
            <a:pPr algn="l">
              <a:lnSpc>
                <a:spcPct val="108000"/>
              </a:lnSpc>
            </a:pPr>
            <a:r>
              <a:rPr sz="1250" b="0">
                <a:solidFill>
                  <a:srgbClr val="1F2328"/>
                </a:solidFill>
                <a:latin typeface="BIZ UDゴシック"/>
                <a:ea typeface="BIZ UDゴシック"/>
              </a:rPr>
              <a:t>検証の方法をふり返った考えを価値づけ あたため方の見直しへ（第9時）</a:t>
            </a:r>
          </a:p>
        </p:txBody>
      </p:sp>
      <p:sp>
        <p:nvSpPr>
          <p:cNvPr id="40" name="Rectangle 39"/>
          <p:cNvSpPr/>
          <p:nvPr/>
        </p:nvSpPr>
        <p:spPr>
          <a:xfrm>
            <a:off x="548640" y="5669280"/>
            <a:ext cx="11091672" cy="658368"/>
          </a:xfrm>
          <a:prstGeom prst="rect">
            <a:avLst/>
          </a:prstGeom>
          <a:solidFill>
            <a:srgbClr val="FFFFFF"/>
          </a:solidFill>
          <a:ln w="15875">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669280"/>
            <a:ext cx="2194560" cy="658368"/>
          </a:xfrm>
          <a:prstGeom prst="rect">
            <a:avLst/>
          </a:prstGeom>
          <a:noFill/>
        </p:spPr>
        <p:txBody>
          <a:bodyPr wrap="square" lIns="73152" rIns="73152" tIns="36576" bIns="36576" anchor="ctr">
            <a:spAutoFit/>
          </a:bodyPr>
          <a:lstStyle/>
          <a:p>
            <a:pPr algn="l">
              <a:lnSpc>
                <a:spcPct val="105000"/>
              </a:lnSpc>
            </a:pPr>
            <a:r>
              <a:rPr sz="1150" b="1">
                <a:solidFill>
                  <a:srgbClr val="C2410C"/>
                </a:solidFill>
                <a:latin typeface="BIZ UDゴシック"/>
                <a:ea typeface="BIZ UDゴシック"/>
              </a:rPr>
              <a:t>評価規準</a:t>
            </a:r>
          </a:p>
          <a:p>
            <a:pPr algn="l">
              <a:lnSpc>
                <a:spcPct val="105000"/>
              </a:lnSpc>
            </a:pPr>
            <a:r>
              <a:rPr sz="1150" b="1">
                <a:solidFill>
                  <a:srgbClr val="C2410C"/>
                </a:solidFill>
                <a:latin typeface="BIZ UDゴシック"/>
                <a:ea typeface="BIZ UDゴシック"/>
              </a:rPr>
              <a:t>思考・判断・表現</a:t>
            </a:r>
          </a:p>
        </p:txBody>
      </p:sp>
      <p:sp>
        <p:nvSpPr>
          <p:cNvPr id="42" name="TextBox 41"/>
          <p:cNvSpPr txBox="1"/>
          <p:nvPr/>
        </p:nvSpPr>
        <p:spPr>
          <a:xfrm>
            <a:off x="2834640" y="5669280"/>
            <a:ext cx="8686800" cy="658368"/>
          </a:xfrm>
          <a:prstGeom prst="rect">
            <a:avLst/>
          </a:prstGeom>
          <a:noFill/>
        </p:spPr>
        <p:txBody>
          <a:bodyPr wrap="square" lIns="73152" rIns="73152" tIns="36576" bIns="36576" anchor="ctr">
            <a:spAutoFit/>
          </a:bodyPr>
          <a:lstStyle/>
          <a:p>
            <a:pPr algn="l">
              <a:lnSpc>
                <a:spcPct val="108000"/>
              </a:lnSpc>
            </a:pPr>
            <a:r>
              <a:rPr sz="1250" b="0">
                <a:solidFill>
                  <a:srgbClr val="1F2328"/>
                </a:solidFill>
                <a:latin typeface="BIZ UDゴシック"/>
                <a:ea typeface="BIZ UDゴシック"/>
              </a:rPr>
              <a:t>既習の内容や生活経験と関係付けて 根拠のある予想を表現している（付箋 発言）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区分"/>
          <p:cNvSpPr txBox="1"/>
          <p:nvPr/>
        </p:nvSpPr>
        <p:spPr>
          <a:xfrm>
            <a:off x="548640" y="274320"/>
            <a:ext cx="8229600" cy="292608"/>
          </a:xfrm>
          <a:prstGeom prst="rect">
            <a:avLst/>
          </a:prstGeom>
          <a:noFill/>
        </p:spPr>
        <p:txBody>
          <a:bodyPr wrap="square" lIns="73152" rIns="73152" tIns="36576" bIns="36576" anchor="t">
            <a:spAutoFit/>
          </a:bodyPr>
          <a:lstStyle/>
          <a:p>
            <a:pPr algn="l">
              <a:lnSpc>
                <a:spcPct val="118000"/>
              </a:lnSpc>
            </a:pPr>
            <a:r>
              <a:rPr sz="1300" b="1">
                <a:solidFill>
                  <a:srgbClr val="5F646B"/>
                </a:solidFill>
                <a:latin typeface="BIZ UDゴシック"/>
                <a:ea typeface="BIZ UDゴシック"/>
              </a:rPr>
              <a:t>本時の展開　場面1</a:t>
            </a:r>
          </a:p>
        </p:txBody>
      </p:sp>
      <p:sp>
        <p:nvSpPr>
          <p:cNvPr id="3" name="見出しの線"/>
          <p:cNvSpPr/>
          <p:nvPr/>
        </p:nvSpPr>
        <p:spPr>
          <a:xfrm>
            <a:off x="548640" y="640080"/>
            <a:ext cx="82296" cy="47548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見出し"/>
          <p:cNvSpPr txBox="1"/>
          <p:nvPr/>
        </p:nvSpPr>
        <p:spPr>
          <a:xfrm>
            <a:off x="749808" y="566928"/>
            <a:ext cx="10972800" cy="603504"/>
          </a:xfrm>
          <a:prstGeom prst="rect">
            <a:avLst/>
          </a:prstGeom>
          <a:noFill/>
        </p:spPr>
        <p:txBody>
          <a:bodyPr wrap="square" lIns="73152" rIns="73152" tIns="36576" bIns="36576" anchor="ctr">
            <a:spAutoFit/>
          </a:bodyPr>
          <a:lstStyle/>
          <a:p>
            <a:pPr algn="l">
              <a:lnSpc>
                <a:spcPct val="118000"/>
              </a:lnSpc>
            </a:pPr>
            <a:r>
              <a:rPr sz="2800" b="1">
                <a:solidFill>
                  <a:srgbClr val="1F2328"/>
                </a:solidFill>
                <a:latin typeface="BIZ UDゴシック"/>
                <a:ea typeface="BIZ UDゴシック"/>
              </a:rPr>
              <a:t>空気と水の学習をふり返る</a:t>
            </a:r>
          </a:p>
        </p:txBody>
      </p:sp>
      <p:sp>
        <p:nvSpPr>
          <p:cNvPr id="5" name="足もと"/>
          <p:cNvSpPr txBox="1"/>
          <p:nvPr/>
        </p:nvSpPr>
        <p:spPr>
          <a:xfrm>
            <a:off x="548640" y="6455664"/>
            <a:ext cx="8229600" cy="256032"/>
          </a:xfrm>
          <a:prstGeom prst="rect">
            <a:avLst/>
          </a:prstGeom>
          <a:noFill/>
        </p:spPr>
        <p:txBody>
          <a:bodyPr wrap="square" lIns="73152" rIns="73152" tIns="36576" bIns="36576" anchor="t">
            <a:spAutoFit/>
          </a:bodyPr>
          <a:lstStyle/>
          <a:p>
            <a:pPr algn="l">
              <a:lnSpc>
                <a:spcPct val="118000"/>
              </a:lnSpc>
            </a:pPr>
            <a:r>
              <a:rPr sz="1000" b="0">
                <a:solidFill>
                  <a:srgbClr val="8A9097"/>
                </a:solidFill>
                <a:latin typeface="BIZ UDゴシック"/>
                <a:ea typeface="BIZ UDゴシック"/>
              </a:rPr>
              <a:t>4年 理科　物の体積と温度　授業者説明</a:t>
            </a:r>
          </a:p>
        </p:txBody>
      </p:sp>
      <p:sp>
        <p:nvSpPr>
          <p:cNvPr id="6" name="ページ"/>
          <p:cNvSpPr txBox="1"/>
          <p:nvPr/>
        </p:nvSpPr>
        <p:spPr>
          <a:xfrm>
            <a:off x="10545775" y="6455664"/>
            <a:ext cx="1097280" cy="256032"/>
          </a:xfrm>
          <a:prstGeom prst="rect">
            <a:avLst/>
          </a:prstGeom>
          <a:noFill/>
        </p:spPr>
        <p:txBody>
          <a:bodyPr wrap="square" lIns="73152" rIns="73152" tIns="36576" bIns="36576" anchor="t">
            <a:spAutoFit/>
          </a:bodyPr>
          <a:lstStyle/>
          <a:p>
            <a:pPr algn="r">
              <a:lnSpc>
                <a:spcPct val="118000"/>
              </a:lnSpc>
            </a:pPr>
            <a:r>
              <a:rPr sz="1000" b="0">
                <a:solidFill>
                  <a:srgbClr val="8A9097"/>
                </a:solidFill>
                <a:latin typeface="BIZ UDゴシック"/>
                <a:ea typeface="BIZ UDゴシック"/>
              </a:rPr>
              <a:t>11</a:t>
            </a:r>
          </a:p>
        </p:txBody>
      </p:sp>
      <p:sp>
        <p:nvSpPr>
          <p:cNvPr id="7" name="札_先生"/>
          <p:cNvSpPr/>
          <p:nvPr/>
        </p:nvSpPr>
        <p:spPr>
          <a:xfrm>
            <a:off x="548640" y="1298448"/>
            <a:ext cx="604520" cy="310896"/>
          </a:xfrm>
          <a:prstGeom prst="roundRect">
            <a:avLst>
              <a:gd name="adj" fmla="val 3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289304"/>
            <a:ext cx="604520" cy="329184"/>
          </a:xfrm>
          <a:prstGeom prst="rect">
            <a:avLst/>
          </a:prstGeom>
          <a:noFill/>
        </p:spPr>
        <p:txBody>
          <a:bodyPr wrap="square" lIns="73152" rIns="73152" tIns="36576" bIns="36576" anchor="ctr">
            <a:spAutoFit/>
          </a:bodyPr>
          <a:lstStyle/>
          <a:p>
            <a:pPr algn="ctr">
              <a:lnSpc>
                <a:spcPct val="118000"/>
              </a:lnSpc>
            </a:pPr>
            <a:r>
              <a:rPr sz="1300" b="1">
                <a:solidFill>
                  <a:srgbClr val="FFFFFF"/>
                </a:solidFill>
                <a:latin typeface="BIZ UDゴシック"/>
                <a:ea typeface="BIZ UDゴシック"/>
              </a:rPr>
              <a:t>先生</a:t>
            </a:r>
          </a:p>
        </p:txBody>
      </p:sp>
      <p:sp>
        <p:nvSpPr>
          <p:cNvPr id="9" name="札_予想される子どもの反応"/>
          <p:cNvSpPr/>
          <p:nvPr/>
        </p:nvSpPr>
        <p:spPr>
          <a:xfrm>
            <a:off x="6080759" y="1298448"/>
            <a:ext cx="2090419" cy="310896"/>
          </a:xfrm>
          <a:prstGeom prst="roundRect">
            <a:avLst>
              <a:gd name="adj" fmla="val 30000"/>
            </a:avLst>
          </a:prstGeom>
          <a:solidFill>
            <a:srgbClr val="5F6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59" y="1289304"/>
            <a:ext cx="2090419" cy="329184"/>
          </a:xfrm>
          <a:prstGeom prst="rect">
            <a:avLst/>
          </a:prstGeom>
          <a:noFill/>
        </p:spPr>
        <p:txBody>
          <a:bodyPr wrap="square" lIns="73152" rIns="73152" tIns="36576" bIns="36576" anchor="ctr">
            <a:spAutoFit/>
          </a:bodyPr>
          <a:lstStyle/>
          <a:p>
            <a:pPr algn="ctr">
              <a:lnSpc>
                <a:spcPct val="118000"/>
              </a:lnSpc>
            </a:pPr>
            <a:r>
              <a:rPr sz="1300" b="1">
                <a:solidFill>
                  <a:srgbClr val="FFFFFF"/>
                </a:solidFill>
                <a:latin typeface="BIZ UDゴシック"/>
                <a:ea typeface="BIZ UDゴシック"/>
              </a:rPr>
              <a:t>予想される子どもの反応</a:t>
            </a:r>
          </a:p>
        </p:txBody>
      </p:sp>
      <p:sp>
        <p:nvSpPr>
          <p:cNvPr id="11" name="Rounded Rectangle 10"/>
          <p:cNvSpPr/>
          <p:nvPr/>
        </p:nvSpPr>
        <p:spPr>
          <a:xfrm>
            <a:off x="548640" y="1737360"/>
            <a:ext cx="5257800" cy="777240"/>
          </a:xfrm>
          <a:prstGeom prst="roundRect">
            <a:avLst>
              <a:gd name="adj" fmla="val 12000"/>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1737360"/>
            <a:ext cx="5038344" cy="777240"/>
          </a:xfrm>
          <a:prstGeom prst="rect">
            <a:avLst/>
          </a:prstGeom>
          <a:noFill/>
        </p:spPr>
        <p:txBody>
          <a:bodyPr wrap="square" lIns="73152" rIns="73152" tIns="36576" bIns="36576" anchor="ctr">
            <a:spAutoFit/>
          </a:bodyPr>
          <a:lstStyle/>
          <a:p>
            <a:pPr algn="l">
              <a:lnSpc>
                <a:spcPct val="108000"/>
              </a:lnSpc>
            </a:pPr>
            <a:r>
              <a:rPr sz="1400" b="1">
                <a:solidFill>
                  <a:srgbClr val="1F2328"/>
                </a:solidFill>
                <a:latin typeface="BIZ UDゴシック"/>
                <a:ea typeface="BIZ UDゴシック"/>
              </a:rPr>
              <a:t>空気と水は あたためると</a:t>
            </a:r>
          </a:p>
          <a:p>
            <a:pPr algn="l">
              <a:lnSpc>
                <a:spcPct val="108000"/>
              </a:lnSpc>
            </a:pPr>
            <a:r>
              <a:rPr sz="1400" b="1">
                <a:solidFill>
                  <a:srgbClr val="1F2328"/>
                </a:solidFill>
                <a:latin typeface="BIZ UDゴシック"/>
                <a:ea typeface="BIZ UDゴシック"/>
              </a:rPr>
              <a:t>どうなったかな</a:t>
            </a:r>
          </a:p>
        </p:txBody>
      </p:sp>
      <p:sp>
        <p:nvSpPr>
          <p:cNvPr id="13" name="Rounded Rectangle 12"/>
          <p:cNvSpPr/>
          <p:nvPr/>
        </p:nvSpPr>
        <p:spPr>
          <a:xfrm>
            <a:off x="548640" y="2624328"/>
            <a:ext cx="5257800" cy="777240"/>
          </a:xfrm>
          <a:prstGeom prst="roundRect">
            <a:avLst>
              <a:gd name="adj" fmla="val 12000"/>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624328"/>
            <a:ext cx="5038344" cy="777240"/>
          </a:xfrm>
          <a:prstGeom prst="rect">
            <a:avLst/>
          </a:prstGeom>
          <a:noFill/>
        </p:spPr>
        <p:txBody>
          <a:bodyPr wrap="square" lIns="73152" rIns="73152" tIns="36576" bIns="36576" anchor="ctr">
            <a:spAutoFit/>
          </a:bodyPr>
          <a:lstStyle/>
          <a:p>
            <a:pPr algn="l">
              <a:lnSpc>
                <a:spcPct val="108000"/>
              </a:lnSpc>
            </a:pPr>
            <a:r>
              <a:rPr sz="1400" b="1">
                <a:solidFill>
                  <a:srgbClr val="1F2328"/>
                </a:solidFill>
                <a:latin typeface="BIZ UDゴシック"/>
                <a:ea typeface="BIZ UDゴシック"/>
              </a:rPr>
              <a:t>実験の写真と学びの足あとを</a:t>
            </a:r>
          </a:p>
          <a:p>
            <a:pPr algn="l">
              <a:lnSpc>
                <a:spcPct val="108000"/>
              </a:lnSpc>
            </a:pPr>
            <a:r>
              <a:rPr sz="1400" b="1">
                <a:solidFill>
                  <a:srgbClr val="1F2328"/>
                </a:solidFill>
                <a:latin typeface="BIZ UDゴシック"/>
                <a:ea typeface="BIZ UDゴシック"/>
              </a:rPr>
              <a:t>見てみよう</a:t>
            </a:r>
          </a:p>
        </p:txBody>
      </p:sp>
      <p:sp>
        <p:nvSpPr>
          <p:cNvPr id="15" name="Rounded Rectangle 14"/>
          <p:cNvSpPr/>
          <p:nvPr/>
        </p:nvSpPr>
        <p:spPr>
          <a:xfrm>
            <a:off x="6080759" y="1737360"/>
            <a:ext cx="5559552" cy="777240"/>
          </a:xfrm>
          <a:prstGeom prst="roundRect">
            <a:avLst>
              <a:gd name="adj" fmla="val 12000"/>
            </a:avLst>
          </a:prstGeom>
          <a:solidFill>
            <a:srgbClr val="FFFFFF"/>
          </a:solidFill>
          <a:ln w="12700">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0488" y="1737360"/>
            <a:ext cx="5340096" cy="777240"/>
          </a:xfrm>
          <a:prstGeom prst="rect">
            <a:avLst/>
          </a:prstGeom>
          <a:noFill/>
        </p:spPr>
        <p:txBody>
          <a:bodyPr wrap="square" lIns="73152" rIns="73152" tIns="36576" bIns="36576" anchor="ctr">
            <a:spAutoFit/>
          </a:bodyPr>
          <a:lstStyle/>
          <a:p>
            <a:pPr algn="l">
              <a:lnSpc>
                <a:spcPct val="108000"/>
              </a:lnSpc>
            </a:pPr>
            <a:r>
              <a:rPr sz="1400" b="0">
                <a:solidFill>
                  <a:srgbClr val="1F2328"/>
                </a:solidFill>
                <a:latin typeface="BIZ UDゴシック"/>
                <a:ea typeface="BIZ UDゴシック"/>
              </a:rPr>
              <a:t>空気も水も 体積が大きくなった</a:t>
            </a:r>
          </a:p>
          <a:p>
            <a:pPr algn="l">
              <a:lnSpc>
                <a:spcPct val="108000"/>
              </a:lnSpc>
            </a:pPr>
            <a:r>
              <a:rPr sz="1400" b="0">
                <a:solidFill>
                  <a:srgbClr val="1F2328"/>
                </a:solidFill>
                <a:latin typeface="BIZ UDゴシック"/>
                <a:ea typeface="BIZ UDゴシック"/>
              </a:rPr>
              <a:t>冷やすと小さくなった</a:t>
            </a:r>
          </a:p>
        </p:txBody>
      </p:sp>
      <p:sp>
        <p:nvSpPr>
          <p:cNvPr id="17" name="Rounded Rectangle 16"/>
          <p:cNvSpPr/>
          <p:nvPr/>
        </p:nvSpPr>
        <p:spPr>
          <a:xfrm>
            <a:off x="6080759" y="2624328"/>
            <a:ext cx="5559552" cy="507491"/>
          </a:xfrm>
          <a:prstGeom prst="roundRect">
            <a:avLst>
              <a:gd name="adj" fmla="val 12000"/>
            </a:avLst>
          </a:prstGeom>
          <a:solidFill>
            <a:srgbClr val="FFFFFF"/>
          </a:solidFill>
          <a:ln w="12700">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2624328"/>
            <a:ext cx="5340096" cy="507491"/>
          </a:xfrm>
          <a:prstGeom prst="rect">
            <a:avLst/>
          </a:prstGeom>
          <a:noFill/>
        </p:spPr>
        <p:txBody>
          <a:bodyPr wrap="square" lIns="73152" rIns="73152" tIns="36576" bIns="36576" anchor="ctr">
            <a:spAutoFit/>
          </a:bodyPr>
          <a:lstStyle/>
          <a:p>
            <a:pPr algn="l">
              <a:lnSpc>
                <a:spcPct val="108000"/>
              </a:lnSpc>
            </a:pPr>
            <a:r>
              <a:rPr sz="1400" b="0">
                <a:solidFill>
                  <a:srgbClr val="1F2328"/>
                </a:solidFill>
                <a:latin typeface="BIZ UDゴシック"/>
                <a:ea typeface="BIZ UDゴシック"/>
              </a:rPr>
              <a:t>水は 空気より少しだけだった</a:t>
            </a:r>
          </a:p>
        </p:txBody>
      </p:sp>
      <p:sp>
        <p:nvSpPr>
          <p:cNvPr id="19" name="Rectangle 18"/>
          <p:cNvSpPr/>
          <p:nvPr/>
        </p:nvSpPr>
        <p:spPr>
          <a:xfrm>
            <a:off x="548640" y="5486400"/>
            <a:ext cx="11091672" cy="841248"/>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486400"/>
            <a:ext cx="1097280" cy="841248"/>
          </a:xfrm>
          <a:prstGeom prst="rect">
            <a:avLst/>
          </a:prstGeom>
          <a:noFill/>
        </p:spPr>
        <p:txBody>
          <a:bodyPr wrap="square" lIns="73152" rIns="73152" tIns="36576" bIns="36576" anchor="ctr">
            <a:spAutoFit/>
          </a:bodyPr>
          <a:lstStyle/>
          <a:p>
            <a:pPr algn="l">
              <a:lnSpc>
                <a:spcPct val="118000"/>
              </a:lnSpc>
            </a:pPr>
            <a:r>
              <a:rPr sz="1400" b="1">
                <a:solidFill>
                  <a:srgbClr val="C2410C"/>
                </a:solidFill>
                <a:latin typeface="BIZ UDゴシック"/>
                <a:ea typeface="BIZ UDゴシック"/>
              </a:rPr>
              <a:t>手立て</a:t>
            </a:r>
          </a:p>
        </p:txBody>
      </p:sp>
      <p:sp>
        <p:nvSpPr>
          <p:cNvPr id="21" name="TextBox 20"/>
          <p:cNvSpPr txBox="1"/>
          <p:nvPr/>
        </p:nvSpPr>
        <p:spPr>
          <a:xfrm>
            <a:off x="1783080" y="5486400"/>
            <a:ext cx="9784080" cy="841248"/>
          </a:xfrm>
          <a:prstGeom prst="rect">
            <a:avLst/>
          </a:prstGeom>
          <a:noFill/>
        </p:spPr>
        <p:txBody>
          <a:bodyPr wrap="square" lIns="73152" rIns="73152" tIns="36576" bIns="36576" anchor="ctr">
            <a:spAutoFit/>
          </a:bodyPr>
          <a:lstStyle/>
          <a:p>
            <a:pPr algn="l">
              <a:lnSpc>
                <a:spcPct val="112000"/>
              </a:lnSpc>
            </a:pPr>
            <a:r>
              <a:rPr sz="1300" b="0">
                <a:solidFill>
                  <a:srgbClr val="1F2328"/>
                </a:solidFill>
                <a:latin typeface="BIZ UDゴシック"/>
                <a:ea typeface="BIZ UDゴシック"/>
              </a:rPr>
              <a:t>本時の流れのスライドを映し いまどの活動かを上の札で示す（どのスライドにも出る）</a:t>
            </a:r>
          </a:p>
          <a:p>
            <a:pPr algn="l">
              <a:lnSpc>
                <a:spcPct val="112000"/>
              </a:lnSpc>
            </a:pPr>
            <a:r>
              <a:rPr sz="1300" b="0">
                <a:solidFill>
                  <a:srgbClr val="1F2328"/>
                </a:solidFill>
                <a:latin typeface="BIZ UDゴシック"/>
                <a:ea typeface="BIZ UDゴシック"/>
              </a:rPr>
              <a:t>空気と水の実験の写真と学びの足あとで 変わり方のちがいまで確かめる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区分"/>
          <p:cNvSpPr txBox="1"/>
          <p:nvPr/>
        </p:nvSpPr>
        <p:spPr>
          <a:xfrm>
            <a:off x="548640" y="274320"/>
            <a:ext cx="8229600" cy="292608"/>
          </a:xfrm>
          <a:prstGeom prst="rect">
            <a:avLst/>
          </a:prstGeom>
          <a:noFill/>
        </p:spPr>
        <p:txBody>
          <a:bodyPr wrap="square" lIns="73152" rIns="73152" tIns="36576" bIns="36576" anchor="t">
            <a:spAutoFit/>
          </a:bodyPr>
          <a:lstStyle/>
          <a:p>
            <a:pPr algn="l">
              <a:lnSpc>
                <a:spcPct val="118000"/>
              </a:lnSpc>
            </a:pPr>
            <a:r>
              <a:rPr sz="1300" b="1">
                <a:solidFill>
                  <a:srgbClr val="5F646B"/>
                </a:solidFill>
                <a:latin typeface="BIZ UDゴシック"/>
                <a:ea typeface="BIZ UDゴシック"/>
              </a:rPr>
              <a:t>本時の展開　場面2</a:t>
            </a:r>
          </a:p>
        </p:txBody>
      </p:sp>
      <p:sp>
        <p:nvSpPr>
          <p:cNvPr id="3" name="見出しの線"/>
          <p:cNvSpPr/>
          <p:nvPr/>
        </p:nvSpPr>
        <p:spPr>
          <a:xfrm>
            <a:off x="548640" y="640080"/>
            <a:ext cx="82296" cy="47548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見出し"/>
          <p:cNvSpPr txBox="1"/>
          <p:nvPr/>
        </p:nvSpPr>
        <p:spPr>
          <a:xfrm>
            <a:off x="749808" y="566928"/>
            <a:ext cx="10972800" cy="603504"/>
          </a:xfrm>
          <a:prstGeom prst="rect">
            <a:avLst/>
          </a:prstGeom>
          <a:noFill/>
        </p:spPr>
        <p:txBody>
          <a:bodyPr wrap="square" lIns="73152" rIns="73152" tIns="36576" bIns="36576" anchor="ctr">
            <a:spAutoFit/>
          </a:bodyPr>
          <a:lstStyle/>
          <a:p>
            <a:pPr algn="l">
              <a:lnSpc>
                <a:spcPct val="118000"/>
              </a:lnSpc>
            </a:pPr>
            <a:r>
              <a:rPr sz="2800" b="1">
                <a:solidFill>
                  <a:srgbClr val="1F2328"/>
                </a:solidFill>
                <a:latin typeface="BIZ UDゴシック"/>
                <a:ea typeface="BIZ UDゴシック"/>
              </a:rPr>
              <a:t>分類表を見て 金ぞくの玉にさわる</a:t>
            </a:r>
          </a:p>
        </p:txBody>
      </p:sp>
      <p:sp>
        <p:nvSpPr>
          <p:cNvPr id="5" name="足もと"/>
          <p:cNvSpPr txBox="1"/>
          <p:nvPr/>
        </p:nvSpPr>
        <p:spPr>
          <a:xfrm>
            <a:off x="548640" y="6455664"/>
            <a:ext cx="8229600" cy="256032"/>
          </a:xfrm>
          <a:prstGeom prst="rect">
            <a:avLst/>
          </a:prstGeom>
          <a:noFill/>
        </p:spPr>
        <p:txBody>
          <a:bodyPr wrap="square" lIns="73152" rIns="73152" tIns="36576" bIns="36576" anchor="t">
            <a:spAutoFit/>
          </a:bodyPr>
          <a:lstStyle/>
          <a:p>
            <a:pPr algn="l">
              <a:lnSpc>
                <a:spcPct val="118000"/>
              </a:lnSpc>
            </a:pPr>
            <a:r>
              <a:rPr sz="1000" b="0">
                <a:solidFill>
                  <a:srgbClr val="8A9097"/>
                </a:solidFill>
                <a:latin typeface="BIZ UDゴシック"/>
                <a:ea typeface="BIZ UDゴシック"/>
              </a:rPr>
              <a:t>4年 理科　物の体積と温度　授業者説明</a:t>
            </a:r>
          </a:p>
        </p:txBody>
      </p:sp>
      <p:sp>
        <p:nvSpPr>
          <p:cNvPr id="6" name="ページ"/>
          <p:cNvSpPr txBox="1"/>
          <p:nvPr/>
        </p:nvSpPr>
        <p:spPr>
          <a:xfrm>
            <a:off x="10545775" y="6455664"/>
            <a:ext cx="1097280" cy="256032"/>
          </a:xfrm>
          <a:prstGeom prst="rect">
            <a:avLst/>
          </a:prstGeom>
          <a:noFill/>
        </p:spPr>
        <p:txBody>
          <a:bodyPr wrap="square" lIns="73152" rIns="73152" tIns="36576" bIns="36576" anchor="t">
            <a:spAutoFit/>
          </a:bodyPr>
          <a:lstStyle/>
          <a:p>
            <a:pPr algn="r">
              <a:lnSpc>
                <a:spcPct val="118000"/>
              </a:lnSpc>
            </a:pPr>
            <a:r>
              <a:rPr sz="1000" b="0">
                <a:solidFill>
                  <a:srgbClr val="8A9097"/>
                </a:solidFill>
                <a:latin typeface="BIZ UDゴシック"/>
                <a:ea typeface="BIZ UDゴシック"/>
              </a:rPr>
              <a:t>12</a:t>
            </a:r>
          </a:p>
        </p:txBody>
      </p:sp>
      <p:sp>
        <p:nvSpPr>
          <p:cNvPr id="7" name="札_先生"/>
          <p:cNvSpPr/>
          <p:nvPr/>
        </p:nvSpPr>
        <p:spPr>
          <a:xfrm>
            <a:off x="548640" y="1298448"/>
            <a:ext cx="604520" cy="310896"/>
          </a:xfrm>
          <a:prstGeom prst="roundRect">
            <a:avLst>
              <a:gd name="adj" fmla="val 3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289304"/>
            <a:ext cx="604520" cy="329184"/>
          </a:xfrm>
          <a:prstGeom prst="rect">
            <a:avLst/>
          </a:prstGeom>
          <a:noFill/>
        </p:spPr>
        <p:txBody>
          <a:bodyPr wrap="square" lIns="73152" rIns="73152" tIns="36576" bIns="36576" anchor="ctr">
            <a:spAutoFit/>
          </a:bodyPr>
          <a:lstStyle/>
          <a:p>
            <a:pPr algn="ctr">
              <a:lnSpc>
                <a:spcPct val="118000"/>
              </a:lnSpc>
            </a:pPr>
            <a:r>
              <a:rPr sz="1300" b="1">
                <a:solidFill>
                  <a:srgbClr val="FFFFFF"/>
                </a:solidFill>
                <a:latin typeface="BIZ UDゴシック"/>
                <a:ea typeface="BIZ UDゴシック"/>
              </a:rPr>
              <a:t>先生</a:t>
            </a:r>
          </a:p>
        </p:txBody>
      </p:sp>
      <p:sp>
        <p:nvSpPr>
          <p:cNvPr id="9" name="札_予想される子どもの反応"/>
          <p:cNvSpPr/>
          <p:nvPr/>
        </p:nvSpPr>
        <p:spPr>
          <a:xfrm>
            <a:off x="6080759" y="1298448"/>
            <a:ext cx="2090419" cy="310896"/>
          </a:xfrm>
          <a:prstGeom prst="roundRect">
            <a:avLst>
              <a:gd name="adj" fmla="val 30000"/>
            </a:avLst>
          </a:prstGeom>
          <a:solidFill>
            <a:srgbClr val="5F6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59" y="1289304"/>
            <a:ext cx="2090419" cy="329184"/>
          </a:xfrm>
          <a:prstGeom prst="rect">
            <a:avLst/>
          </a:prstGeom>
          <a:noFill/>
        </p:spPr>
        <p:txBody>
          <a:bodyPr wrap="square" lIns="73152" rIns="73152" tIns="36576" bIns="36576" anchor="ctr">
            <a:spAutoFit/>
          </a:bodyPr>
          <a:lstStyle/>
          <a:p>
            <a:pPr algn="ctr">
              <a:lnSpc>
                <a:spcPct val="118000"/>
              </a:lnSpc>
            </a:pPr>
            <a:r>
              <a:rPr sz="1300" b="1">
                <a:solidFill>
                  <a:srgbClr val="FFFFFF"/>
                </a:solidFill>
                <a:latin typeface="BIZ UDゴシック"/>
                <a:ea typeface="BIZ UDゴシック"/>
              </a:rPr>
              <a:t>予想される子どもの反応</a:t>
            </a:r>
          </a:p>
        </p:txBody>
      </p:sp>
      <p:sp>
        <p:nvSpPr>
          <p:cNvPr id="11" name="Rounded Rectangle 10"/>
          <p:cNvSpPr/>
          <p:nvPr/>
        </p:nvSpPr>
        <p:spPr>
          <a:xfrm>
            <a:off x="548640" y="1737360"/>
            <a:ext cx="5257800" cy="777240"/>
          </a:xfrm>
          <a:prstGeom prst="roundRect">
            <a:avLst>
              <a:gd name="adj" fmla="val 12000"/>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1737360"/>
            <a:ext cx="5038344" cy="777240"/>
          </a:xfrm>
          <a:prstGeom prst="rect">
            <a:avLst/>
          </a:prstGeom>
          <a:noFill/>
        </p:spPr>
        <p:txBody>
          <a:bodyPr wrap="square" lIns="73152" rIns="73152" tIns="36576" bIns="36576" anchor="ctr">
            <a:spAutoFit/>
          </a:bodyPr>
          <a:lstStyle/>
          <a:p>
            <a:pPr algn="l">
              <a:lnSpc>
                <a:spcPct val="108000"/>
              </a:lnSpc>
            </a:pPr>
            <a:r>
              <a:rPr sz="1400" b="1">
                <a:solidFill>
                  <a:srgbClr val="1F2328"/>
                </a:solidFill>
                <a:latin typeface="BIZ UDゴシック"/>
                <a:ea typeface="BIZ UDゴシック"/>
              </a:rPr>
              <a:t>分類表を見てみよう</a:t>
            </a:r>
          </a:p>
          <a:p>
            <a:pPr algn="l">
              <a:lnSpc>
                <a:spcPct val="108000"/>
              </a:lnSpc>
            </a:pPr>
            <a:r>
              <a:rPr sz="1400" b="1">
                <a:solidFill>
                  <a:srgbClr val="1F2328"/>
                </a:solidFill>
                <a:latin typeface="BIZ UDゴシック"/>
                <a:ea typeface="BIZ UDゴシック"/>
              </a:rPr>
              <a:t>まだ調べていないのは どれかな</a:t>
            </a:r>
          </a:p>
        </p:txBody>
      </p:sp>
      <p:sp>
        <p:nvSpPr>
          <p:cNvPr id="13" name="Rounded Rectangle 12"/>
          <p:cNvSpPr/>
          <p:nvPr/>
        </p:nvSpPr>
        <p:spPr>
          <a:xfrm>
            <a:off x="548640" y="2624328"/>
            <a:ext cx="5257800" cy="777240"/>
          </a:xfrm>
          <a:prstGeom prst="roundRect">
            <a:avLst>
              <a:gd name="adj" fmla="val 12000"/>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624328"/>
            <a:ext cx="5038344" cy="777240"/>
          </a:xfrm>
          <a:prstGeom prst="rect">
            <a:avLst/>
          </a:prstGeom>
          <a:noFill/>
        </p:spPr>
        <p:txBody>
          <a:bodyPr wrap="square" lIns="73152" rIns="73152" tIns="36576" bIns="36576" anchor="ctr">
            <a:spAutoFit/>
          </a:bodyPr>
          <a:lstStyle/>
          <a:p>
            <a:pPr algn="l">
              <a:lnSpc>
                <a:spcPct val="108000"/>
              </a:lnSpc>
            </a:pPr>
            <a:r>
              <a:rPr sz="1400" b="1">
                <a:solidFill>
                  <a:srgbClr val="1F2328"/>
                </a:solidFill>
                <a:latin typeface="BIZ UDゴシック"/>
                <a:ea typeface="BIZ UDゴシック"/>
              </a:rPr>
              <a:t>理科室で見つけた玉です</a:t>
            </a:r>
          </a:p>
          <a:p>
            <a:pPr algn="l">
              <a:lnSpc>
                <a:spcPct val="108000"/>
              </a:lnSpc>
            </a:pPr>
            <a:r>
              <a:rPr sz="1400" b="1">
                <a:solidFill>
                  <a:srgbClr val="1F2328"/>
                </a:solidFill>
                <a:latin typeface="BIZ UDゴシック"/>
                <a:ea typeface="BIZ UDゴシック"/>
              </a:rPr>
              <a:t>班に1つずつ配るよ さわってみよう</a:t>
            </a:r>
          </a:p>
        </p:txBody>
      </p:sp>
      <p:sp>
        <p:nvSpPr>
          <p:cNvPr id="15" name="Rounded Rectangle 14"/>
          <p:cNvSpPr/>
          <p:nvPr/>
        </p:nvSpPr>
        <p:spPr>
          <a:xfrm>
            <a:off x="548640" y="3511296"/>
            <a:ext cx="5257800" cy="507491"/>
          </a:xfrm>
          <a:prstGeom prst="roundRect">
            <a:avLst>
              <a:gd name="adj" fmla="val 12000"/>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511296"/>
            <a:ext cx="5038344" cy="507491"/>
          </a:xfrm>
          <a:prstGeom prst="rect">
            <a:avLst/>
          </a:prstGeom>
          <a:noFill/>
        </p:spPr>
        <p:txBody>
          <a:bodyPr wrap="square" lIns="73152" rIns="73152" tIns="36576" bIns="36576" anchor="ctr">
            <a:spAutoFit/>
          </a:bodyPr>
          <a:lstStyle/>
          <a:p>
            <a:pPr algn="l">
              <a:lnSpc>
                <a:spcPct val="108000"/>
              </a:lnSpc>
            </a:pPr>
            <a:r>
              <a:rPr sz="1400" b="1">
                <a:solidFill>
                  <a:srgbClr val="1F2328"/>
                </a:solidFill>
                <a:latin typeface="BIZ UDゴシック"/>
                <a:ea typeface="BIZ UDゴシック"/>
              </a:rPr>
              <a:t>これは分類表のどこに入るかな</a:t>
            </a:r>
          </a:p>
        </p:txBody>
      </p:sp>
      <p:sp>
        <p:nvSpPr>
          <p:cNvPr id="17" name="Rounded Rectangle 16"/>
          <p:cNvSpPr/>
          <p:nvPr/>
        </p:nvSpPr>
        <p:spPr>
          <a:xfrm>
            <a:off x="6080759" y="1737360"/>
            <a:ext cx="5559552" cy="777240"/>
          </a:xfrm>
          <a:prstGeom prst="roundRect">
            <a:avLst>
              <a:gd name="adj" fmla="val 12000"/>
            </a:avLst>
          </a:prstGeom>
          <a:solidFill>
            <a:srgbClr val="FFFFFF"/>
          </a:solidFill>
          <a:ln w="12700">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1737360"/>
            <a:ext cx="5340096" cy="777240"/>
          </a:xfrm>
          <a:prstGeom prst="rect">
            <a:avLst/>
          </a:prstGeom>
          <a:noFill/>
        </p:spPr>
        <p:txBody>
          <a:bodyPr wrap="square" lIns="73152" rIns="73152" tIns="36576" bIns="36576" anchor="ctr">
            <a:spAutoFit/>
          </a:bodyPr>
          <a:lstStyle/>
          <a:p>
            <a:pPr algn="l">
              <a:lnSpc>
                <a:spcPct val="108000"/>
              </a:lnSpc>
            </a:pPr>
            <a:r>
              <a:rPr sz="1400" b="0">
                <a:solidFill>
                  <a:srgbClr val="1F2328"/>
                </a:solidFill>
                <a:latin typeface="BIZ UDゴシック"/>
                <a:ea typeface="BIZ UDゴシック"/>
              </a:rPr>
              <a:t>形のない物は調べ終わった</a:t>
            </a:r>
          </a:p>
          <a:p>
            <a:pPr algn="l">
              <a:lnSpc>
                <a:spcPct val="108000"/>
              </a:lnSpc>
            </a:pPr>
            <a:r>
              <a:rPr sz="1400" b="0">
                <a:solidFill>
                  <a:srgbClr val="1F2328"/>
                </a:solidFill>
                <a:latin typeface="BIZ UDゴシック"/>
                <a:ea typeface="BIZ UDゴシック"/>
              </a:rPr>
              <a:t>次は形のある物</a:t>
            </a:r>
          </a:p>
        </p:txBody>
      </p:sp>
      <p:sp>
        <p:nvSpPr>
          <p:cNvPr id="19" name="Rounded Rectangle 18"/>
          <p:cNvSpPr/>
          <p:nvPr/>
        </p:nvSpPr>
        <p:spPr>
          <a:xfrm>
            <a:off x="6080759" y="2624328"/>
            <a:ext cx="5559552" cy="507491"/>
          </a:xfrm>
          <a:prstGeom prst="roundRect">
            <a:avLst>
              <a:gd name="adj" fmla="val 12000"/>
            </a:avLst>
          </a:prstGeom>
          <a:solidFill>
            <a:srgbClr val="FFFFFF"/>
          </a:solidFill>
          <a:ln w="12700">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90488" y="2624328"/>
            <a:ext cx="5340096" cy="507491"/>
          </a:xfrm>
          <a:prstGeom prst="rect">
            <a:avLst/>
          </a:prstGeom>
          <a:noFill/>
        </p:spPr>
        <p:txBody>
          <a:bodyPr wrap="square" lIns="73152" rIns="73152" tIns="36576" bIns="36576" anchor="ctr">
            <a:spAutoFit/>
          </a:bodyPr>
          <a:lstStyle/>
          <a:p>
            <a:pPr algn="l">
              <a:lnSpc>
                <a:spcPct val="108000"/>
              </a:lnSpc>
            </a:pPr>
            <a:r>
              <a:rPr sz="1400" b="0">
                <a:solidFill>
                  <a:srgbClr val="1F2328"/>
                </a:solidFill>
                <a:latin typeface="BIZ UDゴシック"/>
                <a:ea typeface="BIZ UDゴシック"/>
              </a:rPr>
              <a:t>つめたい　かたい　重い</a:t>
            </a:r>
          </a:p>
        </p:txBody>
      </p:sp>
      <p:sp>
        <p:nvSpPr>
          <p:cNvPr id="21" name="Rounded Rectangle 20"/>
          <p:cNvSpPr/>
          <p:nvPr/>
        </p:nvSpPr>
        <p:spPr>
          <a:xfrm>
            <a:off x="6080759" y="3241548"/>
            <a:ext cx="5559552" cy="777240"/>
          </a:xfrm>
          <a:prstGeom prst="roundRect">
            <a:avLst>
              <a:gd name="adj" fmla="val 12000"/>
            </a:avLst>
          </a:prstGeom>
          <a:solidFill>
            <a:srgbClr val="FFFFFF"/>
          </a:solidFill>
          <a:ln w="25400">
            <a:solidFill>
              <a:srgbClr val="E066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90488" y="3241548"/>
            <a:ext cx="5340096" cy="777240"/>
          </a:xfrm>
          <a:prstGeom prst="rect">
            <a:avLst/>
          </a:prstGeom>
          <a:noFill/>
        </p:spPr>
        <p:txBody>
          <a:bodyPr wrap="square" lIns="73152" rIns="73152" tIns="36576" bIns="36576" anchor="ctr">
            <a:spAutoFit/>
          </a:bodyPr>
          <a:lstStyle/>
          <a:p>
            <a:pPr algn="l">
              <a:lnSpc>
                <a:spcPct val="108000"/>
              </a:lnSpc>
            </a:pPr>
            <a:r>
              <a:rPr sz="1400" b="0">
                <a:solidFill>
                  <a:srgbClr val="1F2328"/>
                </a:solidFill>
                <a:latin typeface="BIZ UDゴシック"/>
                <a:ea typeface="BIZ UDゴシック"/>
              </a:rPr>
              <a:t>これは金ぞくだ</a:t>
            </a:r>
          </a:p>
          <a:p>
            <a:pPr algn="l">
              <a:lnSpc>
                <a:spcPct val="108000"/>
              </a:lnSpc>
            </a:pPr>
            <a:r>
              <a:rPr sz="1400" b="0">
                <a:solidFill>
                  <a:srgbClr val="1F2328"/>
                </a:solidFill>
                <a:latin typeface="BIZ UDゴシック"/>
                <a:ea typeface="BIZ UDゴシック"/>
              </a:rPr>
              <a:t>分類表では「変わらなそう」に入れたよ</a:t>
            </a:r>
          </a:p>
        </p:txBody>
      </p:sp>
      <p:sp>
        <p:nvSpPr>
          <p:cNvPr id="23" name="Rectangle 22"/>
          <p:cNvSpPr/>
          <p:nvPr/>
        </p:nvSpPr>
        <p:spPr>
          <a:xfrm>
            <a:off x="548640" y="5486400"/>
            <a:ext cx="11091672" cy="841248"/>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486400"/>
            <a:ext cx="1097280" cy="841248"/>
          </a:xfrm>
          <a:prstGeom prst="rect">
            <a:avLst/>
          </a:prstGeom>
          <a:noFill/>
        </p:spPr>
        <p:txBody>
          <a:bodyPr wrap="square" lIns="73152" rIns="73152" tIns="36576" bIns="36576" anchor="ctr">
            <a:spAutoFit/>
          </a:bodyPr>
          <a:lstStyle/>
          <a:p>
            <a:pPr algn="l">
              <a:lnSpc>
                <a:spcPct val="118000"/>
              </a:lnSpc>
            </a:pPr>
            <a:r>
              <a:rPr sz="1400" b="1">
                <a:solidFill>
                  <a:srgbClr val="C2410C"/>
                </a:solidFill>
                <a:latin typeface="BIZ UDゴシック"/>
                <a:ea typeface="BIZ UDゴシック"/>
              </a:rPr>
              <a:t>手立て</a:t>
            </a:r>
          </a:p>
        </p:txBody>
      </p:sp>
      <p:sp>
        <p:nvSpPr>
          <p:cNvPr id="25" name="TextBox 24"/>
          <p:cNvSpPr txBox="1"/>
          <p:nvPr/>
        </p:nvSpPr>
        <p:spPr>
          <a:xfrm>
            <a:off x="1783080" y="5486400"/>
            <a:ext cx="9784080" cy="841248"/>
          </a:xfrm>
          <a:prstGeom prst="rect">
            <a:avLst/>
          </a:prstGeom>
          <a:noFill/>
        </p:spPr>
        <p:txBody>
          <a:bodyPr wrap="square" lIns="73152" rIns="73152" tIns="36576" bIns="36576" anchor="ctr">
            <a:spAutoFit/>
          </a:bodyPr>
          <a:lstStyle/>
          <a:p>
            <a:pPr algn="l">
              <a:lnSpc>
                <a:spcPct val="112000"/>
              </a:lnSpc>
            </a:pPr>
            <a:r>
              <a:rPr sz="1300" b="0">
                <a:solidFill>
                  <a:srgbClr val="1F2328"/>
                </a:solidFill>
                <a:latin typeface="BIZ UDゴシック"/>
                <a:ea typeface="BIZ UDゴシック"/>
              </a:rPr>
              <a:t>輪はまだ見せず 玉だけを配る（話が「通るか 通らないか」に寄らないように）</a:t>
            </a:r>
          </a:p>
          <a:p>
            <a:pPr algn="l">
              <a:lnSpc>
                <a:spcPct val="112000"/>
              </a:lnSpc>
            </a:pPr>
            <a:r>
              <a:rPr sz="1300" b="0">
                <a:solidFill>
                  <a:srgbClr val="1F2328"/>
                </a:solidFill>
                <a:latin typeface="BIZ UDゴシック"/>
                <a:ea typeface="BIZ UDゴシック"/>
              </a:rPr>
              <a:t>手でさわって 金ぞくであることに自分で気づかせる</a:t>
            </a:r>
          </a:p>
        </p:txBody>
      </p:sp>
      <p:sp>
        <p:nvSpPr>
          <p:cNvPr id="26" name="TextBox 25"/>
          <p:cNvSpPr txBox="1"/>
          <p:nvPr/>
        </p:nvSpPr>
        <p:spPr>
          <a:xfrm>
            <a:off x="8348472" y="1298448"/>
            <a:ext cx="3291840" cy="310896"/>
          </a:xfrm>
          <a:prstGeom prst="rect">
            <a:avLst/>
          </a:prstGeom>
          <a:noFill/>
        </p:spPr>
        <p:txBody>
          <a:bodyPr wrap="square" lIns="73152" rIns="73152" tIns="36576" bIns="36576" anchor="ctr">
            <a:spAutoFit/>
          </a:bodyPr>
          <a:lstStyle/>
          <a:p>
            <a:pPr algn="r">
              <a:lnSpc>
                <a:spcPct val="118000"/>
              </a:lnSpc>
            </a:pPr>
            <a:r>
              <a:rPr sz="1100" b="0">
                <a:solidFill>
                  <a:srgbClr val="5F646B"/>
                </a:solidFill>
                <a:latin typeface="BIZ UDゴシック"/>
                <a:ea typeface="BIZ UDゴシック"/>
              </a:rPr>
              <a:t>水色の枠は変わる　ピンクの枠は変わらない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区分"/>
          <p:cNvSpPr txBox="1"/>
          <p:nvPr/>
        </p:nvSpPr>
        <p:spPr>
          <a:xfrm>
            <a:off x="548640" y="274320"/>
            <a:ext cx="8229600" cy="292608"/>
          </a:xfrm>
          <a:prstGeom prst="rect">
            <a:avLst/>
          </a:prstGeom>
          <a:noFill/>
        </p:spPr>
        <p:txBody>
          <a:bodyPr wrap="square" lIns="73152" rIns="73152" tIns="36576" bIns="36576" anchor="t">
            <a:spAutoFit/>
          </a:bodyPr>
          <a:lstStyle/>
          <a:p>
            <a:pPr algn="l">
              <a:lnSpc>
                <a:spcPct val="118000"/>
              </a:lnSpc>
            </a:pPr>
            <a:r>
              <a:rPr sz="1300" b="1">
                <a:solidFill>
                  <a:srgbClr val="5F646B"/>
                </a:solidFill>
                <a:latin typeface="BIZ UDゴシック"/>
                <a:ea typeface="BIZ UDゴシック"/>
              </a:rPr>
              <a:t>本時の展開　場面3</a:t>
            </a:r>
          </a:p>
        </p:txBody>
      </p:sp>
      <p:sp>
        <p:nvSpPr>
          <p:cNvPr id="3" name="見出しの線"/>
          <p:cNvSpPr/>
          <p:nvPr/>
        </p:nvSpPr>
        <p:spPr>
          <a:xfrm>
            <a:off x="548640" y="640080"/>
            <a:ext cx="82296" cy="47548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見出し"/>
          <p:cNvSpPr txBox="1"/>
          <p:nvPr/>
        </p:nvSpPr>
        <p:spPr>
          <a:xfrm>
            <a:off x="749808" y="566928"/>
            <a:ext cx="10972800" cy="603504"/>
          </a:xfrm>
          <a:prstGeom prst="rect">
            <a:avLst/>
          </a:prstGeom>
          <a:noFill/>
        </p:spPr>
        <p:txBody>
          <a:bodyPr wrap="square" lIns="73152" rIns="73152" tIns="36576" bIns="36576" anchor="ctr">
            <a:spAutoFit/>
          </a:bodyPr>
          <a:lstStyle/>
          <a:p>
            <a:pPr algn="l">
              <a:lnSpc>
                <a:spcPct val="118000"/>
              </a:lnSpc>
            </a:pPr>
            <a:r>
              <a:rPr sz="2800" b="1">
                <a:solidFill>
                  <a:srgbClr val="1F2328"/>
                </a:solidFill>
                <a:latin typeface="BIZ UDゴシック"/>
                <a:ea typeface="BIZ UDゴシック"/>
              </a:rPr>
              <a:t>空気や水と同じ形の文で 問題をつくる</a:t>
            </a:r>
          </a:p>
        </p:txBody>
      </p:sp>
      <p:sp>
        <p:nvSpPr>
          <p:cNvPr id="5" name="足もと"/>
          <p:cNvSpPr txBox="1"/>
          <p:nvPr/>
        </p:nvSpPr>
        <p:spPr>
          <a:xfrm>
            <a:off x="548640" y="6455664"/>
            <a:ext cx="8229600" cy="256032"/>
          </a:xfrm>
          <a:prstGeom prst="rect">
            <a:avLst/>
          </a:prstGeom>
          <a:noFill/>
        </p:spPr>
        <p:txBody>
          <a:bodyPr wrap="square" lIns="73152" rIns="73152" tIns="36576" bIns="36576" anchor="t">
            <a:spAutoFit/>
          </a:bodyPr>
          <a:lstStyle/>
          <a:p>
            <a:pPr algn="l">
              <a:lnSpc>
                <a:spcPct val="118000"/>
              </a:lnSpc>
            </a:pPr>
            <a:r>
              <a:rPr sz="1000" b="0">
                <a:solidFill>
                  <a:srgbClr val="8A9097"/>
                </a:solidFill>
                <a:latin typeface="BIZ UDゴシック"/>
                <a:ea typeface="BIZ UDゴシック"/>
              </a:rPr>
              <a:t>4年 理科　物の体積と温度　授業者説明</a:t>
            </a:r>
          </a:p>
        </p:txBody>
      </p:sp>
      <p:sp>
        <p:nvSpPr>
          <p:cNvPr id="6" name="ページ"/>
          <p:cNvSpPr txBox="1"/>
          <p:nvPr/>
        </p:nvSpPr>
        <p:spPr>
          <a:xfrm>
            <a:off x="10545775" y="6455664"/>
            <a:ext cx="1097280" cy="256032"/>
          </a:xfrm>
          <a:prstGeom prst="rect">
            <a:avLst/>
          </a:prstGeom>
          <a:noFill/>
        </p:spPr>
        <p:txBody>
          <a:bodyPr wrap="square" lIns="73152" rIns="73152" tIns="36576" bIns="36576" anchor="t">
            <a:spAutoFit/>
          </a:bodyPr>
          <a:lstStyle/>
          <a:p>
            <a:pPr algn="r">
              <a:lnSpc>
                <a:spcPct val="118000"/>
              </a:lnSpc>
            </a:pPr>
            <a:r>
              <a:rPr sz="1000" b="0">
                <a:solidFill>
                  <a:srgbClr val="8A9097"/>
                </a:solidFill>
                <a:latin typeface="BIZ UDゴシック"/>
                <a:ea typeface="BIZ UDゴシック"/>
              </a:rPr>
              <a:t>13</a:t>
            </a:r>
          </a:p>
        </p:txBody>
      </p:sp>
      <p:sp>
        <p:nvSpPr>
          <p:cNvPr id="7" name="札_先生"/>
          <p:cNvSpPr/>
          <p:nvPr/>
        </p:nvSpPr>
        <p:spPr>
          <a:xfrm>
            <a:off x="548640" y="1298448"/>
            <a:ext cx="604520" cy="310896"/>
          </a:xfrm>
          <a:prstGeom prst="roundRect">
            <a:avLst>
              <a:gd name="adj" fmla="val 3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289304"/>
            <a:ext cx="604520" cy="329184"/>
          </a:xfrm>
          <a:prstGeom prst="rect">
            <a:avLst/>
          </a:prstGeom>
          <a:noFill/>
        </p:spPr>
        <p:txBody>
          <a:bodyPr wrap="square" lIns="73152" rIns="73152" tIns="36576" bIns="36576" anchor="ctr">
            <a:spAutoFit/>
          </a:bodyPr>
          <a:lstStyle/>
          <a:p>
            <a:pPr algn="ctr">
              <a:lnSpc>
                <a:spcPct val="118000"/>
              </a:lnSpc>
            </a:pPr>
            <a:r>
              <a:rPr sz="1300" b="1">
                <a:solidFill>
                  <a:srgbClr val="FFFFFF"/>
                </a:solidFill>
                <a:latin typeface="BIZ UDゴシック"/>
                <a:ea typeface="BIZ UDゴシック"/>
              </a:rPr>
              <a:t>先生</a:t>
            </a:r>
          </a:p>
        </p:txBody>
      </p:sp>
      <p:sp>
        <p:nvSpPr>
          <p:cNvPr id="9" name="札_予想される子どもの反応"/>
          <p:cNvSpPr/>
          <p:nvPr/>
        </p:nvSpPr>
        <p:spPr>
          <a:xfrm>
            <a:off x="6080759" y="1298448"/>
            <a:ext cx="2090419" cy="310896"/>
          </a:xfrm>
          <a:prstGeom prst="roundRect">
            <a:avLst>
              <a:gd name="adj" fmla="val 30000"/>
            </a:avLst>
          </a:prstGeom>
          <a:solidFill>
            <a:srgbClr val="5F6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59" y="1289304"/>
            <a:ext cx="2090419" cy="329184"/>
          </a:xfrm>
          <a:prstGeom prst="rect">
            <a:avLst/>
          </a:prstGeom>
          <a:noFill/>
        </p:spPr>
        <p:txBody>
          <a:bodyPr wrap="square" lIns="73152" rIns="73152" tIns="36576" bIns="36576" anchor="ctr">
            <a:spAutoFit/>
          </a:bodyPr>
          <a:lstStyle/>
          <a:p>
            <a:pPr algn="ctr">
              <a:lnSpc>
                <a:spcPct val="118000"/>
              </a:lnSpc>
            </a:pPr>
            <a:r>
              <a:rPr sz="1300" b="1">
                <a:solidFill>
                  <a:srgbClr val="FFFFFF"/>
                </a:solidFill>
                <a:latin typeface="BIZ UDゴシック"/>
                <a:ea typeface="BIZ UDゴシック"/>
              </a:rPr>
              <a:t>予想される子どもの反応</a:t>
            </a:r>
          </a:p>
        </p:txBody>
      </p:sp>
      <p:sp>
        <p:nvSpPr>
          <p:cNvPr id="11" name="Rounded Rectangle 10"/>
          <p:cNvSpPr/>
          <p:nvPr/>
        </p:nvSpPr>
        <p:spPr>
          <a:xfrm>
            <a:off x="548640" y="1737360"/>
            <a:ext cx="5257800" cy="777240"/>
          </a:xfrm>
          <a:prstGeom prst="roundRect">
            <a:avLst>
              <a:gd name="adj" fmla="val 12000"/>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1737360"/>
            <a:ext cx="5038344" cy="777240"/>
          </a:xfrm>
          <a:prstGeom prst="rect">
            <a:avLst/>
          </a:prstGeom>
          <a:noFill/>
        </p:spPr>
        <p:txBody>
          <a:bodyPr wrap="square" lIns="73152" rIns="73152" tIns="36576" bIns="36576" anchor="ctr">
            <a:spAutoFit/>
          </a:bodyPr>
          <a:lstStyle/>
          <a:p>
            <a:pPr algn="l">
              <a:lnSpc>
                <a:spcPct val="108000"/>
              </a:lnSpc>
            </a:pPr>
            <a:r>
              <a:rPr sz="1400" b="1">
                <a:solidFill>
                  <a:srgbClr val="1F2328"/>
                </a:solidFill>
                <a:latin typeface="BIZ UDゴシック"/>
                <a:ea typeface="BIZ UDゴシック"/>
              </a:rPr>
              <a:t>空気のときと水のときは</a:t>
            </a:r>
          </a:p>
          <a:p>
            <a:pPr algn="l">
              <a:lnSpc>
                <a:spcPct val="108000"/>
              </a:lnSpc>
            </a:pPr>
            <a:r>
              <a:rPr sz="1400" b="1">
                <a:solidFill>
                  <a:srgbClr val="1F2328"/>
                </a:solidFill>
                <a:latin typeface="BIZ UDゴシック"/>
                <a:ea typeface="BIZ UDゴシック"/>
              </a:rPr>
              <a:t>どんな問題だったかな</a:t>
            </a:r>
          </a:p>
        </p:txBody>
      </p:sp>
      <p:sp>
        <p:nvSpPr>
          <p:cNvPr id="13" name="Rounded Rectangle 12"/>
          <p:cNvSpPr/>
          <p:nvPr/>
        </p:nvSpPr>
        <p:spPr>
          <a:xfrm>
            <a:off x="548640" y="2624328"/>
            <a:ext cx="5257800" cy="507491"/>
          </a:xfrm>
          <a:prstGeom prst="roundRect">
            <a:avLst>
              <a:gd name="adj" fmla="val 12000"/>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624328"/>
            <a:ext cx="5038344" cy="507491"/>
          </a:xfrm>
          <a:prstGeom prst="rect">
            <a:avLst/>
          </a:prstGeom>
          <a:noFill/>
        </p:spPr>
        <p:txBody>
          <a:bodyPr wrap="square" lIns="73152" rIns="73152" tIns="36576" bIns="36576" anchor="ctr">
            <a:spAutoFit/>
          </a:bodyPr>
          <a:lstStyle/>
          <a:p>
            <a:pPr algn="l">
              <a:lnSpc>
                <a:spcPct val="108000"/>
              </a:lnSpc>
            </a:pPr>
            <a:r>
              <a:rPr sz="1400" b="1">
                <a:solidFill>
                  <a:srgbClr val="1F2328"/>
                </a:solidFill>
                <a:latin typeface="BIZ UDゴシック"/>
                <a:ea typeface="BIZ UDゴシック"/>
              </a:rPr>
              <a:t>［　　］に入る言葉は何かな</a:t>
            </a:r>
          </a:p>
        </p:txBody>
      </p:sp>
      <p:sp>
        <p:nvSpPr>
          <p:cNvPr id="15" name="Rounded Rectangle 14"/>
          <p:cNvSpPr/>
          <p:nvPr/>
        </p:nvSpPr>
        <p:spPr>
          <a:xfrm>
            <a:off x="6080759" y="1737360"/>
            <a:ext cx="5559552" cy="507491"/>
          </a:xfrm>
          <a:prstGeom prst="roundRect">
            <a:avLst>
              <a:gd name="adj" fmla="val 12000"/>
            </a:avLst>
          </a:prstGeom>
          <a:solidFill>
            <a:srgbClr val="FFFFFF"/>
          </a:solidFill>
          <a:ln w="12700">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0488" y="1737360"/>
            <a:ext cx="5340096" cy="507491"/>
          </a:xfrm>
          <a:prstGeom prst="rect">
            <a:avLst/>
          </a:prstGeom>
          <a:noFill/>
        </p:spPr>
        <p:txBody>
          <a:bodyPr wrap="square" lIns="73152" rIns="73152" tIns="36576" bIns="36576" anchor="ctr">
            <a:spAutoFit/>
          </a:bodyPr>
          <a:lstStyle/>
          <a:p>
            <a:pPr algn="l">
              <a:lnSpc>
                <a:spcPct val="108000"/>
              </a:lnSpc>
            </a:pPr>
            <a:r>
              <a:rPr sz="1400" b="0">
                <a:solidFill>
                  <a:srgbClr val="1F2328"/>
                </a:solidFill>
                <a:latin typeface="BIZ UDゴシック"/>
                <a:ea typeface="BIZ UDゴシック"/>
              </a:rPr>
              <a:t>空気も水も 同じ形の問題だった</a:t>
            </a:r>
          </a:p>
        </p:txBody>
      </p:sp>
      <p:sp>
        <p:nvSpPr>
          <p:cNvPr id="17" name="Rounded Rectangle 16"/>
          <p:cNvSpPr/>
          <p:nvPr/>
        </p:nvSpPr>
        <p:spPr>
          <a:xfrm>
            <a:off x="6080759" y="2354579"/>
            <a:ext cx="5559552" cy="507491"/>
          </a:xfrm>
          <a:prstGeom prst="roundRect">
            <a:avLst>
              <a:gd name="adj" fmla="val 12000"/>
            </a:avLst>
          </a:prstGeom>
          <a:solidFill>
            <a:srgbClr val="FFFFFF"/>
          </a:solidFill>
          <a:ln w="12700">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2354579"/>
            <a:ext cx="5340096" cy="507491"/>
          </a:xfrm>
          <a:prstGeom prst="rect">
            <a:avLst/>
          </a:prstGeom>
          <a:noFill/>
        </p:spPr>
        <p:txBody>
          <a:bodyPr wrap="square" lIns="73152" rIns="73152" tIns="36576" bIns="36576" anchor="ctr">
            <a:spAutoFit/>
          </a:bodyPr>
          <a:lstStyle/>
          <a:p>
            <a:pPr algn="l">
              <a:lnSpc>
                <a:spcPct val="108000"/>
              </a:lnSpc>
            </a:pPr>
            <a:r>
              <a:rPr sz="1400" b="0">
                <a:solidFill>
                  <a:srgbClr val="1F2328"/>
                </a:solidFill>
                <a:latin typeface="BIZ UDゴシック"/>
                <a:ea typeface="BIZ UDゴシック"/>
              </a:rPr>
              <a:t>［　　］に入るのは 金ぞく</a:t>
            </a:r>
          </a:p>
        </p:txBody>
      </p:sp>
      <p:sp>
        <p:nvSpPr>
          <p:cNvPr id="19" name="Rectangle 18"/>
          <p:cNvSpPr/>
          <p:nvPr/>
        </p:nvSpPr>
        <p:spPr>
          <a:xfrm>
            <a:off x="548640" y="4864608"/>
            <a:ext cx="11091672" cy="502920"/>
          </a:xfrm>
          <a:prstGeom prst="rect">
            <a:avLst/>
          </a:prstGeom>
          <a:solidFill>
            <a:srgbClr val="FFFFFF"/>
          </a:solidFill>
          <a:ln w="1905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864608"/>
            <a:ext cx="914400" cy="502920"/>
          </a:xfrm>
          <a:prstGeom prst="rect">
            <a:avLst/>
          </a:prstGeom>
          <a:noFill/>
        </p:spPr>
        <p:txBody>
          <a:bodyPr wrap="square" lIns="73152" rIns="73152" tIns="36576" bIns="36576" anchor="ctr">
            <a:spAutoFit/>
          </a:bodyPr>
          <a:lstStyle/>
          <a:p>
            <a:pPr algn="l">
              <a:lnSpc>
                <a:spcPct val="118000"/>
              </a:lnSpc>
            </a:pPr>
            <a:r>
              <a:rPr sz="1400" b="1">
                <a:solidFill>
                  <a:srgbClr val="C2410C"/>
                </a:solidFill>
                <a:latin typeface="BIZ UDゴシック"/>
                <a:ea typeface="BIZ UDゴシック"/>
              </a:rPr>
              <a:t>問題</a:t>
            </a:r>
          </a:p>
        </p:txBody>
      </p:sp>
      <p:sp>
        <p:nvSpPr>
          <p:cNvPr id="21" name="TextBox 20"/>
          <p:cNvSpPr txBox="1"/>
          <p:nvPr/>
        </p:nvSpPr>
        <p:spPr>
          <a:xfrm>
            <a:off x="1554480" y="4864608"/>
            <a:ext cx="9966960" cy="502920"/>
          </a:xfrm>
          <a:prstGeom prst="rect">
            <a:avLst/>
          </a:prstGeom>
          <a:noFill/>
        </p:spPr>
        <p:txBody>
          <a:bodyPr wrap="square" lIns="73152" rIns="73152" tIns="36576" bIns="36576" anchor="ctr">
            <a:spAutoFit/>
          </a:bodyPr>
          <a:lstStyle/>
          <a:p>
            <a:pPr algn="l">
              <a:lnSpc>
                <a:spcPct val="118000"/>
              </a:lnSpc>
            </a:pPr>
            <a:r>
              <a:rPr sz="1700" b="1">
                <a:solidFill>
                  <a:srgbClr val="1F2328"/>
                </a:solidFill>
                <a:latin typeface="BIZ UDゴシック"/>
                <a:ea typeface="BIZ UDゴシック"/>
              </a:rPr>
              <a:t>金ぞくは あたためたり冷やしたりすると 体積は変わるのだろうか</a:t>
            </a:r>
          </a:p>
        </p:txBody>
      </p:sp>
      <p:sp>
        <p:nvSpPr>
          <p:cNvPr id="22" name="Rectangle 21"/>
          <p:cNvSpPr/>
          <p:nvPr/>
        </p:nvSpPr>
        <p:spPr>
          <a:xfrm>
            <a:off x="548640" y="5486400"/>
            <a:ext cx="11091672" cy="841248"/>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486400"/>
            <a:ext cx="1097280" cy="841248"/>
          </a:xfrm>
          <a:prstGeom prst="rect">
            <a:avLst/>
          </a:prstGeom>
          <a:noFill/>
        </p:spPr>
        <p:txBody>
          <a:bodyPr wrap="square" lIns="73152" rIns="73152" tIns="36576" bIns="36576" anchor="ctr">
            <a:spAutoFit/>
          </a:bodyPr>
          <a:lstStyle/>
          <a:p>
            <a:pPr algn="l">
              <a:lnSpc>
                <a:spcPct val="118000"/>
              </a:lnSpc>
            </a:pPr>
            <a:r>
              <a:rPr sz="1400" b="1">
                <a:solidFill>
                  <a:srgbClr val="C2410C"/>
                </a:solidFill>
                <a:latin typeface="BIZ UDゴシック"/>
                <a:ea typeface="BIZ UDゴシック"/>
              </a:rPr>
              <a:t>手立て</a:t>
            </a:r>
          </a:p>
        </p:txBody>
      </p:sp>
      <p:sp>
        <p:nvSpPr>
          <p:cNvPr id="24" name="TextBox 23"/>
          <p:cNvSpPr txBox="1"/>
          <p:nvPr/>
        </p:nvSpPr>
        <p:spPr>
          <a:xfrm>
            <a:off x="1783080" y="5486400"/>
            <a:ext cx="9784080" cy="841248"/>
          </a:xfrm>
          <a:prstGeom prst="rect">
            <a:avLst/>
          </a:prstGeom>
          <a:noFill/>
        </p:spPr>
        <p:txBody>
          <a:bodyPr wrap="square" lIns="73152" rIns="73152" tIns="36576" bIns="36576" anchor="ctr">
            <a:spAutoFit/>
          </a:bodyPr>
          <a:lstStyle/>
          <a:p>
            <a:pPr algn="l">
              <a:lnSpc>
                <a:spcPct val="112000"/>
              </a:lnSpc>
            </a:pPr>
            <a:r>
              <a:rPr sz="1300" b="0">
                <a:solidFill>
                  <a:srgbClr val="1F2328"/>
                </a:solidFill>
                <a:latin typeface="BIZ UDゴシック"/>
                <a:ea typeface="BIZ UDゴシック"/>
              </a:rPr>
              <a:t>空欄のある問題文の掲示物（A3）を黒板に貼り 空欄に入る言葉を考える</a:t>
            </a:r>
          </a:p>
          <a:p>
            <a:pPr algn="l">
              <a:lnSpc>
                <a:spcPct val="112000"/>
              </a:lnSpc>
            </a:pPr>
            <a:r>
              <a:rPr sz="1300" b="0">
                <a:solidFill>
                  <a:srgbClr val="1F2328"/>
                </a:solidFill>
                <a:latin typeface="BIZ UDゴシック"/>
                <a:ea typeface="BIZ UDゴシック"/>
              </a:rPr>
              <a:t>「金ぞく」のカードを空欄に重ねて貼る（スライドでも同じ文を映す）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区分"/>
          <p:cNvSpPr txBox="1"/>
          <p:nvPr/>
        </p:nvSpPr>
        <p:spPr>
          <a:xfrm>
            <a:off x="548640" y="274320"/>
            <a:ext cx="8229600" cy="292608"/>
          </a:xfrm>
          <a:prstGeom prst="rect">
            <a:avLst/>
          </a:prstGeom>
          <a:noFill/>
        </p:spPr>
        <p:txBody>
          <a:bodyPr wrap="square" lIns="73152" rIns="73152" tIns="36576" bIns="36576" anchor="t">
            <a:spAutoFit/>
          </a:bodyPr>
          <a:lstStyle/>
          <a:p>
            <a:pPr algn="l">
              <a:lnSpc>
                <a:spcPct val="118000"/>
              </a:lnSpc>
            </a:pPr>
            <a:r>
              <a:rPr sz="1300" b="1">
                <a:solidFill>
                  <a:srgbClr val="5F646B"/>
                </a:solidFill>
                <a:latin typeface="BIZ UDゴシック"/>
                <a:ea typeface="BIZ UDゴシック"/>
              </a:rPr>
              <a:t>本時の展開　場面4</a:t>
            </a:r>
          </a:p>
        </p:txBody>
      </p:sp>
      <p:sp>
        <p:nvSpPr>
          <p:cNvPr id="3" name="見出しの線"/>
          <p:cNvSpPr/>
          <p:nvPr/>
        </p:nvSpPr>
        <p:spPr>
          <a:xfrm>
            <a:off x="548640" y="640080"/>
            <a:ext cx="82296" cy="47548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見出し"/>
          <p:cNvSpPr txBox="1"/>
          <p:nvPr/>
        </p:nvSpPr>
        <p:spPr>
          <a:xfrm>
            <a:off x="749808" y="566928"/>
            <a:ext cx="10972800" cy="603504"/>
          </a:xfrm>
          <a:prstGeom prst="rect">
            <a:avLst/>
          </a:prstGeom>
          <a:noFill/>
        </p:spPr>
        <p:txBody>
          <a:bodyPr wrap="square" lIns="73152" rIns="73152" tIns="36576" bIns="36576" anchor="ctr">
            <a:spAutoFit/>
          </a:bodyPr>
          <a:lstStyle/>
          <a:p>
            <a:pPr algn="l">
              <a:lnSpc>
                <a:spcPct val="118000"/>
              </a:lnSpc>
            </a:pPr>
            <a:r>
              <a:rPr sz="2800" b="1">
                <a:solidFill>
                  <a:srgbClr val="1F2328"/>
                </a:solidFill>
                <a:latin typeface="BIZ UDゴシック"/>
                <a:ea typeface="BIZ UDゴシック"/>
              </a:rPr>
              <a:t>予想を出し合う（ひとり 班 全体）</a:t>
            </a:r>
          </a:p>
        </p:txBody>
      </p:sp>
      <p:sp>
        <p:nvSpPr>
          <p:cNvPr id="5" name="足もと"/>
          <p:cNvSpPr txBox="1"/>
          <p:nvPr/>
        </p:nvSpPr>
        <p:spPr>
          <a:xfrm>
            <a:off x="548640" y="6455664"/>
            <a:ext cx="8229600" cy="256032"/>
          </a:xfrm>
          <a:prstGeom prst="rect">
            <a:avLst/>
          </a:prstGeom>
          <a:noFill/>
        </p:spPr>
        <p:txBody>
          <a:bodyPr wrap="square" lIns="73152" rIns="73152" tIns="36576" bIns="36576" anchor="t">
            <a:spAutoFit/>
          </a:bodyPr>
          <a:lstStyle/>
          <a:p>
            <a:pPr algn="l">
              <a:lnSpc>
                <a:spcPct val="118000"/>
              </a:lnSpc>
            </a:pPr>
            <a:r>
              <a:rPr sz="1000" b="0">
                <a:solidFill>
                  <a:srgbClr val="8A9097"/>
                </a:solidFill>
                <a:latin typeface="BIZ UDゴシック"/>
                <a:ea typeface="BIZ UDゴシック"/>
              </a:rPr>
              <a:t>4年 理科　物の体積と温度　授業者説明</a:t>
            </a:r>
          </a:p>
        </p:txBody>
      </p:sp>
      <p:sp>
        <p:nvSpPr>
          <p:cNvPr id="6" name="ページ"/>
          <p:cNvSpPr txBox="1"/>
          <p:nvPr/>
        </p:nvSpPr>
        <p:spPr>
          <a:xfrm>
            <a:off x="10545775" y="6455664"/>
            <a:ext cx="1097280" cy="256032"/>
          </a:xfrm>
          <a:prstGeom prst="rect">
            <a:avLst/>
          </a:prstGeom>
          <a:noFill/>
        </p:spPr>
        <p:txBody>
          <a:bodyPr wrap="square" lIns="73152" rIns="73152" tIns="36576" bIns="36576" anchor="t">
            <a:spAutoFit/>
          </a:bodyPr>
          <a:lstStyle/>
          <a:p>
            <a:pPr algn="r">
              <a:lnSpc>
                <a:spcPct val="118000"/>
              </a:lnSpc>
            </a:pPr>
            <a:r>
              <a:rPr sz="1000" b="0">
                <a:solidFill>
                  <a:srgbClr val="8A9097"/>
                </a:solidFill>
                <a:latin typeface="BIZ UDゴシック"/>
                <a:ea typeface="BIZ UDゴシック"/>
              </a:rPr>
              <a:t>14</a:t>
            </a:r>
          </a:p>
        </p:txBody>
      </p:sp>
      <p:sp>
        <p:nvSpPr>
          <p:cNvPr id="7" name="札_先生"/>
          <p:cNvSpPr/>
          <p:nvPr/>
        </p:nvSpPr>
        <p:spPr>
          <a:xfrm>
            <a:off x="548640" y="1298448"/>
            <a:ext cx="604520" cy="310896"/>
          </a:xfrm>
          <a:prstGeom prst="roundRect">
            <a:avLst>
              <a:gd name="adj" fmla="val 3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289304"/>
            <a:ext cx="604520" cy="329184"/>
          </a:xfrm>
          <a:prstGeom prst="rect">
            <a:avLst/>
          </a:prstGeom>
          <a:noFill/>
        </p:spPr>
        <p:txBody>
          <a:bodyPr wrap="square" lIns="73152" rIns="73152" tIns="36576" bIns="36576" anchor="ctr">
            <a:spAutoFit/>
          </a:bodyPr>
          <a:lstStyle/>
          <a:p>
            <a:pPr algn="ctr">
              <a:lnSpc>
                <a:spcPct val="118000"/>
              </a:lnSpc>
            </a:pPr>
            <a:r>
              <a:rPr sz="1300" b="1">
                <a:solidFill>
                  <a:srgbClr val="FFFFFF"/>
                </a:solidFill>
                <a:latin typeface="BIZ UDゴシック"/>
                <a:ea typeface="BIZ UDゴシック"/>
              </a:rPr>
              <a:t>先生</a:t>
            </a:r>
          </a:p>
        </p:txBody>
      </p:sp>
      <p:sp>
        <p:nvSpPr>
          <p:cNvPr id="9" name="札_予想される子どもの反応"/>
          <p:cNvSpPr/>
          <p:nvPr/>
        </p:nvSpPr>
        <p:spPr>
          <a:xfrm>
            <a:off x="6080759" y="1298448"/>
            <a:ext cx="2090419" cy="310896"/>
          </a:xfrm>
          <a:prstGeom prst="roundRect">
            <a:avLst>
              <a:gd name="adj" fmla="val 30000"/>
            </a:avLst>
          </a:prstGeom>
          <a:solidFill>
            <a:srgbClr val="5F6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59" y="1289304"/>
            <a:ext cx="2090419" cy="329184"/>
          </a:xfrm>
          <a:prstGeom prst="rect">
            <a:avLst/>
          </a:prstGeom>
          <a:noFill/>
        </p:spPr>
        <p:txBody>
          <a:bodyPr wrap="square" lIns="73152" rIns="73152" tIns="36576" bIns="36576" anchor="ctr">
            <a:spAutoFit/>
          </a:bodyPr>
          <a:lstStyle/>
          <a:p>
            <a:pPr algn="ctr">
              <a:lnSpc>
                <a:spcPct val="118000"/>
              </a:lnSpc>
            </a:pPr>
            <a:r>
              <a:rPr sz="1300" b="1">
                <a:solidFill>
                  <a:srgbClr val="FFFFFF"/>
                </a:solidFill>
                <a:latin typeface="BIZ UDゴシック"/>
                <a:ea typeface="BIZ UDゴシック"/>
              </a:rPr>
              <a:t>予想される子どもの反応</a:t>
            </a:r>
          </a:p>
        </p:txBody>
      </p:sp>
      <p:sp>
        <p:nvSpPr>
          <p:cNvPr id="11" name="Rounded Rectangle 10"/>
          <p:cNvSpPr/>
          <p:nvPr/>
        </p:nvSpPr>
        <p:spPr>
          <a:xfrm>
            <a:off x="548640" y="1737360"/>
            <a:ext cx="5257800" cy="777240"/>
          </a:xfrm>
          <a:prstGeom prst="roundRect">
            <a:avLst>
              <a:gd name="adj" fmla="val 12000"/>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1737360"/>
            <a:ext cx="5038344" cy="777240"/>
          </a:xfrm>
          <a:prstGeom prst="rect">
            <a:avLst/>
          </a:prstGeom>
          <a:noFill/>
        </p:spPr>
        <p:txBody>
          <a:bodyPr wrap="square" lIns="73152" rIns="73152" tIns="36576" bIns="36576" anchor="ctr">
            <a:spAutoFit/>
          </a:bodyPr>
          <a:lstStyle/>
          <a:p>
            <a:pPr algn="l">
              <a:lnSpc>
                <a:spcPct val="108000"/>
              </a:lnSpc>
            </a:pPr>
            <a:r>
              <a:rPr sz="1400" b="1">
                <a:solidFill>
                  <a:srgbClr val="1F2328"/>
                </a:solidFill>
                <a:latin typeface="BIZ UDゴシック"/>
                <a:ea typeface="BIZ UDゴシック"/>
              </a:rPr>
              <a:t>自分の予想と理由を付箋に書こう</a:t>
            </a:r>
          </a:p>
          <a:p>
            <a:pPr algn="l">
              <a:lnSpc>
                <a:spcPct val="108000"/>
              </a:lnSpc>
            </a:pPr>
            <a:r>
              <a:rPr sz="1400" b="1">
                <a:solidFill>
                  <a:srgbClr val="1F2328"/>
                </a:solidFill>
                <a:latin typeface="BIZ UDゴシック"/>
                <a:ea typeface="BIZ UDゴシック"/>
              </a:rPr>
              <a:t>水色は変わる ピンクは変わらない</a:t>
            </a:r>
          </a:p>
        </p:txBody>
      </p:sp>
      <p:sp>
        <p:nvSpPr>
          <p:cNvPr id="13" name="Rounded Rectangle 12"/>
          <p:cNvSpPr/>
          <p:nvPr/>
        </p:nvSpPr>
        <p:spPr>
          <a:xfrm>
            <a:off x="548640" y="2624328"/>
            <a:ext cx="5257800" cy="777240"/>
          </a:xfrm>
          <a:prstGeom prst="roundRect">
            <a:avLst>
              <a:gd name="adj" fmla="val 12000"/>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624328"/>
            <a:ext cx="5038344" cy="777240"/>
          </a:xfrm>
          <a:prstGeom prst="rect">
            <a:avLst/>
          </a:prstGeom>
          <a:noFill/>
        </p:spPr>
        <p:txBody>
          <a:bodyPr wrap="square" lIns="73152" rIns="73152" tIns="36576" bIns="36576" anchor="ctr">
            <a:spAutoFit/>
          </a:bodyPr>
          <a:lstStyle/>
          <a:p>
            <a:pPr algn="l">
              <a:lnSpc>
                <a:spcPct val="108000"/>
              </a:lnSpc>
            </a:pPr>
            <a:r>
              <a:rPr sz="1400" b="1">
                <a:solidFill>
                  <a:srgbClr val="1F2328"/>
                </a:solidFill>
                <a:latin typeface="BIZ UDゴシック"/>
                <a:ea typeface="BIZ UDゴシック"/>
              </a:rPr>
              <a:t>司会　どう思う？</a:t>
            </a:r>
          </a:p>
          <a:p>
            <a:pPr algn="l">
              <a:lnSpc>
                <a:spcPct val="108000"/>
              </a:lnSpc>
            </a:pPr>
            <a:r>
              <a:rPr sz="1400" b="1">
                <a:solidFill>
                  <a:srgbClr val="1F2328"/>
                </a:solidFill>
                <a:latin typeface="BIZ UDゴシック"/>
                <a:ea typeface="BIZ UDゴシック"/>
              </a:rPr>
              <a:t>どうしてそう思ったの？</a:t>
            </a:r>
          </a:p>
        </p:txBody>
      </p:sp>
      <p:sp>
        <p:nvSpPr>
          <p:cNvPr id="15" name="Rounded Rectangle 14"/>
          <p:cNvSpPr/>
          <p:nvPr/>
        </p:nvSpPr>
        <p:spPr>
          <a:xfrm>
            <a:off x="548640" y="3511296"/>
            <a:ext cx="5257800" cy="777240"/>
          </a:xfrm>
          <a:prstGeom prst="roundRect">
            <a:avLst>
              <a:gd name="adj" fmla="val 12000"/>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511296"/>
            <a:ext cx="5038344" cy="777240"/>
          </a:xfrm>
          <a:prstGeom prst="rect">
            <a:avLst/>
          </a:prstGeom>
          <a:noFill/>
        </p:spPr>
        <p:txBody>
          <a:bodyPr wrap="square" lIns="73152" rIns="73152" tIns="36576" bIns="36576" anchor="ctr">
            <a:spAutoFit/>
          </a:bodyPr>
          <a:lstStyle/>
          <a:p>
            <a:pPr algn="l">
              <a:lnSpc>
                <a:spcPct val="108000"/>
              </a:lnSpc>
            </a:pPr>
            <a:r>
              <a:rPr sz="1400" b="1">
                <a:solidFill>
                  <a:srgbClr val="1F2328"/>
                </a:solidFill>
                <a:latin typeface="BIZ UDゴシック"/>
                <a:ea typeface="BIZ UDゴシック"/>
              </a:rPr>
              <a:t>班の台紙を黒板に貼ろう</a:t>
            </a:r>
          </a:p>
          <a:p>
            <a:pPr algn="l">
              <a:lnSpc>
                <a:spcPct val="108000"/>
              </a:lnSpc>
            </a:pPr>
            <a:r>
              <a:rPr sz="1400" b="1">
                <a:solidFill>
                  <a:srgbClr val="1F2328"/>
                </a:solidFill>
                <a:latin typeface="BIZ UDゴシック"/>
                <a:ea typeface="BIZ UDゴシック"/>
              </a:rPr>
              <a:t>理由のちがいを比べよう</a:t>
            </a:r>
          </a:p>
        </p:txBody>
      </p:sp>
      <p:sp>
        <p:nvSpPr>
          <p:cNvPr id="17" name="Rounded Rectangle 16"/>
          <p:cNvSpPr/>
          <p:nvPr/>
        </p:nvSpPr>
        <p:spPr>
          <a:xfrm>
            <a:off x="6080759" y="1737360"/>
            <a:ext cx="5559552" cy="777240"/>
          </a:xfrm>
          <a:prstGeom prst="roundRect">
            <a:avLst>
              <a:gd name="adj" fmla="val 12000"/>
            </a:avLst>
          </a:prstGeom>
          <a:solidFill>
            <a:srgbClr val="FFFFFF"/>
          </a:solidFill>
          <a:ln w="25400">
            <a:solidFill>
              <a:srgbClr val="2B9A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1737360"/>
            <a:ext cx="5340096" cy="777240"/>
          </a:xfrm>
          <a:prstGeom prst="rect">
            <a:avLst/>
          </a:prstGeom>
          <a:noFill/>
        </p:spPr>
        <p:txBody>
          <a:bodyPr wrap="square" lIns="73152" rIns="73152" tIns="36576" bIns="36576" anchor="ctr">
            <a:spAutoFit/>
          </a:bodyPr>
          <a:lstStyle/>
          <a:p>
            <a:pPr algn="l">
              <a:lnSpc>
                <a:spcPct val="108000"/>
              </a:lnSpc>
            </a:pPr>
            <a:r>
              <a:rPr sz="1400" b="0">
                <a:solidFill>
                  <a:srgbClr val="1F2328"/>
                </a:solidFill>
                <a:latin typeface="BIZ UDゴシック"/>
                <a:ea typeface="BIZ UDゴシック"/>
              </a:rPr>
              <a:t>空気も水も大きくなったから</a:t>
            </a:r>
          </a:p>
          <a:p>
            <a:pPr algn="l">
              <a:lnSpc>
                <a:spcPct val="108000"/>
              </a:lnSpc>
            </a:pPr>
            <a:r>
              <a:rPr sz="1400" b="0">
                <a:solidFill>
                  <a:srgbClr val="1F2328"/>
                </a:solidFill>
                <a:latin typeface="BIZ UDゴシック"/>
                <a:ea typeface="BIZ UDゴシック"/>
              </a:rPr>
              <a:t>金ぞくも大きくなると思う</a:t>
            </a:r>
          </a:p>
        </p:txBody>
      </p:sp>
      <p:sp>
        <p:nvSpPr>
          <p:cNvPr id="19" name="Rounded Rectangle 18"/>
          <p:cNvSpPr/>
          <p:nvPr/>
        </p:nvSpPr>
        <p:spPr>
          <a:xfrm>
            <a:off x="6080759" y="2624328"/>
            <a:ext cx="5559552" cy="777240"/>
          </a:xfrm>
          <a:prstGeom prst="roundRect">
            <a:avLst>
              <a:gd name="adj" fmla="val 12000"/>
            </a:avLst>
          </a:prstGeom>
          <a:solidFill>
            <a:srgbClr val="FFFFFF"/>
          </a:solidFill>
          <a:ln w="25400">
            <a:solidFill>
              <a:srgbClr val="E066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90488" y="2624328"/>
            <a:ext cx="5340096" cy="777240"/>
          </a:xfrm>
          <a:prstGeom prst="rect">
            <a:avLst/>
          </a:prstGeom>
          <a:noFill/>
        </p:spPr>
        <p:txBody>
          <a:bodyPr wrap="square" lIns="73152" rIns="73152" tIns="36576" bIns="36576" anchor="ctr">
            <a:spAutoFit/>
          </a:bodyPr>
          <a:lstStyle/>
          <a:p>
            <a:pPr algn="l">
              <a:lnSpc>
                <a:spcPct val="108000"/>
              </a:lnSpc>
            </a:pPr>
            <a:r>
              <a:rPr sz="1400" b="0">
                <a:solidFill>
                  <a:srgbClr val="1F2328"/>
                </a:solidFill>
                <a:latin typeface="BIZ UDゴシック"/>
                <a:ea typeface="BIZ UDゴシック"/>
              </a:rPr>
              <a:t>水は空気ほど大きくならなかった</a:t>
            </a:r>
          </a:p>
          <a:p>
            <a:pPr algn="l">
              <a:lnSpc>
                <a:spcPct val="108000"/>
              </a:lnSpc>
            </a:pPr>
            <a:r>
              <a:rPr sz="1400" b="0">
                <a:solidFill>
                  <a:srgbClr val="1F2328"/>
                </a:solidFill>
                <a:latin typeface="BIZ UDゴシック"/>
                <a:ea typeface="BIZ UDゴシック"/>
              </a:rPr>
              <a:t>かたい金ぞくは もっと変わらない</a:t>
            </a:r>
          </a:p>
        </p:txBody>
      </p:sp>
      <p:sp>
        <p:nvSpPr>
          <p:cNvPr id="21" name="Rounded Rectangle 20"/>
          <p:cNvSpPr/>
          <p:nvPr/>
        </p:nvSpPr>
        <p:spPr>
          <a:xfrm>
            <a:off x="6080759" y="3511296"/>
            <a:ext cx="5559552" cy="777240"/>
          </a:xfrm>
          <a:prstGeom prst="roundRect">
            <a:avLst>
              <a:gd name="adj" fmla="val 12000"/>
            </a:avLst>
          </a:prstGeom>
          <a:solidFill>
            <a:srgbClr val="FFFFFF"/>
          </a:solidFill>
          <a:ln w="25400">
            <a:solidFill>
              <a:srgbClr val="2B9A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90488" y="3511296"/>
            <a:ext cx="5340096" cy="777240"/>
          </a:xfrm>
          <a:prstGeom prst="rect">
            <a:avLst/>
          </a:prstGeom>
          <a:noFill/>
        </p:spPr>
        <p:txBody>
          <a:bodyPr wrap="square" lIns="73152" rIns="73152" tIns="36576" bIns="36576" anchor="ctr">
            <a:spAutoFit/>
          </a:bodyPr>
          <a:lstStyle/>
          <a:p>
            <a:pPr algn="l">
              <a:lnSpc>
                <a:spcPct val="108000"/>
              </a:lnSpc>
            </a:pPr>
            <a:r>
              <a:rPr sz="1400" b="0">
                <a:solidFill>
                  <a:srgbClr val="1F2328"/>
                </a:solidFill>
                <a:latin typeface="BIZ UDゴシック"/>
                <a:ea typeface="BIZ UDゴシック"/>
              </a:rPr>
              <a:t>びんの金ぞくのふたは お湯で</a:t>
            </a:r>
          </a:p>
          <a:p>
            <a:pPr algn="l">
              <a:lnSpc>
                <a:spcPct val="108000"/>
              </a:lnSpc>
            </a:pPr>
            <a:r>
              <a:rPr sz="1400" b="0">
                <a:solidFill>
                  <a:srgbClr val="1F2328"/>
                </a:solidFill>
                <a:latin typeface="BIZ UDゴシック"/>
                <a:ea typeface="BIZ UDゴシック"/>
              </a:rPr>
              <a:t>あたためると開けやすくなると聞いた</a:t>
            </a:r>
          </a:p>
        </p:txBody>
      </p:sp>
      <p:sp>
        <p:nvSpPr>
          <p:cNvPr id="23" name="Rounded Rectangle 22"/>
          <p:cNvSpPr/>
          <p:nvPr/>
        </p:nvSpPr>
        <p:spPr>
          <a:xfrm>
            <a:off x="6080759" y="4398264"/>
            <a:ext cx="5559552" cy="507491"/>
          </a:xfrm>
          <a:prstGeom prst="roundRect">
            <a:avLst>
              <a:gd name="adj" fmla="val 12000"/>
            </a:avLst>
          </a:prstGeom>
          <a:solidFill>
            <a:srgbClr val="FFFFFF"/>
          </a:solidFill>
          <a:ln w="25400">
            <a:solidFill>
              <a:srgbClr val="E066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90488" y="4398264"/>
            <a:ext cx="5340096" cy="507491"/>
          </a:xfrm>
          <a:prstGeom prst="rect">
            <a:avLst/>
          </a:prstGeom>
          <a:noFill/>
        </p:spPr>
        <p:txBody>
          <a:bodyPr wrap="square" lIns="73152" rIns="73152" tIns="36576" bIns="36576" anchor="ctr">
            <a:spAutoFit/>
          </a:bodyPr>
          <a:lstStyle/>
          <a:p>
            <a:pPr algn="l">
              <a:lnSpc>
                <a:spcPct val="108000"/>
              </a:lnSpc>
            </a:pPr>
            <a:r>
              <a:rPr sz="1400" b="0">
                <a:solidFill>
                  <a:srgbClr val="1F2328"/>
                </a:solidFill>
                <a:latin typeface="BIZ UDゴシック"/>
                <a:ea typeface="BIZ UDゴシック"/>
              </a:rPr>
              <a:t>鉄ぼうは 夏も冬も同じに見える</a:t>
            </a:r>
          </a:p>
        </p:txBody>
      </p:sp>
      <p:sp>
        <p:nvSpPr>
          <p:cNvPr id="25" name="Rectangle 24"/>
          <p:cNvSpPr/>
          <p:nvPr/>
        </p:nvSpPr>
        <p:spPr>
          <a:xfrm>
            <a:off x="548640" y="5486400"/>
            <a:ext cx="11091672" cy="841248"/>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486400"/>
            <a:ext cx="1097280" cy="841248"/>
          </a:xfrm>
          <a:prstGeom prst="rect">
            <a:avLst/>
          </a:prstGeom>
          <a:noFill/>
        </p:spPr>
        <p:txBody>
          <a:bodyPr wrap="square" lIns="73152" rIns="73152" tIns="36576" bIns="36576" anchor="ctr">
            <a:spAutoFit/>
          </a:bodyPr>
          <a:lstStyle/>
          <a:p>
            <a:pPr algn="l">
              <a:lnSpc>
                <a:spcPct val="118000"/>
              </a:lnSpc>
            </a:pPr>
            <a:r>
              <a:rPr sz="1400" b="1">
                <a:solidFill>
                  <a:srgbClr val="C2410C"/>
                </a:solidFill>
                <a:latin typeface="BIZ UDゴシック"/>
                <a:ea typeface="BIZ UDゴシック"/>
              </a:rPr>
              <a:t>手立て</a:t>
            </a:r>
          </a:p>
        </p:txBody>
      </p:sp>
      <p:sp>
        <p:nvSpPr>
          <p:cNvPr id="27" name="TextBox 26"/>
          <p:cNvSpPr txBox="1"/>
          <p:nvPr/>
        </p:nvSpPr>
        <p:spPr>
          <a:xfrm>
            <a:off x="1783080" y="5486400"/>
            <a:ext cx="9784080" cy="841248"/>
          </a:xfrm>
          <a:prstGeom prst="rect">
            <a:avLst/>
          </a:prstGeom>
          <a:noFill/>
        </p:spPr>
        <p:txBody>
          <a:bodyPr wrap="square" lIns="73152" rIns="73152" tIns="36576" bIns="36576" anchor="ctr">
            <a:spAutoFit/>
          </a:bodyPr>
          <a:lstStyle/>
          <a:p>
            <a:pPr algn="l">
              <a:lnSpc>
                <a:spcPct val="112000"/>
              </a:lnSpc>
            </a:pPr>
            <a:r>
              <a:rPr sz="1300" b="0">
                <a:solidFill>
                  <a:srgbClr val="1F2328"/>
                </a:solidFill>
                <a:latin typeface="BIZ UDゴシック"/>
                <a:ea typeface="BIZ UDゴシック"/>
              </a:rPr>
              <a:t>付箋の書き方はスライドで示す　頭に「変わる」「変わらない」と書いてから理由を書く</a:t>
            </a:r>
          </a:p>
          <a:p>
            <a:pPr algn="l">
              <a:lnSpc>
                <a:spcPct val="112000"/>
              </a:lnSpc>
            </a:pPr>
            <a:r>
              <a:rPr sz="1300" b="0">
                <a:solidFill>
                  <a:srgbClr val="1F2328"/>
                </a:solidFill>
                <a:latin typeface="BIZ UDゴシック"/>
                <a:ea typeface="BIZ UDゴシック"/>
              </a:rPr>
              <a:t>理由を「空気や水の学習から」と「生活経験から」に分けて板書する</a:t>
            </a:r>
          </a:p>
        </p:txBody>
      </p:sp>
      <p:sp>
        <p:nvSpPr>
          <p:cNvPr id="28" name="TextBox 27"/>
          <p:cNvSpPr txBox="1"/>
          <p:nvPr/>
        </p:nvSpPr>
        <p:spPr>
          <a:xfrm>
            <a:off x="8348472" y="1298448"/>
            <a:ext cx="3291840" cy="310896"/>
          </a:xfrm>
          <a:prstGeom prst="rect">
            <a:avLst/>
          </a:prstGeom>
          <a:noFill/>
        </p:spPr>
        <p:txBody>
          <a:bodyPr wrap="square" lIns="73152" rIns="73152" tIns="36576" bIns="36576" anchor="ctr">
            <a:spAutoFit/>
          </a:bodyPr>
          <a:lstStyle/>
          <a:p>
            <a:pPr algn="r">
              <a:lnSpc>
                <a:spcPct val="118000"/>
              </a:lnSpc>
            </a:pPr>
            <a:r>
              <a:rPr sz="1100" b="0">
                <a:solidFill>
                  <a:srgbClr val="5F646B"/>
                </a:solidFill>
                <a:latin typeface="BIZ UDゴシック"/>
                <a:ea typeface="BIZ UDゴシック"/>
              </a:rPr>
              <a:t>水色の枠は変わる　ピンクの枠は変わらない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区分"/>
          <p:cNvSpPr txBox="1"/>
          <p:nvPr/>
        </p:nvSpPr>
        <p:spPr>
          <a:xfrm>
            <a:off x="548640" y="274320"/>
            <a:ext cx="8229600" cy="292608"/>
          </a:xfrm>
          <a:prstGeom prst="rect">
            <a:avLst/>
          </a:prstGeom>
          <a:noFill/>
        </p:spPr>
        <p:txBody>
          <a:bodyPr wrap="square" lIns="73152" rIns="73152" tIns="36576" bIns="36576" anchor="t">
            <a:spAutoFit/>
          </a:bodyPr>
          <a:lstStyle/>
          <a:p>
            <a:pPr algn="l">
              <a:lnSpc>
                <a:spcPct val="118000"/>
              </a:lnSpc>
            </a:pPr>
            <a:r>
              <a:rPr sz="1300" b="1">
                <a:solidFill>
                  <a:srgbClr val="5F646B"/>
                </a:solidFill>
                <a:latin typeface="BIZ UDゴシック"/>
                <a:ea typeface="BIZ UDゴシック"/>
              </a:rPr>
              <a:t>本時の展開　場面5</a:t>
            </a:r>
          </a:p>
        </p:txBody>
      </p:sp>
      <p:sp>
        <p:nvSpPr>
          <p:cNvPr id="3" name="見出しの線"/>
          <p:cNvSpPr/>
          <p:nvPr/>
        </p:nvSpPr>
        <p:spPr>
          <a:xfrm>
            <a:off x="548640" y="640080"/>
            <a:ext cx="82296" cy="47548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見出し"/>
          <p:cNvSpPr txBox="1"/>
          <p:nvPr/>
        </p:nvSpPr>
        <p:spPr>
          <a:xfrm>
            <a:off x="749808" y="566928"/>
            <a:ext cx="10972800" cy="603504"/>
          </a:xfrm>
          <a:prstGeom prst="rect">
            <a:avLst/>
          </a:prstGeom>
          <a:noFill/>
        </p:spPr>
        <p:txBody>
          <a:bodyPr wrap="square" lIns="73152" rIns="73152" tIns="36576" bIns="36576" anchor="ctr">
            <a:spAutoFit/>
          </a:bodyPr>
          <a:lstStyle/>
          <a:p>
            <a:pPr algn="l">
              <a:lnSpc>
                <a:spcPct val="118000"/>
              </a:lnSpc>
            </a:pPr>
            <a:r>
              <a:rPr sz="2800" b="1">
                <a:solidFill>
                  <a:srgbClr val="1F2328"/>
                </a:solidFill>
                <a:latin typeface="BIZ UDゴシック"/>
                <a:ea typeface="BIZ UDゴシック"/>
              </a:rPr>
              <a:t>湯であたためて調べる</a:t>
            </a:r>
          </a:p>
        </p:txBody>
      </p:sp>
      <p:sp>
        <p:nvSpPr>
          <p:cNvPr id="5" name="足もと"/>
          <p:cNvSpPr txBox="1"/>
          <p:nvPr/>
        </p:nvSpPr>
        <p:spPr>
          <a:xfrm>
            <a:off x="548640" y="6455664"/>
            <a:ext cx="8229600" cy="256032"/>
          </a:xfrm>
          <a:prstGeom prst="rect">
            <a:avLst/>
          </a:prstGeom>
          <a:noFill/>
        </p:spPr>
        <p:txBody>
          <a:bodyPr wrap="square" lIns="73152" rIns="73152" tIns="36576" bIns="36576" anchor="t">
            <a:spAutoFit/>
          </a:bodyPr>
          <a:lstStyle/>
          <a:p>
            <a:pPr algn="l">
              <a:lnSpc>
                <a:spcPct val="118000"/>
              </a:lnSpc>
            </a:pPr>
            <a:r>
              <a:rPr sz="1000" b="0">
                <a:solidFill>
                  <a:srgbClr val="8A9097"/>
                </a:solidFill>
                <a:latin typeface="BIZ UDゴシック"/>
                <a:ea typeface="BIZ UDゴシック"/>
              </a:rPr>
              <a:t>4年 理科　物の体積と温度　授業者説明</a:t>
            </a:r>
          </a:p>
        </p:txBody>
      </p:sp>
      <p:sp>
        <p:nvSpPr>
          <p:cNvPr id="6" name="ページ"/>
          <p:cNvSpPr txBox="1"/>
          <p:nvPr/>
        </p:nvSpPr>
        <p:spPr>
          <a:xfrm>
            <a:off x="10545775" y="6455664"/>
            <a:ext cx="1097280" cy="256032"/>
          </a:xfrm>
          <a:prstGeom prst="rect">
            <a:avLst/>
          </a:prstGeom>
          <a:noFill/>
        </p:spPr>
        <p:txBody>
          <a:bodyPr wrap="square" lIns="73152" rIns="73152" tIns="36576" bIns="36576" anchor="t">
            <a:spAutoFit/>
          </a:bodyPr>
          <a:lstStyle/>
          <a:p>
            <a:pPr algn="r">
              <a:lnSpc>
                <a:spcPct val="118000"/>
              </a:lnSpc>
            </a:pPr>
            <a:r>
              <a:rPr sz="1000" b="0">
                <a:solidFill>
                  <a:srgbClr val="8A9097"/>
                </a:solidFill>
                <a:latin typeface="BIZ UDゴシック"/>
                <a:ea typeface="BIZ UDゴシック"/>
              </a:rPr>
              <a:t>15</a:t>
            </a:r>
          </a:p>
        </p:txBody>
      </p:sp>
      <p:sp>
        <p:nvSpPr>
          <p:cNvPr id="7" name="札_先生"/>
          <p:cNvSpPr/>
          <p:nvPr/>
        </p:nvSpPr>
        <p:spPr>
          <a:xfrm>
            <a:off x="548640" y="1298448"/>
            <a:ext cx="604520" cy="310896"/>
          </a:xfrm>
          <a:prstGeom prst="roundRect">
            <a:avLst>
              <a:gd name="adj" fmla="val 3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289304"/>
            <a:ext cx="604520" cy="329184"/>
          </a:xfrm>
          <a:prstGeom prst="rect">
            <a:avLst/>
          </a:prstGeom>
          <a:noFill/>
        </p:spPr>
        <p:txBody>
          <a:bodyPr wrap="square" lIns="73152" rIns="73152" tIns="36576" bIns="36576" anchor="ctr">
            <a:spAutoFit/>
          </a:bodyPr>
          <a:lstStyle/>
          <a:p>
            <a:pPr algn="ctr">
              <a:lnSpc>
                <a:spcPct val="118000"/>
              </a:lnSpc>
            </a:pPr>
            <a:r>
              <a:rPr sz="1300" b="1">
                <a:solidFill>
                  <a:srgbClr val="FFFFFF"/>
                </a:solidFill>
                <a:latin typeface="BIZ UDゴシック"/>
                <a:ea typeface="BIZ UDゴシック"/>
              </a:rPr>
              <a:t>先生</a:t>
            </a:r>
          </a:p>
        </p:txBody>
      </p:sp>
      <p:sp>
        <p:nvSpPr>
          <p:cNvPr id="9" name="札_予想される子どもの反応"/>
          <p:cNvSpPr/>
          <p:nvPr/>
        </p:nvSpPr>
        <p:spPr>
          <a:xfrm>
            <a:off x="6080759" y="1298448"/>
            <a:ext cx="2090419" cy="310896"/>
          </a:xfrm>
          <a:prstGeom prst="roundRect">
            <a:avLst>
              <a:gd name="adj" fmla="val 30000"/>
            </a:avLst>
          </a:prstGeom>
          <a:solidFill>
            <a:srgbClr val="5F6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59" y="1289304"/>
            <a:ext cx="2090419" cy="329184"/>
          </a:xfrm>
          <a:prstGeom prst="rect">
            <a:avLst/>
          </a:prstGeom>
          <a:noFill/>
        </p:spPr>
        <p:txBody>
          <a:bodyPr wrap="square" lIns="73152" rIns="73152" tIns="36576" bIns="36576" anchor="ctr">
            <a:spAutoFit/>
          </a:bodyPr>
          <a:lstStyle/>
          <a:p>
            <a:pPr algn="ctr">
              <a:lnSpc>
                <a:spcPct val="118000"/>
              </a:lnSpc>
            </a:pPr>
            <a:r>
              <a:rPr sz="1300" b="1">
                <a:solidFill>
                  <a:srgbClr val="FFFFFF"/>
                </a:solidFill>
                <a:latin typeface="BIZ UDゴシック"/>
                <a:ea typeface="BIZ UDゴシック"/>
              </a:rPr>
              <a:t>予想される子どもの反応</a:t>
            </a:r>
          </a:p>
        </p:txBody>
      </p:sp>
      <p:sp>
        <p:nvSpPr>
          <p:cNvPr id="11" name="Rounded Rectangle 10"/>
          <p:cNvSpPr/>
          <p:nvPr/>
        </p:nvSpPr>
        <p:spPr>
          <a:xfrm>
            <a:off x="548640" y="1737360"/>
            <a:ext cx="5257800" cy="777240"/>
          </a:xfrm>
          <a:prstGeom prst="roundRect">
            <a:avLst>
              <a:gd name="adj" fmla="val 12000"/>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1737360"/>
            <a:ext cx="5038344" cy="777240"/>
          </a:xfrm>
          <a:prstGeom prst="rect">
            <a:avLst/>
          </a:prstGeom>
          <a:noFill/>
        </p:spPr>
        <p:txBody>
          <a:bodyPr wrap="square" lIns="73152" rIns="73152" tIns="36576" bIns="36576" anchor="ctr">
            <a:spAutoFit/>
          </a:bodyPr>
          <a:lstStyle/>
          <a:p>
            <a:pPr algn="l">
              <a:lnSpc>
                <a:spcPct val="108000"/>
              </a:lnSpc>
            </a:pPr>
            <a:r>
              <a:rPr sz="1400" b="1">
                <a:solidFill>
                  <a:srgbClr val="1F2328"/>
                </a:solidFill>
                <a:latin typeface="BIZ UDゴシック"/>
                <a:ea typeface="BIZ UDゴシック"/>
              </a:rPr>
              <a:t>空気や水のときは</a:t>
            </a:r>
          </a:p>
          <a:p>
            <a:pPr algn="l">
              <a:lnSpc>
                <a:spcPct val="108000"/>
              </a:lnSpc>
            </a:pPr>
            <a:r>
              <a:rPr sz="1400" b="1">
                <a:solidFill>
                  <a:srgbClr val="1F2328"/>
                </a:solidFill>
                <a:latin typeface="BIZ UDゴシック"/>
                <a:ea typeface="BIZ UDゴシック"/>
              </a:rPr>
              <a:t>どうやって調べたかな</a:t>
            </a:r>
          </a:p>
        </p:txBody>
      </p:sp>
      <p:sp>
        <p:nvSpPr>
          <p:cNvPr id="13" name="Rounded Rectangle 12"/>
          <p:cNvSpPr/>
          <p:nvPr/>
        </p:nvSpPr>
        <p:spPr>
          <a:xfrm>
            <a:off x="548640" y="2624328"/>
            <a:ext cx="5257800" cy="777240"/>
          </a:xfrm>
          <a:prstGeom prst="roundRect">
            <a:avLst>
              <a:gd name="adj" fmla="val 12000"/>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624328"/>
            <a:ext cx="5038344" cy="777240"/>
          </a:xfrm>
          <a:prstGeom prst="rect">
            <a:avLst/>
          </a:prstGeom>
          <a:noFill/>
        </p:spPr>
        <p:txBody>
          <a:bodyPr wrap="square" lIns="73152" rIns="73152" tIns="36576" bIns="36576" anchor="ctr">
            <a:spAutoFit/>
          </a:bodyPr>
          <a:lstStyle/>
          <a:p>
            <a:pPr algn="l">
              <a:lnSpc>
                <a:spcPct val="108000"/>
              </a:lnSpc>
            </a:pPr>
            <a:r>
              <a:rPr sz="1400" b="1">
                <a:solidFill>
                  <a:srgbClr val="1F2328"/>
                </a:solidFill>
                <a:latin typeface="BIZ UDゴシック"/>
                <a:ea typeface="BIZ UDゴシック"/>
              </a:rPr>
              <a:t>この玉には輪があるよ</a:t>
            </a:r>
          </a:p>
          <a:p>
            <a:pPr algn="l">
              <a:lnSpc>
                <a:spcPct val="108000"/>
              </a:lnSpc>
            </a:pPr>
            <a:r>
              <a:rPr sz="1400" b="1">
                <a:solidFill>
                  <a:srgbClr val="1F2328"/>
                </a:solidFill>
                <a:latin typeface="BIZ UDゴシック"/>
                <a:ea typeface="BIZ UDゴシック"/>
              </a:rPr>
              <a:t>あたためる前は ぎりぎり通る</a:t>
            </a:r>
          </a:p>
        </p:txBody>
      </p:sp>
      <p:sp>
        <p:nvSpPr>
          <p:cNvPr id="15" name="Rounded Rectangle 14"/>
          <p:cNvSpPr/>
          <p:nvPr/>
        </p:nvSpPr>
        <p:spPr>
          <a:xfrm>
            <a:off x="548640" y="3511296"/>
            <a:ext cx="5257800" cy="777240"/>
          </a:xfrm>
          <a:prstGeom prst="roundRect">
            <a:avLst>
              <a:gd name="adj" fmla="val 12000"/>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511296"/>
            <a:ext cx="5038344" cy="777240"/>
          </a:xfrm>
          <a:prstGeom prst="rect">
            <a:avLst/>
          </a:prstGeom>
          <a:noFill/>
        </p:spPr>
        <p:txBody>
          <a:bodyPr wrap="square" lIns="73152" rIns="73152" tIns="36576" bIns="36576" anchor="ctr">
            <a:spAutoFit/>
          </a:bodyPr>
          <a:lstStyle/>
          <a:p>
            <a:pPr algn="l">
              <a:lnSpc>
                <a:spcPct val="108000"/>
              </a:lnSpc>
            </a:pPr>
            <a:r>
              <a:rPr sz="1400" b="1">
                <a:solidFill>
                  <a:srgbClr val="1F2328"/>
                </a:solidFill>
                <a:latin typeface="BIZ UDゴシック"/>
                <a:ea typeface="BIZ UDゴシック"/>
              </a:rPr>
              <a:t>予想が正しければ</a:t>
            </a:r>
          </a:p>
          <a:p>
            <a:pPr algn="l">
              <a:lnSpc>
                <a:spcPct val="108000"/>
              </a:lnSpc>
            </a:pPr>
            <a:r>
              <a:rPr sz="1400" b="1">
                <a:solidFill>
                  <a:srgbClr val="1F2328"/>
                </a:solidFill>
                <a:latin typeface="BIZ UDゴシック"/>
                <a:ea typeface="BIZ UDゴシック"/>
              </a:rPr>
              <a:t>あたためた玉は 通る？通らない？</a:t>
            </a:r>
          </a:p>
        </p:txBody>
      </p:sp>
      <p:sp>
        <p:nvSpPr>
          <p:cNvPr id="17" name="Rounded Rectangle 16"/>
          <p:cNvSpPr/>
          <p:nvPr/>
        </p:nvSpPr>
        <p:spPr>
          <a:xfrm>
            <a:off x="6080759" y="1737360"/>
            <a:ext cx="5559552" cy="777240"/>
          </a:xfrm>
          <a:prstGeom prst="roundRect">
            <a:avLst>
              <a:gd name="adj" fmla="val 12000"/>
            </a:avLst>
          </a:prstGeom>
          <a:solidFill>
            <a:srgbClr val="FFFFFF"/>
          </a:solidFill>
          <a:ln w="12700">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1737360"/>
            <a:ext cx="5340096" cy="777240"/>
          </a:xfrm>
          <a:prstGeom prst="rect">
            <a:avLst/>
          </a:prstGeom>
          <a:noFill/>
        </p:spPr>
        <p:txBody>
          <a:bodyPr wrap="square" lIns="73152" rIns="73152" tIns="36576" bIns="36576" anchor="ctr">
            <a:spAutoFit/>
          </a:bodyPr>
          <a:lstStyle/>
          <a:p>
            <a:pPr algn="l">
              <a:lnSpc>
                <a:spcPct val="108000"/>
              </a:lnSpc>
            </a:pPr>
            <a:r>
              <a:rPr sz="1400" b="0">
                <a:solidFill>
                  <a:srgbClr val="1F2328"/>
                </a:solidFill>
                <a:latin typeface="BIZ UDゴシック"/>
                <a:ea typeface="BIZ UDゴシック"/>
              </a:rPr>
              <a:t>空気や水と同じように</a:t>
            </a:r>
          </a:p>
          <a:p>
            <a:pPr algn="l">
              <a:lnSpc>
                <a:spcPct val="108000"/>
              </a:lnSpc>
            </a:pPr>
            <a:r>
              <a:rPr sz="1400" b="0">
                <a:solidFill>
                  <a:srgbClr val="1F2328"/>
                </a:solidFill>
                <a:latin typeface="BIZ UDゴシック"/>
                <a:ea typeface="BIZ UDゴシック"/>
              </a:rPr>
              <a:t>湯であたためればいい</a:t>
            </a:r>
          </a:p>
        </p:txBody>
      </p:sp>
      <p:sp>
        <p:nvSpPr>
          <p:cNvPr id="19" name="Rounded Rectangle 18"/>
          <p:cNvSpPr/>
          <p:nvPr/>
        </p:nvSpPr>
        <p:spPr>
          <a:xfrm>
            <a:off x="6080759" y="2624328"/>
            <a:ext cx="5559552" cy="777240"/>
          </a:xfrm>
          <a:prstGeom prst="roundRect">
            <a:avLst>
              <a:gd name="adj" fmla="val 12000"/>
            </a:avLst>
          </a:prstGeom>
          <a:solidFill>
            <a:srgbClr val="FFFFFF"/>
          </a:solidFill>
          <a:ln w="25400">
            <a:solidFill>
              <a:srgbClr val="2B9A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90488" y="2624328"/>
            <a:ext cx="5340096" cy="777240"/>
          </a:xfrm>
          <a:prstGeom prst="rect">
            <a:avLst/>
          </a:prstGeom>
          <a:noFill/>
        </p:spPr>
        <p:txBody>
          <a:bodyPr wrap="square" lIns="73152" rIns="73152" tIns="36576" bIns="36576" anchor="ctr">
            <a:spAutoFit/>
          </a:bodyPr>
          <a:lstStyle/>
          <a:p>
            <a:pPr algn="l">
              <a:lnSpc>
                <a:spcPct val="108000"/>
              </a:lnSpc>
            </a:pPr>
            <a:r>
              <a:rPr sz="1400" b="0">
                <a:solidFill>
                  <a:srgbClr val="1F2328"/>
                </a:solidFill>
                <a:latin typeface="BIZ UDゴシック"/>
                <a:ea typeface="BIZ UDゴシック"/>
              </a:rPr>
              <a:t>大きくなるなら</a:t>
            </a:r>
          </a:p>
          <a:p>
            <a:pPr algn="l">
              <a:lnSpc>
                <a:spcPct val="108000"/>
              </a:lnSpc>
            </a:pPr>
            <a:r>
              <a:rPr sz="1400" b="0">
                <a:solidFill>
                  <a:srgbClr val="1F2328"/>
                </a:solidFill>
                <a:latin typeface="BIZ UDゴシック"/>
                <a:ea typeface="BIZ UDゴシック"/>
              </a:rPr>
              <a:t>玉は輪を通らなくなるはず</a:t>
            </a:r>
          </a:p>
        </p:txBody>
      </p:sp>
      <p:sp>
        <p:nvSpPr>
          <p:cNvPr id="21" name="Rounded Rectangle 20"/>
          <p:cNvSpPr/>
          <p:nvPr/>
        </p:nvSpPr>
        <p:spPr>
          <a:xfrm>
            <a:off x="6080759" y="3511296"/>
            <a:ext cx="5559552" cy="777240"/>
          </a:xfrm>
          <a:prstGeom prst="roundRect">
            <a:avLst>
              <a:gd name="adj" fmla="val 12000"/>
            </a:avLst>
          </a:prstGeom>
          <a:solidFill>
            <a:srgbClr val="FFFFFF"/>
          </a:solidFill>
          <a:ln w="25400">
            <a:solidFill>
              <a:srgbClr val="E066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90488" y="3511296"/>
            <a:ext cx="5340096" cy="777240"/>
          </a:xfrm>
          <a:prstGeom prst="rect">
            <a:avLst/>
          </a:prstGeom>
          <a:noFill/>
        </p:spPr>
        <p:txBody>
          <a:bodyPr wrap="square" lIns="73152" rIns="73152" tIns="36576" bIns="36576" anchor="ctr">
            <a:spAutoFit/>
          </a:bodyPr>
          <a:lstStyle/>
          <a:p>
            <a:pPr algn="l">
              <a:lnSpc>
                <a:spcPct val="108000"/>
              </a:lnSpc>
            </a:pPr>
            <a:r>
              <a:rPr sz="1400" b="0">
                <a:solidFill>
                  <a:srgbClr val="1F2328"/>
                </a:solidFill>
                <a:latin typeface="BIZ UDゴシック"/>
                <a:ea typeface="BIZ UDゴシック"/>
              </a:rPr>
              <a:t>湯につけたのに 通った</a:t>
            </a:r>
          </a:p>
          <a:p>
            <a:pPr algn="l">
              <a:lnSpc>
                <a:spcPct val="108000"/>
              </a:lnSpc>
            </a:pPr>
            <a:r>
              <a:rPr sz="1400" b="0">
                <a:solidFill>
                  <a:srgbClr val="1F2328"/>
                </a:solidFill>
                <a:latin typeface="BIZ UDゴシック"/>
                <a:ea typeface="BIZ UDゴシック"/>
              </a:rPr>
              <a:t>やっぱり変わらないのかな</a:t>
            </a:r>
          </a:p>
        </p:txBody>
      </p:sp>
      <p:sp>
        <p:nvSpPr>
          <p:cNvPr id="23" name="Rectangle 22"/>
          <p:cNvSpPr/>
          <p:nvPr/>
        </p:nvSpPr>
        <p:spPr>
          <a:xfrm>
            <a:off x="548640" y="4864608"/>
            <a:ext cx="11091672" cy="502920"/>
          </a:xfrm>
          <a:prstGeom prst="rect">
            <a:avLst/>
          </a:prstGeom>
          <a:solidFill>
            <a:srgbClr val="FFFFFF"/>
          </a:solidFill>
          <a:ln w="1905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864608"/>
            <a:ext cx="914400" cy="502920"/>
          </a:xfrm>
          <a:prstGeom prst="rect">
            <a:avLst/>
          </a:prstGeom>
          <a:noFill/>
        </p:spPr>
        <p:txBody>
          <a:bodyPr wrap="square" lIns="73152" rIns="73152" tIns="36576" bIns="36576" anchor="ctr">
            <a:spAutoFit/>
          </a:bodyPr>
          <a:lstStyle/>
          <a:p>
            <a:pPr algn="l">
              <a:lnSpc>
                <a:spcPct val="118000"/>
              </a:lnSpc>
            </a:pPr>
            <a:r>
              <a:rPr sz="1400" b="1">
                <a:solidFill>
                  <a:srgbClr val="C2410C"/>
                </a:solidFill>
                <a:latin typeface="BIZ UDゴシック"/>
                <a:ea typeface="BIZ UDゴシック"/>
              </a:rPr>
              <a:t>計画</a:t>
            </a:r>
          </a:p>
        </p:txBody>
      </p:sp>
      <p:sp>
        <p:nvSpPr>
          <p:cNvPr id="25" name="TextBox 24"/>
          <p:cNvSpPr txBox="1"/>
          <p:nvPr/>
        </p:nvSpPr>
        <p:spPr>
          <a:xfrm>
            <a:off x="1554480" y="4864608"/>
            <a:ext cx="9966960" cy="502920"/>
          </a:xfrm>
          <a:prstGeom prst="rect">
            <a:avLst/>
          </a:prstGeom>
          <a:noFill/>
        </p:spPr>
        <p:txBody>
          <a:bodyPr wrap="square" lIns="73152" rIns="73152" tIns="36576" bIns="36576" anchor="ctr">
            <a:spAutoFit/>
          </a:bodyPr>
          <a:lstStyle/>
          <a:p>
            <a:pPr algn="l">
              <a:lnSpc>
                <a:spcPct val="118000"/>
              </a:lnSpc>
            </a:pPr>
            <a:r>
              <a:rPr sz="1700" b="1">
                <a:solidFill>
                  <a:srgbClr val="1F2328"/>
                </a:solidFill>
                <a:latin typeface="BIZ UDゴシック"/>
                <a:ea typeface="BIZ UDゴシック"/>
              </a:rPr>
              <a:t>玉を湯であたためて 輪を通るかどうかを調べる</a:t>
            </a:r>
          </a:p>
        </p:txBody>
      </p:sp>
      <p:sp>
        <p:nvSpPr>
          <p:cNvPr id="26" name="Rectangle 25"/>
          <p:cNvSpPr/>
          <p:nvPr/>
        </p:nvSpPr>
        <p:spPr>
          <a:xfrm>
            <a:off x="548640" y="5486400"/>
            <a:ext cx="11091672" cy="841248"/>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486400"/>
            <a:ext cx="1097280" cy="841248"/>
          </a:xfrm>
          <a:prstGeom prst="rect">
            <a:avLst/>
          </a:prstGeom>
          <a:noFill/>
        </p:spPr>
        <p:txBody>
          <a:bodyPr wrap="square" lIns="73152" rIns="73152" tIns="36576" bIns="36576" anchor="ctr">
            <a:spAutoFit/>
          </a:bodyPr>
          <a:lstStyle/>
          <a:p>
            <a:pPr algn="l">
              <a:lnSpc>
                <a:spcPct val="118000"/>
              </a:lnSpc>
            </a:pPr>
            <a:r>
              <a:rPr sz="1400" b="1">
                <a:solidFill>
                  <a:srgbClr val="C2410C"/>
                </a:solidFill>
                <a:latin typeface="BIZ UDゴシック"/>
                <a:ea typeface="BIZ UDゴシック"/>
              </a:rPr>
              <a:t>手立て</a:t>
            </a:r>
          </a:p>
        </p:txBody>
      </p:sp>
      <p:sp>
        <p:nvSpPr>
          <p:cNvPr id="28" name="TextBox 27"/>
          <p:cNvSpPr txBox="1"/>
          <p:nvPr/>
        </p:nvSpPr>
        <p:spPr>
          <a:xfrm>
            <a:off x="1783080" y="5486400"/>
            <a:ext cx="9784080" cy="841248"/>
          </a:xfrm>
          <a:prstGeom prst="rect">
            <a:avLst/>
          </a:prstGeom>
          <a:noFill/>
        </p:spPr>
        <p:txBody>
          <a:bodyPr wrap="square" lIns="73152" rIns="73152" tIns="36576" bIns="36576" anchor="ctr">
            <a:spAutoFit/>
          </a:bodyPr>
          <a:lstStyle/>
          <a:p>
            <a:pPr algn="l">
              <a:lnSpc>
                <a:spcPct val="112000"/>
              </a:lnSpc>
            </a:pPr>
            <a:r>
              <a:rPr sz="1300" b="0">
                <a:solidFill>
                  <a:srgbClr val="1F2328"/>
                </a:solidFill>
                <a:latin typeface="BIZ UDゴシック"/>
                <a:ea typeface="BIZ UDゴシック"/>
              </a:rPr>
              <a:t>教師が60℃くらいの湯をサーモカップに入れて各班に配る　玉は柄を持つ</a:t>
            </a:r>
          </a:p>
          <a:p>
            <a:pPr algn="l">
              <a:lnSpc>
                <a:spcPct val="112000"/>
              </a:lnSpc>
            </a:pPr>
            <a:r>
              <a:rPr sz="1300" b="0">
                <a:solidFill>
                  <a:srgbClr val="1F2328"/>
                </a:solidFill>
                <a:latin typeface="BIZ UDゴシック"/>
                <a:ea typeface="BIZ UDゴシック"/>
              </a:rPr>
              <a:t>湯に1分ほどつけてから輪に通す　班ごとの結果を板書する</a:t>
            </a:r>
          </a:p>
        </p:txBody>
      </p:sp>
      <p:sp>
        <p:nvSpPr>
          <p:cNvPr id="29" name="TextBox 28"/>
          <p:cNvSpPr txBox="1"/>
          <p:nvPr/>
        </p:nvSpPr>
        <p:spPr>
          <a:xfrm>
            <a:off x="8348472" y="1298448"/>
            <a:ext cx="3291840" cy="310896"/>
          </a:xfrm>
          <a:prstGeom prst="rect">
            <a:avLst/>
          </a:prstGeom>
          <a:noFill/>
        </p:spPr>
        <p:txBody>
          <a:bodyPr wrap="square" lIns="73152" rIns="73152" tIns="36576" bIns="36576" anchor="ctr">
            <a:spAutoFit/>
          </a:bodyPr>
          <a:lstStyle/>
          <a:p>
            <a:pPr algn="r">
              <a:lnSpc>
                <a:spcPct val="118000"/>
              </a:lnSpc>
            </a:pPr>
            <a:r>
              <a:rPr sz="1100" b="0">
                <a:solidFill>
                  <a:srgbClr val="5F646B"/>
                </a:solidFill>
                <a:latin typeface="BIZ UDゴシック"/>
                <a:ea typeface="BIZ UDゴシック"/>
              </a:rPr>
              <a:t>水色の枠は変わる　ピンクの枠は変わらない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区分"/>
          <p:cNvSpPr txBox="1"/>
          <p:nvPr/>
        </p:nvSpPr>
        <p:spPr>
          <a:xfrm>
            <a:off x="548640" y="274320"/>
            <a:ext cx="8229600" cy="292608"/>
          </a:xfrm>
          <a:prstGeom prst="rect">
            <a:avLst/>
          </a:prstGeom>
          <a:noFill/>
        </p:spPr>
        <p:txBody>
          <a:bodyPr wrap="square" lIns="73152" rIns="73152" tIns="36576" bIns="36576" anchor="t">
            <a:spAutoFit/>
          </a:bodyPr>
          <a:lstStyle/>
          <a:p>
            <a:pPr algn="l">
              <a:lnSpc>
                <a:spcPct val="118000"/>
              </a:lnSpc>
            </a:pPr>
            <a:r>
              <a:rPr sz="1300" b="1">
                <a:solidFill>
                  <a:srgbClr val="5F646B"/>
                </a:solidFill>
                <a:latin typeface="BIZ UDゴシック"/>
                <a:ea typeface="BIZ UDゴシック"/>
              </a:rPr>
              <a:t>本時の展開　場面6</a:t>
            </a:r>
          </a:p>
        </p:txBody>
      </p:sp>
      <p:sp>
        <p:nvSpPr>
          <p:cNvPr id="3" name="見出しの線"/>
          <p:cNvSpPr/>
          <p:nvPr/>
        </p:nvSpPr>
        <p:spPr>
          <a:xfrm>
            <a:off x="548640" y="640080"/>
            <a:ext cx="82296" cy="47548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見出し"/>
          <p:cNvSpPr txBox="1"/>
          <p:nvPr/>
        </p:nvSpPr>
        <p:spPr>
          <a:xfrm>
            <a:off x="749808" y="566928"/>
            <a:ext cx="10972800" cy="603504"/>
          </a:xfrm>
          <a:prstGeom prst="rect">
            <a:avLst/>
          </a:prstGeom>
          <a:noFill/>
        </p:spPr>
        <p:txBody>
          <a:bodyPr wrap="square" lIns="73152" rIns="73152" tIns="36576" bIns="36576" anchor="ctr">
            <a:spAutoFit/>
          </a:bodyPr>
          <a:lstStyle/>
          <a:p>
            <a:pPr algn="l">
              <a:lnSpc>
                <a:spcPct val="118000"/>
              </a:lnSpc>
            </a:pPr>
            <a:r>
              <a:rPr sz="2800" b="1">
                <a:solidFill>
                  <a:srgbClr val="1F2328"/>
                </a:solidFill>
                <a:latin typeface="BIZ UDゴシック"/>
                <a:ea typeface="BIZ UDゴシック"/>
              </a:rPr>
              <a:t>結果をふり返り レールのすきまを見る</a:t>
            </a:r>
          </a:p>
        </p:txBody>
      </p:sp>
      <p:sp>
        <p:nvSpPr>
          <p:cNvPr id="5" name="足もと"/>
          <p:cNvSpPr txBox="1"/>
          <p:nvPr/>
        </p:nvSpPr>
        <p:spPr>
          <a:xfrm>
            <a:off x="548640" y="6455664"/>
            <a:ext cx="8229600" cy="256032"/>
          </a:xfrm>
          <a:prstGeom prst="rect">
            <a:avLst/>
          </a:prstGeom>
          <a:noFill/>
        </p:spPr>
        <p:txBody>
          <a:bodyPr wrap="square" lIns="73152" rIns="73152" tIns="36576" bIns="36576" anchor="t">
            <a:spAutoFit/>
          </a:bodyPr>
          <a:lstStyle/>
          <a:p>
            <a:pPr algn="l">
              <a:lnSpc>
                <a:spcPct val="118000"/>
              </a:lnSpc>
            </a:pPr>
            <a:r>
              <a:rPr sz="1000" b="0">
                <a:solidFill>
                  <a:srgbClr val="8A9097"/>
                </a:solidFill>
                <a:latin typeface="BIZ UDゴシック"/>
                <a:ea typeface="BIZ UDゴシック"/>
              </a:rPr>
              <a:t>4年 理科　物の体積と温度　授業者説明</a:t>
            </a:r>
          </a:p>
        </p:txBody>
      </p:sp>
      <p:sp>
        <p:nvSpPr>
          <p:cNvPr id="6" name="ページ"/>
          <p:cNvSpPr txBox="1"/>
          <p:nvPr/>
        </p:nvSpPr>
        <p:spPr>
          <a:xfrm>
            <a:off x="10545775" y="6455664"/>
            <a:ext cx="1097280" cy="256032"/>
          </a:xfrm>
          <a:prstGeom prst="rect">
            <a:avLst/>
          </a:prstGeom>
          <a:noFill/>
        </p:spPr>
        <p:txBody>
          <a:bodyPr wrap="square" lIns="73152" rIns="73152" tIns="36576" bIns="36576" anchor="t">
            <a:spAutoFit/>
          </a:bodyPr>
          <a:lstStyle/>
          <a:p>
            <a:pPr algn="r">
              <a:lnSpc>
                <a:spcPct val="118000"/>
              </a:lnSpc>
            </a:pPr>
            <a:r>
              <a:rPr sz="1000" b="0">
                <a:solidFill>
                  <a:srgbClr val="8A9097"/>
                </a:solidFill>
                <a:latin typeface="BIZ UDゴシック"/>
                <a:ea typeface="BIZ UDゴシック"/>
              </a:rPr>
              <a:t>16</a:t>
            </a:r>
          </a:p>
        </p:txBody>
      </p:sp>
      <p:sp>
        <p:nvSpPr>
          <p:cNvPr id="7" name="札_先生"/>
          <p:cNvSpPr/>
          <p:nvPr/>
        </p:nvSpPr>
        <p:spPr>
          <a:xfrm>
            <a:off x="548640" y="1298448"/>
            <a:ext cx="604520" cy="310896"/>
          </a:xfrm>
          <a:prstGeom prst="roundRect">
            <a:avLst>
              <a:gd name="adj" fmla="val 3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289304"/>
            <a:ext cx="604520" cy="329184"/>
          </a:xfrm>
          <a:prstGeom prst="rect">
            <a:avLst/>
          </a:prstGeom>
          <a:noFill/>
        </p:spPr>
        <p:txBody>
          <a:bodyPr wrap="square" lIns="73152" rIns="73152" tIns="36576" bIns="36576" anchor="ctr">
            <a:spAutoFit/>
          </a:bodyPr>
          <a:lstStyle/>
          <a:p>
            <a:pPr algn="ctr">
              <a:lnSpc>
                <a:spcPct val="118000"/>
              </a:lnSpc>
            </a:pPr>
            <a:r>
              <a:rPr sz="1300" b="1">
                <a:solidFill>
                  <a:srgbClr val="FFFFFF"/>
                </a:solidFill>
                <a:latin typeface="BIZ UDゴシック"/>
                <a:ea typeface="BIZ UDゴシック"/>
              </a:rPr>
              <a:t>先生</a:t>
            </a:r>
          </a:p>
        </p:txBody>
      </p:sp>
      <p:sp>
        <p:nvSpPr>
          <p:cNvPr id="9" name="札_予想される子どもの反応"/>
          <p:cNvSpPr/>
          <p:nvPr/>
        </p:nvSpPr>
        <p:spPr>
          <a:xfrm>
            <a:off x="6080759" y="1298448"/>
            <a:ext cx="2090419" cy="310896"/>
          </a:xfrm>
          <a:prstGeom prst="roundRect">
            <a:avLst>
              <a:gd name="adj" fmla="val 30000"/>
            </a:avLst>
          </a:prstGeom>
          <a:solidFill>
            <a:srgbClr val="5F6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59" y="1289304"/>
            <a:ext cx="2090419" cy="329184"/>
          </a:xfrm>
          <a:prstGeom prst="rect">
            <a:avLst/>
          </a:prstGeom>
          <a:noFill/>
        </p:spPr>
        <p:txBody>
          <a:bodyPr wrap="square" lIns="73152" rIns="73152" tIns="36576" bIns="36576" anchor="ctr">
            <a:spAutoFit/>
          </a:bodyPr>
          <a:lstStyle/>
          <a:p>
            <a:pPr algn="ctr">
              <a:lnSpc>
                <a:spcPct val="118000"/>
              </a:lnSpc>
            </a:pPr>
            <a:r>
              <a:rPr sz="1300" b="1">
                <a:solidFill>
                  <a:srgbClr val="FFFFFF"/>
                </a:solidFill>
                <a:latin typeface="BIZ UDゴシック"/>
                <a:ea typeface="BIZ UDゴシック"/>
              </a:rPr>
              <a:t>予想される子どもの反応</a:t>
            </a:r>
          </a:p>
        </p:txBody>
      </p:sp>
      <p:sp>
        <p:nvSpPr>
          <p:cNvPr id="11" name="Rounded Rectangle 10"/>
          <p:cNvSpPr/>
          <p:nvPr/>
        </p:nvSpPr>
        <p:spPr>
          <a:xfrm>
            <a:off x="548640" y="1737360"/>
            <a:ext cx="5257800" cy="777240"/>
          </a:xfrm>
          <a:prstGeom prst="roundRect">
            <a:avLst>
              <a:gd name="adj" fmla="val 12000"/>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1737360"/>
            <a:ext cx="5038344" cy="777240"/>
          </a:xfrm>
          <a:prstGeom prst="rect">
            <a:avLst/>
          </a:prstGeom>
          <a:noFill/>
        </p:spPr>
        <p:txBody>
          <a:bodyPr wrap="square" lIns="73152" rIns="73152" tIns="36576" bIns="36576" anchor="ctr">
            <a:spAutoFit/>
          </a:bodyPr>
          <a:lstStyle/>
          <a:p>
            <a:pPr algn="l">
              <a:lnSpc>
                <a:spcPct val="108000"/>
              </a:lnSpc>
            </a:pPr>
            <a:r>
              <a:rPr sz="1400" b="1">
                <a:solidFill>
                  <a:srgbClr val="1F2328"/>
                </a:solidFill>
                <a:latin typeface="BIZ UDゴシック"/>
                <a:ea typeface="BIZ UDゴシック"/>
              </a:rPr>
              <a:t>この結果から</a:t>
            </a:r>
          </a:p>
          <a:p>
            <a:pPr algn="l">
              <a:lnSpc>
                <a:spcPct val="108000"/>
              </a:lnSpc>
            </a:pPr>
            <a:r>
              <a:rPr sz="1400" b="1">
                <a:solidFill>
                  <a:srgbClr val="1F2328"/>
                </a:solidFill>
                <a:latin typeface="BIZ UDゴシック"/>
                <a:ea typeface="BIZ UDゴシック"/>
              </a:rPr>
              <a:t>どうまとめる？</a:t>
            </a:r>
          </a:p>
        </p:txBody>
      </p:sp>
      <p:sp>
        <p:nvSpPr>
          <p:cNvPr id="13" name="Rounded Rectangle 12"/>
          <p:cNvSpPr/>
          <p:nvPr/>
        </p:nvSpPr>
        <p:spPr>
          <a:xfrm>
            <a:off x="548640" y="2624328"/>
            <a:ext cx="5257800" cy="777240"/>
          </a:xfrm>
          <a:prstGeom prst="roundRect">
            <a:avLst>
              <a:gd name="adj" fmla="val 12000"/>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624328"/>
            <a:ext cx="5038344" cy="777240"/>
          </a:xfrm>
          <a:prstGeom prst="rect">
            <a:avLst/>
          </a:prstGeom>
          <a:noFill/>
        </p:spPr>
        <p:txBody>
          <a:bodyPr wrap="square" lIns="73152" rIns="73152" tIns="36576" bIns="36576" anchor="ctr">
            <a:spAutoFit/>
          </a:bodyPr>
          <a:lstStyle/>
          <a:p>
            <a:pPr algn="l">
              <a:lnSpc>
                <a:spcPct val="108000"/>
              </a:lnSpc>
            </a:pPr>
            <a:r>
              <a:rPr sz="1400" b="1">
                <a:solidFill>
                  <a:srgbClr val="1F2328"/>
                </a:solidFill>
                <a:latin typeface="BIZ UDゴシック"/>
                <a:ea typeface="BIZ UDゴシック"/>
              </a:rPr>
              <a:t>これは線路のつなぎ目の写真です</a:t>
            </a:r>
          </a:p>
          <a:p>
            <a:pPr algn="l">
              <a:lnSpc>
                <a:spcPct val="108000"/>
              </a:lnSpc>
            </a:pPr>
            <a:r>
              <a:rPr sz="1400" b="1">
                <a:solidFill>
                  <a:srgbClr val="1F2328"/>
                </a:solidFill>
                <a:latin typeface="BIZ UDゴシック"/>
                <a:ea typeface="BIZ UDゴシック"/>
              </a:rPr>
              <a:t>なぜ すきまをあけているのだろう</a:t>
            </a:r>
          </a:p>
        </p:txBody>
      </p:sp>
      <p:sp>
        <p:nvSpPr>
          <p:cNvPr id="15" name="Rounded Rectangle 14"/>
          <p:cNvSpPr/>
          <p:nvPr/>
        </p:nvSpPr>
        <p:spPr>
          <a:xfrm>
            <a:off x="6080759" y="1737360"/>
            <a:ext cx="5559552" cy="507491"/>
          </a:xfrm>
          <a:prstGeom prst="roundRect">
            <a:avLst>
              <a:gd name="adj" fmla="val 12000"/>
            </a:avLst>
          </a:prstGeom>
          <a:solidFill>
            <a:srgbClr val="FFFFFF"/>
          </a:solidFill>
          <a:ln w="25400">
            <a:solidFill>
              <a:srgbClr val="E066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0488" y="1737360"/>
            <a:ext cx="5340096" cy="507491"/>
          </a:xfrm>
          <a:prstGeom prst="rect">
            <a:avLst/>
          </a:prstGeom>
          <a:noFill/>
        </p:spPr>
        <p:txBody>
          <a:bodyPr wrap="square" lIns="73152" rIns="73152" tIns="36576" bIns="36576" anchor="ctr">
            <a:spAutoFit/>
          </a:bodyPr>
          <a:lstStyle/>
          <a:p>
            <a:pPr algn="l">
              <a:lnSpc>
                <a:spcPct val="108000"/>
              </a:lnSpc>
            </a:pPr>
            <a:r>
              <a:rPr sz="1400" b="0">
                <a:solidFill>
                  <a:srgbClr val="1F2328"/>
                </a:solidFill>
                <a:latin typeface="BIZ UDゴシック"/>
                <a:ea typeface="BIZ UDゴシック"/>
              </a:rPr>
              <a:t>やっぱり変わらないと思う</a:t>
            </a:r>
          </a:p>
        </p:txBody>
      </p:sp>
      <p:sp>
        <p:nvSpPr>
          <p:cNvPr id="17" name="Rounded Rectangle 16"/>
          <p:cNvSpPr/>
          <p:nvPr/>
        </p:nvSpPr>
        <p:spPr>
          <a:xfrm>
            <a:off x="6080759" y="2354579"/>
            <a:ext cx="5559552" cy="777240"/>
          </a:xfrm>
          <a:prstGeom prst="roundRect">
            <a:avLst>
              <a:gd name="adj" fmla="val 12000"/>
            </a:avLst>
          </a:prstGeom>
          <a:solidFill>
            <a:srgbClr val="FFFFFF"/>
          </a:solidFill>
          <a:ln w="12700">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2354579"/>
            <a:ext cx="5340096" cy="777240"/>
          </a:xfrm>
          <a:prstGeom prst="rect">
            <a:avLst/>
          </a:prstGeom>
          <a:noFill/>
        </p:spPr>
        <p:txBody>
          <a:bodyPr wrap="square" lIns="73152" rIns="73152" tIns="36576" bIns="36576" anchor="ctr">
            <a:spAutoFit/>
          </a:bodyPr>
          <a:lstStyle/>
          <a:p>
            <a:pPr algn="l">
              <a:lnSpc>
                <a:spcPct val="108000"/>
              </a:lnSpc>
            </a:pPr>
            <a:r>
              <a:rPr sz="1400" b="0">
                <a:solidFill>
                  <a:srgbClr val="1F2328"/>
                </a:solidFill>
                <a:latin typeface="BIZ UDゴシック"/>
                <a:ea typeface="BIZ UDゴシック"/>
              </a:rPr>
              <a:t>変わらないなら すきまは</a:t>
            </a:r>
          </a:p>
          <a:p>
            <a:pPr algn="l">
              <a:lnSpc>
                <a:spcPct val="108000"/>
              </a:lnSpc>
            </a:pPr>
            <a:r>
              <a:rPr sz="1400" b="0">
                <a:solidFill>
                  <a:srgbClr val="1F2328"/>
                </a:solidFill>
                <a:latin typeface="BIZ UDゴシック"/>
                <a:ea typeface="BIZ UDゴシック"/>
              </a:rPr>
              <a:t>いらないはず</a:t>
            </a:r>
          </a:p>
        </p:txBody>
      </p:sp>
      <p:sp>
        <p:nvSpPr>
          <p:cNvPr id="19" name="Rounded Rectangle 18"/>
          <p:cNvSpPr/>
          <p:nvPr/>
        </p:nvSpPr>
        <p:spPr>
          <a:xfrm>
            <a:off x="6080759" y="3241548"/>
            <a:ext cx="5559552" cy="777240"/>
          </a:xfrm>
          <a:prstGeom prst="roundRect">
            <a:avLst>
              <a:gd name="adj" fmla="val 12000"/>
            </a:avLst>
          </a:prstGeom>
          <a:solidFill>
            <a:srgbClr val="FFFFFF"/>
          </a:solidFill>
          <a:ln w="12700">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90488" y="3241548"/>
            <a:ext cx="5340096" cy="777240"/>
          </a:xfrm>
          <a:prstGeom prst="rect">
            <a:avLst/>
          </a:prstGeom>
          <a:noFill/>
        </p:spPr>
        <p:txBody>
          <a:bodyPr wrap="square" lIns="73152" rIns="73152" tIns="36576" bIns="36576" anchor="ctr">
            <a:spAutoFit/>
          </a:bodyPr>
          <a:lstStyle/>
          <a:p>
            <a:pPr algn="l">
              <a:lnSpc>
                <a:spcPct val="108000"/>
              </a:lnSpc>
            </a:pPr>
            <a:r>
              <a:rPr sz="1400" b="0">
                <a:solidFill>
                  <a:srgbClr val="1F2328"/>
                </a:solidFill>
                <a:latin typeface="BIZ UDゴシック"/>
                <a:ea typeface="BIZ UDゴシック"/>
              </a:rPr>
              <a:t>湯では あたため方が</a:t>
            </a:r>
          </a:p>
          <a:p>
            <a:pPr algn="l">
              <a:lnSpc>
                <a:spcPct val="108000"/>
              </a:lnSpc>
            </a:pPr>
            <a:r>
              <a:rPr sz="1400" b="0">
                <a:solidFill>
                  <a:srgbClr val="1F2328"/>
                </a:solidFill>
                <a:latin typeface="BIZ UDゴシック"/>
                <a:ea typeface="BIZ UDゴシック"/>
              </a:rPr>
              <a:t>足りなかったのかも</a:t>
            </a:r>
          </a:p>
        </p:txBody>
      </p:sp>
      <p:sp>
        <p:nvSpPr>
          <p:cNvPr id="21" name="Rounded Rectangle 20"/>
          <p:cNvSpPr/>
          <p:nvPr/>
        </p:nvSpPr>
        <p:spPr>
          <a:xfrm>
            <a:off x="6080759" y="4128515"/>
            <a:ext cx="5559552" cy="777240"/>
          </a:xfrm>
          <a:prstGeom prst="roundRect">
            <a:avLst>
              <a:gd name="adj" fmla="val 12000"/>
            </a:avLst>
          </a:prstGeom>
          <a:solidFill>
            <a:srgbClr val="FFFFFF"/>
          </a:solidFill>
          <a:ln w="25400">
            <a:solidFill>
              <a:srgbClr val="2B9A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90488" y="4128515"/>
            <a:ext cx="5340096" cy="777240"/>
          </a:xfrm>
          <a:prstGeom prst="rect">
            <a:avLst/>
          </a:prstGeom>
          <a:noFill/>
        </p:spPr>
        <p:txBody>
          <a:bodyPr wrap="square" lIns="73152" rIns="73152" tIns="36576" bIns="36576" anchor="ctr">
            <a:spAutoFit/>
          </a:bodyPr>
          <a:lstStyle/>
          <a:p>
            <a:pPr algn="l">
              <a:lnSpc>
                <a:spcPct val="108000"/>
              </a:lnSpc>
            </a:pPr>
            <a:r>
              <a:rPr sz="1400" b="0">
                <a:solidFill>
                  <a:srgbClr val="1F2328"/>
                </a:solidFill>
                <a:latin typeface="BIZ UDゴシック"/>
                <a:ea typeface="BIZ UDゴシック"/>
              </a:rPr>
              <a:t>もっと熱くしたら</a:t>
            </a:r>
          </a:p>
          <a:p>
            <a:pPr algn="l">
              <a:lnSpc>
                <a:spcPct val="108000"/>
              </a:lnSpc>
            </a:pPr>
            <a:r>
              <a:rPr sz="1400" b="0">
                <a:solidFill>
                  <a:srgbClr val="1F2328"/>
                </a:solidFill>
                <a:latin typeface="BIZ UDゴシック"/>
                <a:ea typeface="BIZ UDゴシック"/>
              </a:rPr>
              <a:t>通らなくなるのかな</a:t>
            </a:r>
          </a:p>
        </p:txBody>
      </p:sp>
      <p:sp>
        <p:nvSpPr>
          <p:cNvPr id="23" name="Rectangle 22"/>
          <p:cNvSpPr/>
          <p:nvPr/>
        </p:nvSpPr>
        <p:spPr>
          <a:xfrm>
            <a:off x="548640" y="5486400"/>
            <a:ext cx="11091672" cy="841248"/>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486400"/>
            <a:ext cx="1097280" cy="841248"/>
          </a:xfrm>
          <a:prstGeom prst="rect">
            <a:avLst/>
          </a:prstGeom>
          <a:noFill/>
        </p:spPr>
        <p:txBody>
          <a:bodyPr wrap="square" lIns="73152" rIns="73152" tIns="36576" bIns="36576" anchor="ctr">
            <a:spAutoFit/>
          </a:bodyPr>
          <a:lstStyle/>
          <a:p>
            <a:pPr algn="l">
              <a:lnSpc>
                <a:spcPct val="118000"/>
              </a:lnSpc>
            </a:pPr>
            <a:r>
              <a:rPr sz="1400" b="1">
                <a:solidFill>
                  <a:srgbClr val="C2410C"/>
                </a:solidFill>
                <a:latin typeface="BIZ UDゴシック"/>
                <a:ea typeface="BIZ UDゴシック"/>
              </a:rPr>
              <a:t>手立て</a:t>
            </a:r>
          </a:p>
        </p:txBody>
      </p:sp>
      <p:sp>
        <p:nvSpPr>
          <p:cNvPr id="25" name="TextBox 24"/>
          <p:cNvSpPr txBox="1"/>
          <p:nvPr/>
        </p:nvSpPr>
        <p:spPr>
          <a:xfrm>
            <a:off x="1783080" y="5486400"/>
            <a:ext cx="9784080" cy="841248"/>
          </a:xfrm>
          <a:prstGeom prst="rect">
            <a:avLst/>
          </a:prstGeom>
          <a:noFill/>
        </p:spPr>
        <p:txBody>
          <a:bodyPr wrap="square" lIns="73152" rIns="73152" tIns="36576" bIns="36576" anchor="ctr">
            <a:spAutoFit/>
          </a:bodyPr>
          <a:lstStyle/>
          <a:p>
            <a:pPr algn="l">
              <a:lnSpc>
                <a:spcPct val="112000"/>
              </a:lnSpc>
            </a:pPr>
            <a:r>
              <a:rPr sz="1300" b="0">
                <a:solidFill>
                  <a:srgbClr val="1F2328"/>
                </a:solidFill>
                <a:latin typeface="BIZ UDゴシック"/>
                <a:ea typeface="BIZ UDゴシック"/>
              </a:rPr>
              <a:t>教科書に載っているレールのつなぎ目の写真を提示し 実験の結果とのずれに気づかせる</a:t>
            </a:r>
          </a:p>
          <a:p>
            <a:pPr algn="l">
              <a:lnSpc>
                <a:spcPct val="112000"/>
              </a:lnSpc>
            </a:pPr>
            <a:r>
              <a:rPr sz="1300" b="0">
                <a:solidFill>
                  <a:srgbClr val="1F2328"/>
                </a:solidFill>
                <a:latin typeface="BIZ UDゴシック"/>
                <a:ea typeface="BIZ UDゴシック"/>
              </a:rPr>
              <a:t>「あたため方」に目を向けた声を取り上げ 検証の方法をふり返ったことを価値づける</a:t>
            </a:r>
          </a:p>
        </p:txBody>
      </p:sp>
      <p:sp>
        <p:nvSpPr>
          <p:cNvPr id="26" name="TextBox 25"/>
          <p:cNvSpPr txBox="1"/>
          <p:nvPr/>
        </p:nvSpPr>
        <p:spPr>
          <a:xfrm>
            <a:off x="8348472" y="1298448"/>
            <a:ext cx="3291840" cy="310896"/>
          </a:xfrm>
          <a:prstGeom prst="rect">
            <a:avLst/>
          </a:prstGeom>
          <a:noFill/>
        </p:spPr>
        <p:txBody>
          <a:bodyPr wrap="square" lIns="73152" rIns="73152" tIns="36576" bIns="36576" anchor="ctr">
            <a:spAutoFit/>
          </a:bodyPr>
          <a:lstStyle/>
          <a:p>
            <a:pPr algn="r">
              <a:lnSpc>
                <a:spcPct val="118000"/>
              </a:lnSpc>
            </a:pPr>
            <a:r>
              <a:rPr sz="1100" b="0">
                <a:solidFill>
                  <a:srgbClr val="5F646B"/>
                </a:solidFill>
                <a:latin typeface="BIZ UDゴシック"/>
                <a:ea typeface="BIZ UDゴシック"/>
              </a:rPr>
              <a:t>水色の枠は変わる　ピンクの枠は変わらない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区分"/>
          <p:cNvSpPr txBox="1"/>
          <p:nvPr/>
        </p:nvSpPr>
        <p:spPr>
          <a:xfrm>
            <a:off x="548640" y="274320"/>
            <a:ext cx="8229600" cy="292608"/>
          </a:xfrm>
          <a:prstGeom prst="rect">
            <a:avLst/>
          </a:prstGeom>
          <a:noFill/>
        </p:spPr>
        <p:txBody>
          <a:bodyPr wrap="square" lIns="73152" rIns="73152" tIns="36576" bIns="36576" anchor="t">
            <a:spAutoFit/>
          </a:bodyPr>
          <a:lstStyle/>
          <a:p>
            <a:pPr algn="l">
              <a:lnSpc>
                <a:spcPct val="118000"/>
              </a:lnSpc>
            </a:pPr>
            <a:r>
              <a:rPr sz="1300" b="1">
                <a:solidFill>
                  <a:srgbClr val="5F646B"/>
                </a:solidFill>
                <a:latin typeface="BIZ UDゴシック"/>
                <a:ea typeface="BIZ UDゴシック"/>
              </a:rPr>
              <a:t>本時の手立て</a:t>
            </a:r>
          </a:p>
        </p:txBody>
      </p:sp>
      <p:sp>
        <p:nvSpPr>
          <p:cNvPr id="3" name="見出しの線"/>
          <p:cNvSpPr/>
          <p:nvPr/>
        </p:nvSpPr>
        <p:spPr>
          <a:xfrm>
            <a:off x="548640" y="640080"/>
            <a:ext cx="82296" cy="47548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見出し"/>
          <p:cNvSpPr txBox="1"/>
          <p:nvPr/>
        </p:nvSpPr>
        <p:spPr>
          <a:xfrm>
            <a:off x="749808" y="566928"/>
            <a:ext cx="10972800" cy="603504"/>
          </a:xfrm>
          <a:prstGeom prst="rect">
            <a:avLst/>
          </a:prstGeom>
          <a:noFill/>
        </p:spPr>
        <p:txBody>
          <a:bodyPr wrap="square" lIns="73152" rIns="73152" tIns="36576" bIns="36576" anchor="ctr">
            <a:spAutoFit/>
          </a:bodyPr>
          <a:lstStyle/>
          <a:p>
            <a:pPr algn="l">
              <a:lnSpc>
                <a:spcPct val="118000"/>
              </a:lnSpc>
            </a:pPr>
            <a:r>
              <a:rPr sz="2800" b="1">
                <a:solidFill>
                  <a:srgbClr val="1F2328"/>
                </a:solidFill>
                <a:latin typeface="BIZ UDゴシック"/>
                <a:ea typeface="BIZ UDゴシック"/>
              </a:rPr>
              <a:t>学びの足あと（掲示のモデル）</a:t>
            </a:r>
          </a:p>
        </p:txBody>
      </p:sp>
      <p:sp>
        <p:nvSpPr>
          <p:cNvPr id="5" name="足もと"/>
          <p:cNvSpPr txBox="1"/>
          <p:nvPr/>
        </p:nvSpPr>
        <p:spPr>
          <a:xfrm>
            <a:off x="548640" y="6455664"/>
            <a:ext cx="8229600" cy="256032"/>
          </a:xfrm>
          <a:prstGeom prst="rect">
            <a:avLst/>
          </a:prstGeom>
          <a:noFill/>
        </p:spPr>
        <p:txBody>
          <a:bodyPr wrap="square" lIns="73152" rIns="73152" tIns="36576" bIns="36576" anchor="t">
            <a:spAutoFit/>
          </a:bodyPr>
          <a:lstStyle/>
          <a:p>
            <a:pPr algn="l">
              <a:lnSpc>
                <a:spcPct val="118000"/>
              </a:lnSpc>
            </a:pPr>
            <a:r>
              <a:rPr sz="1000" b="0">
                <a:solidFill>
                  <a:srgbClr val="8A9097"/>
                </a:solidFill>
                <a:latin typeface="BIZ UDゴシック"/>
                <a:ea typeface="BIZ UDゴシック"/>
              </a:rPr>
              <a:t>4年 理科　物の体積と温度　授業者説明</a:t>
            </a:r>
          </a:p>
        </p:txBody>
      </p:sp>
      <p:sp>
        <p:nvSpPr>
          <p:cNvPr id="6" name="ページ"/>
          <p:cNvSpPr txBox="1"/>
          <p:nvPr/>
        </p:nvSpPr>
        <p:spPr>
          <a:xfrm>
            <a:off x="10545775" y="6455664"/>
            <a:ext cx="1097280" cy="256032"/>
          </a:xfrm>
          <a:prstGeom prst="rect">
            <a:avLst/>
          </a:prstGeom>
          <a:noFill/>
        </p:spPr>
        <p:txBody>
          <a:bodyPr wrap="square" lIns="73152" rIns="73152" tIns="36576" bIns="36576" anchor="t">
            <a:spAutoFit/>
          </a:bodyPr>
          <a:lstStyle/>
          <a:p>
            <a:pPr algn="r">
              <a:lnSpc>
                <a:spcPct val="118000"/>
              </a:lnSpc>
            </a:pPr>
            <a:r>
              <a:rPr sz="1000" b="0">
                <a:solidFill>
                  <a:srgbClr val="8A9097"/>
                </a:solidFill>
                <a:latin typeface="BIZ UDゴシック"/>
                <a:ea typeface="BIZ UDゴシック"/>
              </a:rPr>
              <a:t>17</a:t>
            </a:r>
          </a:p>
        </p:txBody>
      </p:sp>
      <p:pic>
        <p:nvPicPr>
          <p:cNvPr id="7" name="学びの足あと1" descr="ashiato_1.png"/>
          <p:cNvPicPr>
            <a:picLocks noChangeAspect="1"/>
          </p:cNvPicPr>
          <p:nvPr/>
        </p:nvPicPr>
        <p:blipFill>
          <a:blip r:embed="rId2"/>
          <a:stretch>
            <a:fillRect/>
          </a:stretch>
        </p:blipFill>
        <p:spPr>
          <a:xfrm>
            <a:off x="548640" y="1298448"/>
            <a:ext cx="2651881" cy="3749039"/>
          </a:xfrm>
          <a:prstGeom prst="rect">
            <a:avLst/>
          </a:prstGeom>
        </p:spPr>
      </p:pic>
      <p:sp>
        <p:nvSpPr>
          <p:cNvPr id="8" name="TextBox 7"/>
          <p:cNvSpPr txBox="1"/>
          <p:nvPr/>
        </p:nvSpPr>
        <p:spPr>
          <a:xfrm>
            <a:off x="548640" y="5093207"/>
            <a:ext cx="2651882" cy="292608"/>
          </a:xfrm>
          <a:prstGeom prst="rect">
            <a:avLst/>
          </a:prstGeom>
          <a:noFill/>
        </p:spPr>
        <p:txBody>
          <a:bodyPr wrap="square" lIns="73152" rIns="73152" tIns="36576" bIns="36576" anchor="t">
            <a:spAutoFit/>
          </a:bodyPr>
          <a:lstStyle/>
          <a:p>
            <a:pPr algn="ctr">
              <a:lnSpc>
                <a:spcPct val="118000"/>
              </a:lnSpc>
            </a:pPr>
            <a:r>
              <a:rPr sz="1200" b="1">
                <a:solidFill>
                  <a:srgbClr val="1F2328"/>
                </a:solidFill>
                <a:latin typeface="BIZ UDゴシック"/>
                <a:ea typeface="BIZ UDゴシック"/>
              </a:rPr>
              <a:t>1 空気</a:t>
            </a:r>
          </a:p>
        </p:txBody>
      </p:sp>
      <p:pic>
        <p:nvPicPr>
          <p:cNvPr id="9" name="学びの足あと2" descr="ashiato_2.png"/>
          <p:cNvPicPr>
            <a:picLocks noChangeAspect="1"/>
          </p:cNvPicPr>
          <p:nvPr/>
        </p:nvPicPr>
        <p:blipFill>
          <a:blip r:embed="rId3"/>
          <a:stretch>
            <a:fillRect/>
          </a:stretch>
        </p:blipFill>
        <p:spPr>
          <a:xfrm>
            <a:off x="3361903" y="1298448"/>
            <a:ext cx="2651881" cy="3749039"/>
          </a:xfrm>
          <a:prstGeom prst="rect">
            <a:avLst/>
          </a:prstGeom>
        </p:spPr>
      </p:pic>
      <p:sp>
        <p:nvSpPr>
          <p:cNvPr id="10" name="TextBox 9"/>
          <p:cNvSpPr txBox="1"/>
          <p:nvPr/>
        </p:nvSpPr>
        <p:spPr>
          <a:xfrm>
            <a:off x="3361903" y="5093207"/>
            <a:ext cx="2651882" cy="292608"/>
          </a:xfrm>
          <a:prstGeom prst="rect">
            <a:avLst/>
          </a:prstGeom>
          <a:noFill/>
        </p:spPr>
        <p:txBody>
          <a:bodyPr wrap="square" lIns="73152" rIns="73152" tIns="36576" bIns="36576" anchor="t">
            <a:spAutoFit/>
          </a:bodyPr>
          <a:lstStyle/>
          <a:p>
            <a:pPr algn="ctr">
              <a:lnSpc>
                <a:spcPct val="118000"/>
              </a:lnSpc>
            </a:pPr>
            <a:r>
              <a:rPr sz="1200" b="1">
                <a:solidFill>
                  <a:srgbClr val="1F2328"/>
                </a:solidFill>
                <a:latin typeface="BIZ UDゴシック"/>
                <a:ea typeface="BIZ UDゴシック"/>
              </a:rPr>
              <a:t>2 分類表</a:t>
            </a:r>
          </a:p>
        </p:txBody>
      </p:sp>
      <p:pic>
        <p:nvPicPr>
          <p:cNvPr id="11" name="学びの足あと3" descr="ashiato_3.png"/>
          <p:cNvPicPr>
            <a:picLocks noChangeAspect="1"/>
          </p:cNvPicPr>
          <p:nvPr/>
        </p:nvPicPr>
        <p:blipFill>
          <a:blip r:embed="rId4"/>
          <a:stretch>
            <a:fillRect/>
          </a:stretch>
        </p:blipFill>
        <p:spPr>
          <a:xfrm>
            <a:off x="6175166" y="1298448"/>
            <a:ext cx="2651881" cy="3749039"/>
          </a:xfrm>
          <a:prstGeom prst="rect">
            <a:avLst/>
          </a:prstGeom>
        </p:spPr>
      </p:pic>
      <p:sp>
        <p:nvSpPr>
          <p:cNvPr id="12" name="TextBox 11"/>
          <p:cNvSpPr txBox="1"/>
          <p:nvPr/>
        </p:nvSpPr>
        <p:spPr>
          <a:xfrm>
            <a:off x="6175166" y="5093207"/>
            <a:ext cx="2651882" cy="292608"/>
          </a:xfrm>
          <a:prstGeom prst="rect">
            <a:avLst/>
          </a:prstGeom>
          <a:noFill/>
        </p:spPr>
        <p:txBody>
          <a:bodyPr wrap="square" lIns="73152" rIns="73152" tIns="36576" bIns="36576" anchor="t">
            <a:spAutoFit/>
          </a:bodyPr>
          <a:lstStyle/>
          <a:p>
            <a:pPr algn="ctr">
              <a:lnSpc>
                <a:spcPct val="118000"/>
              </a:lnSpc>
            </a:pPr>
            <a:r>
              <a:rPr sz="1200" b="1">
                <a:solidFill>
                  <a:srgbClr val="1F2328"/>
                </a:solidFill>
                <a:latin typeface="BIZ UDゴシック"/>
                <a:ea typeface="BIZ UDゴシック"/>
              </a:rPr>
              <a:t>3 水</a:t>
            </a:r>
          </a:p>
        </p:txBody>
      </p:sp>
      <p:pic>
        <p:nvPicPr>
          <p:cNvPr id="13" name="学びの足あと4" descr="ashiato_4.png"/>
          <p:cNvPicPr>
            <a:picLocks noChangeAspect="1"/>
          </p:cNvPicPr>
          <p:nvPr/>
        </p:nvPicPr>
        <p:blipFill>
          <a:blip r:embed="rId5"/>
          <a:stretch>
            <a:fillRect/>
          </a:stretch>
        </p:blipFill>
        <p:spPr>
          <a:xfrm>
            <a:off x="8988429" y="1298448"/>
            <a:ext cx="2651881" cy="3749039"/>
          </a:xfrm>
          <a:prstGeom prst="rect">
            <a:avLst/>
          </a:prstGeom>
        </p:spPr>
      </p:pic>
      <p:sp>
        <p:nvSpPr>
          <p:cNvPr id="14" name="TextBox 13"/>
          <p:cNvSpPr txBox="1"/>
          <p:nvPr/>
        </p:nvSpPr>
        <p:spPr>
          <a:xfrm>
            <a:off x="8988429" y="5093207"/>
            <a:ext cx="2651882" cy="292608"/>
          </a:xfrm>
          <a:prstGeom prst="rect">
            <a:avLst/>
          </a:prstGeom>
          <a:noFill/>
        </p:spPr>
        <p:txBody>
          <a:bodyPr wrap="square" lIns="73152" rIns="73152" tIns="36576" bIns="36576" anchor="t">
            <a:spAutoFit/>
          </a:bodyPr>
          <a:lstStyle/>
          <a:p>
            <a:pPr algn="ctr">
              <a:lnSpc>
                <a:spcPct val="118000"/>
              </a:lnSpc>
            </a:pPr>
            <a:r>
              <a:rPr sz="1200" b="1">
                <a:solidFill>
                  <a:srgbClr val="1F2328"/>
                </a:solidFill>
                <a:latin typeface="BIZ UDゴシック"/>
                <a:ea typeface="BIZ UDゴシック"/>
              </a:rPr>
              <a:t>4 金ぞく（本時に書き足す）</a:t>
            </a:r>
          </a:p>
        </p:txBody>
      </p:sp>
      <p:sp>
        <p:nvSpPr>
          <p:cNvPr id="15" name="Rectangle 14"/>
          <p:cNvSpPr/>
          <p:nvPr/>
        </p:nvSpPr>
        <p:spPr>
          <a:xfrm>
            <a:off x="548640" y="5486400"/>
            <a:ext cx="11091672" cy="841248"/>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486400"/>
            <a:ext cx="10698480" cy="841248"/>
          </a:xfrm>
          <a:prstGeom prst="rect">
            <a:avLst/>
          </a:prstGeom>
          <a:noFill/>
        </p:spPr>
        <p:txBody>
          <a:bodyPr wrap="square" lIns="73152" rIns="73152" tIns="36576" bIns="36576" anchor="ctr">
            <a:spAutoFit/>
          </a:bodyPr>
          <a:lstStyle/>
          <a:p>
            <a:pPr algn="l">
              <a:lnSpc>
                <a:spcPct val="112000"/>
              </a:lnSpc>
            </a:pPr>
            <a:r>
              <a:rPr sz="1250" b="0">
                <a:solidFill>
                  <a:srgbClr val="1F2328"/>
                </a:solidFill>
                <a:latin typeface="BIZ UDゴシック"/>
                <a:ea typeface="BIZ UDゴシック"/>
              </a:rPr>
              <a:t>A2縦を4まい 左から右へ貼る　問題 予想 結果 まとめを同じ位置にそろえる</a:t>
            </a:r>
          </a:p>
          <a:p>
            <a:pPr algn="l">
              <a:lnSpc>
                <a:spcPct val="112000"/>
              </a:lnSpc>
            </a:pPr>
            <a:r>
              <a:rPr sz="1250" b="0">
                <a:solidFill>
                  <a:srgbClr val="1F2328"/>
                </a:solidFill>
                <a:latin typeface="BIZ UDゴシック"/>
                <a:ea typeface="BIZ UDゴシック"/>
              </a:rPr>
              <a:t>予想の理由を考えるときに指さして使う（「空気や水の学習から」の理由の手がかり）</a:t>
            </a:r>
          </a:p>
          <a:p>
            <a:pPr algn="l">
              <a:lnSpc>
                <a:spcPct val="112000"/>
              </a:lnSpc>
            </a:pPr>
            <a:r>
              <a:rPr sz="1250" b="0">
                <a:solidFill>
                  <a:srgbClr val="1F2328"/>
                </a:solidFill>
                <a:latin typeface="BIZ UDゴシック"/>
                <a:ea typeface="BIZ UDゴシック"/>
              </a:rPr>
              <a:t>これはモデルで 写真の欄は授業の写真に差しかえる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区分"/>
          <p:cNvSpPr txBox="1"/>
          <p:nvPr/>
        </p:nvSpPr>
        <p:spPr>
          <a:xfrm>
            <a:off x="548640" y="274320"/>
            <a:ext cx="8229600" cy="292608"/>
          </a:xfrm>
          <a:prstGeom prst="rect">
            <a:avLst/>
          </a:prstGeom>
          <a:noFill/>
        </p:spPr>
        <p:txBody>
          <a:bodyPr wrap="square" lIns="73152" rIns="73152" tIns="36576" bIns="36576" anchor="t">
            <a:spAutoFit/>
          </a:bodyPr>
          <a:lstStyle/>
          <a:p>
            <a:pPr algn="l">
              <a:lnSpc>
                <a:spcPct val="118000"/>
              </a:lnSpc>
            </a:pPr>
            <a:r>
              <a:rPr sz="1300" b="1">
                <a:solidFill>
                  <a:srgbClr val="5F646B"/>
                </a:solidFill>
                <a:latin typeface="BIZ UDゴシック"/>
                <a:ea typeface="BIZ UDゴシック"/>
              </a:rPr>
              <a:t>本時　第8時</a:t>
            </a:r>
          </a:p>
        </p:txBody>
      </p:sp>
      <p:sp>
        <p:nvSpPr>
          <p:cNvPr id="3" name="見出しの線"/>
          <p:cNvSpPr/>
          <p:nvPr/>
        </p:nvSpPr>
        <p:spPr>
          <a:xfrm>
            <a:off x="548640" y="640080"/>
            <a:ext cx="82296" cy="47548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見出し"/>
          <p:cNvSpPr txBox="1"/>
          <p:nvPr/>
        </p:nvSpPr>
        <p:spPr>
          <a:xfrm>
            <a:off x="749808" y="566928"/>
            <a:ext cx="10972800" cy="603504"/>
          </a:xfrm>
          <a:prstGeom prst="rect">
            <a:avLst/>
          </a:prstGeom>
          <a:noFill/>
        </p:spPr>
        <p:txBody>
          <a:bodyPr wrap="square" lIns="73152" rIns="73152" tIns="36576" bIns="36576" anchor="ctr">
            <a:spAutoFit/>
          </a:bodyPr>
          <a:lstStyle/>
          <a:p>
            <a:pPr algn="l">
              <a:lnSpc>
                <a:spcPct val="118000"/>
              </a:lnSpc>
            </a:pPr>
            <a:r>
              <a:rPr sz="2800" b="1">
                <a:solidFill>
                  <a:srgbClr val="1F2328"/>
                </a:solidFill>
                <a:latin typeface="BIZ UDゴシック"/>
                <a:ea typeface="BIZ UDゴシック"/>
              </a:rPr>
              <a:t>本時の板書計画（3分割の案）</a:t>
            </a:r>
          </a:p>
        </p:txBody>
      </p:sp>
      <p:sp>
        <p:nvSpPr>
          <p:cNvPr id="5" name="足もと"/>
          <p:cNvSpPr txBox="1"/>
          <p:nvPr/>
        </p:nvSpPr>
        <p:spPr>
          <a:xfrm>
            <a:off x="548640" y="6455664"/>
            <a:ext cx="8229600" cy="256032"/>
          </a:xfrm>
          <a:prstGeom prst="rect">
            <a:avLst/>
          </a:prstGeom>
          <a:noFill/>
        </p:spPr>
        <p:txBody>
          <a:bodyPr wrap="square" lIns="73152" rIns="73152" tIns="36576" bIns="36576" anchor="t">
            <a:spAutoFit/>
          </a:bodyPr>
          <a:lstStyle/>
          <a:p>
            <a:pPr algn="l">
              <a:lnSpc>
                <a:spcPct val="118000"/>
              </a:lnSpc>
            </a:pPr>
            <a:r>
              <a:rPr sz="1000" b="0">
                <a:solidFill>
                  <a:srgbClr val="8A9097"/>
                </a:solidFill>
                <a:latin typeface="BIZ UDゴシック"/>
                <a:ea typeface="BIZ UDゴシック"/>
              </a:rPr>
              <a:t>4年 理科　物の体積と温度　授業者説明</a:t>
            </a:r>
          </a:p>
        </p:txBody>
      </p:sp>
      <p:sp>
        <p:nvSpPr>
          <p:cNvPr id="6" name="ページ"/>
          <p:cNvSpPr txBox="1"/>
          <p:nvPr/>
        </p:nvSpPr>
        <p:spPr>
          <a:xfrm>
            <a:off x="10545775" y="6455664"/>
            <a:ext cx="1097280" cy="256032"/>
          </a:xfrm>
          <a:prstGeom prst="rect">
            <a:avLst/>
          </a:prstGeom>
          <a:noFill/>
        </p:spPr>
        <p:txBody>
          <a:bodyPr wrap="square" lIns="73152" rIns="73152" tIns="36576" bIns="36576" anchor="t">
            <a:spAutoFit/>
          </a:bodyPr>
          <a:lstStyle/>
          <a:p>
            <a:pPr algn="r">
              <a:lnSpc>
                <a:spcPct val="118000"/>
              </a:lnSpc>
            </a:pPr>
            <a:r>
              <a:rPr sz="1000" b="0">
                <a:solidFill>
                  <a:srgbClr val="8A9097"/>
                </a:solidFill>
                <a:latin typeface="BIZ UDゴシック"/>
                <a:ea typeface="BIZ UDゴシック"/>
              </a:rPr>
              <a:t>18</a:t>
            </a:r>
          </a:p>
        </p:txBody>
      </p:sp>
      <p:sp>
        <p:nvSpPr>
          <p:cNvPr id="7" name="黒板"/>
          <p:cNvSpPr/>
          <p:nvPr/>
        </p:nvSpPr>
        <p:spPr>
          <a:xfrm>
            <a:off x="548640" y="1325880"/>
            <a:ext cx="11091672" cy="3246120"/>
          </a:xfrm>
          <a:prstGeom prst="rect">
            <a:avLst/>
          </a:prstGeom>
          <a:solidFill>
            <a:srgbClr val="264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63040"/>
            <a:ext cx="3331464" cy="365760"/>
          </a:xfrm>
          <a:prstGeom prst="rect">
            <a:avLst/>
          </a:prstGeom>
          <a:noFill/>
        </p:spPr>
        <p:txBody>
          <a:bodyPr wrap="square" lIns="73152" rIns="73152" tIns="36576" bIns="36576" anchor="t">
            <a:spAutoFit/>
          </a:bodyPr>
          <a:lstStyle/>
          <a:p>
            <a:pPr algn="l">
              <a:lnSpc>
                <a:spcPct val="118000"/>
              </a:lnSpc>
            </a:pPr>
            <a:r>
              <a:rPr sz="1600" b="1">
                <a:solidFill>
                  <a:srgbClr val="FFE28A"/>
                </a:solidFill>
                <a:latin typeface="BIZ UDゴシック"/>
                <a:ea typeface="BIZ UDゴシック"/>
              </a:rPr>
              <a:t>問題</a:t>
            </a:r>
          </a:p>
        </p:txBody>
      </p:sp>
      <p:sp>
        <p:nvSpPr>
          <p:cNvPr id="9" name="TextBox 8"/>
          <p:cNvSpPr txBox="1"/>
          <p:nvPr/>
        </p:nvSpPr>
        <p:spPr>
          <a:xfrm>
            <a:off x="731520" y="1874519"/>
            <a:ext cx="3331464" cy="2651760"/>
          </a:xfrm>
          <a:prstGeom prst="rect">
            <a:avLst/>
          </a:prstGeom>
          <a:noFill/>
        </p:spPr>
        <p:txBody>
          <a:bodyPr wrap="square" lIns="73152" rIns="73152" tIns="36576" bIns="36576" anchor="t">
            <a:spAutoFit/>
          </a:bodyPr>
          <a:lstStyle/>
          <a:p>
            <a:pPr algn="l">
              <a:lnSpc>
                <a:spcPct val="120000"/>
              </a:lnSpc>
            </a:pPr>
            <a:r>
              <a:rPr sz="1400" b="0">
                <a:solidFill>
                  <a:srgbClr val="FFFFFF"/>
                </a:solidFill>
                <a:latin typeface="BIZ UDゴシック"/>
                <a:ea typeface="BIZ UDゴシック"/>
              </a:rPr>
              <a:t>金ぞくは あたためたり</a:t>
            </a:r>
          </a:p>
          <a:p>
            <a:pPr algn="l">
              <a:lnSpc>
                <a:spcPct val="120000"/>
              </a:lnSpc>
            </a:pPr>
            <a:r>
              <a:rPr sz="1400" b="0">
                <a:solidFill>
                  <a:srgbClr val="FFFFFF"/>
                </a:solidFill>
                <a:latin typeface="BIZ UDゴシック"/>
                <a:ea typeface="BIZ UDゴシック"/>
              </a:rPr>
              <a:t>冷やしたりすると</a:t>
            </a:r>
          </a:p>
          <a:p>
            <a:pPr algn="l">
              <a:lnSpc>
                <a:spcPct val="120000"/>
              </a:lnSpc>
            </a:pPr>
            <a:r>
              <a:rPr sz="1400" b="0">
                <a:solidFill>
                  <a:srgbClr val="FFFFFF"/>
                </a:solidFill>
                <a:latin typeface="BIZ UDゴシック"/>
                <a:ea typeface="BIZ UDゴシック"/>
              </a:rPr>
              <a:t>体積は変わるのだろうか</a:t>
            </a:r>
          </a:p>
          <a:p>
            <a:pPr algn="l">
              <a:lnSpc>
                <a:spcPct val="120000"/>
              </a:lnSpc>
            </a:pPr>
            <a:r>
              <a:rPr sz="1400" b="0">
                <a:solidFill>
                  <a:srgbClr val="FFFFFF"/>
                </a:solidFill>
                <a:latin typeface="BIZ UDゴシック"/>
                <a:ea typeface="BIZ UDゴシック"/>
              </a:rPr>
              <a:t/>
            </a:r>
          </a:p>
          <a:p>
            <a:pPr algn="l">
              <a:lnSpc>
                <a:spcPct val="120000"/>
              </a:lnSpc>
            </a:pPr>
            <a:r>
              <a:rPr sz="1400" b="0">
                <a:solidFill>
                  <a:srgbClr val="FFFFFF"/>
                </a:solidFill>
                <a:latin typeface="BIZ UDゴシック"/>
                <a:ea typeface="BIZ UDゴシック"/>
              </a:rPr>
              <a:t>分類表　学びの足あと</a:t>
            </a:r>
          </a:p>
          <a:p>
            <a:pPr algn="l">
              <a:lnSpc>
                <a:spcPct val="120000"/>
              </a:lnSpc>
            </a:pPr>
            <a:r>
              <a:rPr sz="1400" b="0">
                <a:solidFill>
                  <a:srgbClr val="FFFFFF"/>
                </a:solidFill>
                <a:latin typeface="BIZ UDゴシック"/>
                <a:ea typeface="BIZ UDゴシック"/>
              </a:rPr>
              <a:t>金ぞくの玉（実験の前に輪）</a:t>
            </a:r>
          </a:p>
        </p:txBody>
      </p:sp>
      <p:sp>
        <p:nvSpPr>
          <p:cNvPr id="10" name="Rectangle 9"/>
          <p:cNvSpPr/>
          <p:nvPr/>
        </p:nvSpPr>
        <p:spPr>
          <a:xfrm>
            <a:off x="4236720" y="1463040"/>
            <a:ext cx="18288" cy="2971800"/>
          </a:xfrm>
          <a:prstGeom prst="rect">
            <a:avLst/>
          </a:prstGeom>
          <a:solidFill>
            <a:srgbClr val="7C9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28744" y="1463040"/>
            <a:ext cx="3331464" cy="365760"/>
          </a:xfrm>
          <a:prstGeom prst="rect">
            <a:avLst/>
          </a:prstGeom>
          <a:noFill/>
        </p:spPr>
        <p:txBody>
          <a:bodyPr wrap="square" lIns="73152" rIns="73152" tIns="36576" bIns="36576" anchor="t">
            <a:spAutoFit/>
          </a:bodyPr>
          <a:lstStyle/>
          <a:p>
            <a:pPr algn="l">
              <a:lnSpc>
                <a:spcPct val="118000"/>
              </a:lnSpc>
            </a:pPr>
            <a:r>
              <a:rPr sz="1600" b="1">
                <a:solidFill>
                  <a:srgbClr val="FFE28A"/>
                </a:solidFill>
                <a:latin typeface="BIZ UDゴシック"/>
                <a:ea typeface="BIZ UDゴシック"/>
              </a:rPr>
              <a:t>予想</a:t>
            </a:r>
          </a:p>
        </p:txBody>
      </p:sp>
      <p:sp>
        <p:nvSpPr>
          <p:cNvPr id="12" name="TextBox 11"/>
          <p:cNvSpPr txBox="1"/>
          <p:nvPr/>
        </p:nvSpPr>
        <p:spPr>
          <a:xfrm>
            <a:off x="4428744" y="1874519"/>
            <a:ext cx="3331464" cy="2651760"/>
          </a:xfrm>
          <a:prstGeom prst="rect">
            <a:avLst/>
          </a:prstGeom>
          <a:noFill/>
        </p:spPr>
        <p:txBody>
          <a:bodyPr wrap="square" lIns="73152" rIns="73152" tIns="36576" bIns="36576" anchor="t">
            <a:spAutoFit/>
          </a:bodyPr>
          <a:lstStyle/>
          <a:p>
            <a:pPr algn="l">
              <a:lnSpc>
                <a:spcPct val="120000"/>
              </a:lnSpc>
            </a:pPr>
            <a:r>
              <a:rPr sz="1400" b="0">
                <a:solidFill>
                  <a:srgbClr val="FFFFFF"/>
                </a:solidFill>
                <a:latin typeface="BIZ UDゴシック"/>
                <a:ea typeface="BIZ UDゴシック"/>
              </a:rPr>
              <a:t>変わる（水色）</a:t>
            </a:r>
          </a:p>
          <a:p>
            <a:pPr algn="l">
              <a:lnSpc>
                <a:spcPct val="120000"/>
              </a:lnSpc>
            </a:pPr>
            <a:r>
              <a:rPr sz="1400" b="0">
                <a:solidFill>
                  <a:srgbClr val="FFFFFF"/>
                </a:solidFill>
                <a:latin typeface="BIZ UDゴシック"/>
                <a:ea typeface="BIZ UDゴシック"/>
              </a:rPr>
              <a:t>変わらない（ピンク）</a:t>
            </a:r>
          </a:p>
          <a:p>
            <a:pPr algn="l">
              <a:lnSpc>
                <a:spcPct val="120000"/>
              </a:lnSpc>
            </a:pPr>
            <a:r>
              <a:rPr sz="1400" b="0">
                <a:solidFill>
                  <a:srgbClr val="FFFFFF"/>
                </a:solidFill>
                <a:latin typeface="BIZ UDゴシック"/>
                <a:ea typeface="BIZ UDゴシック"/>
              </a:rPr>
              <a:t>班の台紙6まい</a:t>
            </a:r>
          </a:p>
          <a:p>
            <a:pPr algn="l">
              <a:lnSpc>
                <a:spcPct val="120000"/>
              </a:lnSpc>
            </a:pPr>
            <a:r>
              <a:rPr sz="1400" b="0">
                <a:solidFill>
                  <a:srgbClr val="FFFFFF"/>
                </a:solidFill>
                <a:latin typeface="BIZ UDゴシック"/>
                <a:ea typeface="BIZ UDゴシック"/>
              </a:rPr>
              <a:t>理由</a:t>
            </a:r>
          </a:p>
          <a:p>
            <a:pPr algn="l">
              <a:lnSpc>
                <a:spcPct val="120000"/>
              </a:lnSpc>
            </a:pPr>
            <a:r>
              <a:rPr sz="1400" b="0">
                <a:solidFill>
                  <a:srgbClr val="FFFFFF"/>
                </a:solidFill>
                <a:latin typeface="BIZ UDゴシック"/>
                <a:ea typeface="BIZ UDゴシック"/>
              </a:rPr>
              <a:t>空気や水の学習から</a:t>
            </a:r>
          </a:p>
          <a:p>
            <a:pPr algn="l">
              <a:lnSpc>
                <a:spcPct val="120000"/>
              </a:lnSpc>
            </a:pPr>
            <a:r>
              <a:rPr sz="1400" b="0">
                <a:solidFill>
                  <a:srgbClr val="FFFFFF"/>
                </a:solidFill>
                <a:latin typeface="BIZ UDゴシック"/>
                <a:ea typeface="BIZ UDゴシック"/>
              </a:rPr>
              <a:t>生活経験から</a:t>
            </a:r>
          </a:p>
        </p:txBody>
      </p:sp>
      <p:sp>
        <p:nvSpPr>
          <p:cNvPr id="13" name="Rectangle 12"/>
          <p:cNvSpPr/>
          <p:nvPr/>
        </p:nvSpPr>
        <p:spPr>
          <a:xfrm>
            <a:off x="7933944" y="1463040"/>
            <a:ext cx="18288" cy="2971800"/>
          </a:xfrm>
          <a:prstGeom prst="rect">
            <a:avLst/>
          </a:prstGeom>
          <a:solidFill>
            <a:srgbClr val="7C9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25968" y="1463040"/>
            <a:ext cx="3331464" cy="365760"/>
          </a:xfrm>
          <a:prstGeom prst="rect">
            <a:avLst/>
          </a:prstGeom>
          <a:noFill/>
        </p:spPr>
        <p:txBody>
          <a:bodyPr wrap="square" lIns="73152" rIns="73152" tIns="36576" bIns="36576" anchor="t">
            <a:spAutoFit/>
          </a:bodyPr>
          <a:lstStyle/>
          <a:p>
            <a:pPr algn="l">
              <a:lnSpc>
                <a:spcPct val="118000"/>
              </a:lnSpc>
            </a:pPr>
            <a:r>
              <a:rPr sz="1600" b="1">
                <a:solidFill>
                  <a:srgbClr val="FFE28A"/>
                </a:solidFill>
                <a:latin typeface="BIZ UDゴシック"/>
                <a:ea typeface="BIZ UDゴシック"/>
              </a:rPr>
              <a:t>計画と結果</a:t>
            </a:r>
          </a:p>
        </p:txBody>
      </p:sp>
      <p:sp>
        <p:nvSpPr>
          <p:cNvPr id="15" name="TextBox 14"/>
          <p:cNvSpPr txBox="1"/>
          <p:nvPr/>
        </p:nvSpPr>
        <p:spPr>
          <a:xfrm>
            <a:off x="8125968" y="1874519"/>
            <a:ext cx="3331464" cy="2651760"/>
          </a:xfrm>
          <a:prstGeom prst="rect">
            <a:avLst/>
          </a:prstGeom>
          <a:noFill/>
        </p:spPr>
        <p:txBody>
          <a:bodyPr wrap="square" lIns="73152" rIns="73152" tIns="36576" bIns="36576" anchor="t">
            <a:spAutoFit/>
          </a:bodyPr>
          <a:lstStyle/>
          <a:p>
            <a:pPr algn="l">
              <a:lnSpc>
                <a:spcPct val="120000"/>
              </a:lnSpc>
            </a:pPr>
            <a:r>
              <a:rPr sz="1400" b="0">
                <a:solidFill>
                  <a:srgbClr val="FFFFFF"/>
                </a:solidFill>
                <a:latin typeface="BIZ UDゴシック"/>
                <a:ea typeface="BIZ UDゴシック"/>
              </a:rPr>
              <a:t>玉を湯であたためて</a:t>
            </a:r>
          </a:p>
          <a:p>
            <a:pPr algn="l">
              <a:lnSpc>
                <a:spcPct val="120000"/>
              </a:lnSpc>
            </a:pPr>
            <a:r>
              <a:rPr sz="1400" b="0">
                <a:solidFill>
                  <a:srgbClr val="FFFFFF"/>
                </a:solidFill>
                <a:latin typeface="BIZ UDゴシック"/>
                <a:ea typeface="BIZ UDゴシック"/>
              </a:rPr>
              <a:t>輪を通るかを調べる</a:t>
            </a:r>
          </a:p>
          <a:p>
            <a:pPr algn="l">
              <a:lnSpc>
                <a:spcPct val="120000"/>
              </a:lnSpc>
            </a:pPr>
            <a:r>
              <a:rPr sz="1400" b="0">
                <a:solidFill>
                  <a:srgbClr val="FFFFFF"/>
                </a:solidFill>
                <a:latin typeface="BIZ UDゴシック"/>
                <a:ea typeface="BIZ UDゴシック"/>
              </a:rPr>
              <a:t>結果　どの班も玉は輪を通った</a:t>
            </a:r>
          </a:p>
          <a:p>
            <a:pPr algn="l">
              <a:lnSpc>
                <a:spcPct val="120000"/>
              </a:lnSpc>
            </a:pPr>
            <a:r>
              <a:rPr sz="1400" b="0">
                <a:solidFill>
                  <a:srgbClr val="FFFFFF"/>
                </a:solidFill>
                <a:latin typeface="BIZ UDゴシック"/>
                <a:ea typeface="BIZ UDゴシック"/>
              </a:rPr>
              <a:t/>
            </a:r>
          </a:p>
          <a:p>
            <a:pPr algn="l">
              <a:lnSpc>
                <a:spcPct val="120000"/>
              </a:lnSpc>
            </a:pPr>
            <a:r>
              <a:rPr sz="1400" b="0">
                <a:solidFill>
                  <a:srgbClr val="FFFFFF"/>
                </a:solidFill>
                <a:latin typeface="BIZ UDゴシック"/>
                <a:ea typeface="BIZ UDゴシック"/>
              </a:rPr>
              <a:t>レールのつなぎ目の写真</a:t>
            </a:r>
          </a:p>
          <a:p>
            <a:pPr algn="l">
              <a:lnSpc>
                <a:spcPct val="120000"/>
              </a:lnSpc>
            </a:pPr>
            <a:r>
              <a:rPr sz="1400" b="0">
                <a:solidFill>
                  <a:srgbClr val="FFFFFF"/>
                </a:solidFill>
                <a:latin typeface="BIZ UDゴシック"/>
                <a:ea typeface="BIZ UDゴシック"/>
              </a:rPr>
              <a:t>あたため方が足りない？</a:t>
            </a:r>
          </a:p>
        </p:txBody>
      </p:sp>
      <p:sp>
        <p:nvSpPr>
          <p:cNvPr id="16" name="TextBox 15"/>
          <p:cNvSpPr txBox="1"/>
          <p:nvPr/>
        </p:nvSpPr>
        <p:spPr>
          <a:xfrm>
            <a:off x="640080" y="4709160"/>
            <a:ext cx="3514344" cy="365760"/>
          </a:xfrm>
          <a:prstGeom prst="rect">
            <a:avLst/>
          </a:prstGeom>
          <a:noFill/>
        </p:spPr>
        <p:txBody>
          <a:bodyPr wrap="square" lIns="73152" rIns="73152" tIns="36576" bIns="36576" anchor="t">
            <a:spAutoFit/>
          </a:bodyPr>
          <a:lstStyle/>
          <a:p>
            <a:pPr algn="l">
              <a:lnSpc>
                <a:spcPct val="118000"/>
              </a:lnSpc>
            </a:pPr>
            <a:r>
              <a:rPr sz="1500" b="1">
                <a:solidFill>
                  <a:srgbClr val="C2410C"/>
                </a:solidFill>
                <a:latin typeface="BIZ UDゴシック"/>
                <a:ea typeface="BIZ UDゴシック"/>
              </a:rPr>
              <a:t>左　問題とこれまで</a:t>
            </a:r>
          </a:p>
        </p:txBody>
      </p:sp>
      <p:sp>
        <p:nvSpPr>
          <p:cNvPr id="17" name="TextBox 16"/>
          <p:cNvSpPr txBox="1"/>
          <p:nvPr/>
        </p:nvSpPr>
        <p:spPr>
          <a:xfrm>
            <a:off x="640080" y="5074920"/>
            <a:ext cx="3514344" cy="1005840"/>
          </a:xfrm>
          <a:prstGeom prst="rect">
            <a:avLst/>
          </a:prstGeom>
          <a:noFill/>
        </p:spPr>
        <p:txBody>
          <a:bodyPr wrap="square" lIns="73152" rIns="73152" tIns="36576" bIns="36576" anchor="t">
            <a:spAutoFit/>
          </a:bodyPr>
          <a:lstStyle/>
          <a:p>
            <a:pPr algn="l">
              <a:lnSpc>
                <a:spcPct val="118000"/>
              </a:lnSpc>
            </a:pPr>
            <a:r>
              <a:rPr sz="1300" b="0">
                <a:solidFill>
                  <a:srgbClr val="1F2328"/>
                </a:solidFill>
                <a:latin typeface="BIZ UDゴシック"/>
                <a:ea typeface="BIZ UDゴシック"/>
              </a:rPr>
              <a:t>空気と水と同じ形の問題</a:t>
            </a:r>
          </a:p>
          <a:p>
            <a:pPr algn="l">
              <a:lnSpc>
                <a:spcPct val="118000"/>
              </a:lnSpc>
            </a:pPr>
            <a:r>
              <a:rPr sz="1300" b="0">
                <a:solidFill>
                  <a:srgbClr val="1F2328"/>
                </a:solidFill>
                <a:latin typeface="BIZ UDゴシック"/>
                <a:ea typeface="BIZ UDゴシック"/>
              </a:rPr>
              <a:t>分類表と学びの足あとを横にはる</a:t>
            </a:r>
          </a:p>
        </p:txBody>
      </p:sp>
      <p:sp>
        <p:nvSpPr>
          <p:cNvPr id="18" name="TextBox 17"/>
          <p:cNvSpPr txBox="1"/>
          <p:nvPr/>
        </p:nvSpPr>
        <p:spPr>
          <a:xfrm>
            <a:off x="4337304" y="4709160"/>
            <a:ext cx="3514344" cy="365760"/>
          </a:xfrm>
          <a:prstGeom prst="rect">
            <a:avLst/>
          </a:prstGeom>
          <a:noFill/>
        </p:spPr>
        <p:txBody>
          <a:bodyPr wrap="square" lIns="73152" rIns="73152" tIns="36576" bIns="36576" anchor="t">
            <a:spAutoFit/>
          </a:bodyPr>
          <a:lstStyle/>
          <a:p>
            <a:pPr algn="l">
              <a:lnSpc>
                <a:spcPct val="118000"/>
              </a:lnSpc>
            </a:pPr>
            <a:r>
              <a:rPr sz="1500" b="1">
                <a:solidFill>
                  <a:srgbClr val="C2410C"/>
                </a:solidFill>
                <a:latin typeface="BIZ UDゴシック"/>
                <a:ea typeface="BIZ UDゴシック"/>
              </a:rPr>
              <a:t>中　予想と理由</a:t>
            </a:r>
          </a:p>
        </p:txBody>
      </p:sp>
      <p:sp>
        <p:nvSpPr>
          <p:cNvPr id="19" name="TextBox 18"/>
          <p:cNvSpPr txBox="1"/>
          <p:nvPr/>
        </p:nvSpPr>
        <p:spPr>
          <a:xfrm>
            <a:off x="4337304" y="5074920"/>
            <a:ext cx="3514344" cy="1005840"/>
          </a:xfrm>
          <a:prstGeom prst="rect">
            <a:avLst/>
          </a:prstGeom>
          <a:noFill/>
        </p:spPr>
        <p:txBody>
          <a:bodyPr wrap="square" lIns="73152" rIns="73152" tIns="36576" bIns="36576" anchor="t">
            <a:spAutoFit/>
          </a:bodyPr>
          <a:lstStyle/>
          <a:p>
            <a:pPr algn="l">
              <a:lnSpc>
                <a:spcPct val="118000"/>
              </a:lnSpc>
            </a:pPr>
            <a:r>
              <a:rPr sz="1300" b="0">
                <a:solidFill>
                  <a:srgbClr val="1F2328"/>
                </a:solidFill>
                <a:latin typeface="BIZ UDゴシック"/>
                <a:ea typeface="BIZ UDゴシック"/>
              </a:rPr>
              <a:t>班の台紙を予想ごとに分ける</a:t>
            </a:r>
          </a:p>
          <a:p>
            <a:pPr algn="l">
              <a:lnSpc>
                <a:spcPct val="118000"/>
              </a:lnSpc>
            </a:pPr>
            <a:r>
              <a:rPr sz="1300" b="0">
                <a:solidFill>
                  <a:srgbClr val="1F2328"/>
                </a:solidFill>
                <a:latin typeface="BIZ UDゴシック"/>
                <a:ea typeface="BIZ UDゴシック"/>
              </a:rPr>
              <a:t>理由を2つのもとに分けて書く</a:t>
            </a:r>
          </a:p>
        </p:txBody>
      </p:sp>
      <p:sp>
        <p:nvSpPr>
          <p:cNvPr id="20" name="TextBox 19"/>
          <p:cNvSpPr txBox="1"/>
          <p:nvPr/>
        </p:nvSpPr>
        <p:spPr>
          <a:xfrm>
            <a:off x="8034528" y="4709160"/>
            <a:ext cx="3514344" cy="365760"/>
          </a:xfrm>
          <a:prstGeom prst="rect">
            <a:avLst/>
          </a:prstGeom>
          <a:noFill/>
        </p:spPr>
        <p:txBody>
          <a:bodyPr wrap="square" lIns="73152" rIns="73152" tIns="36576" bIns="36576" anchor="t">
            <a:spAutoFit/>
          </a:bodyPr>
          <a:lstStyle/>
          <a:p>
            <a:pPr algn="l">
              <a:lnSpc>
                <a:spcPct val="118000"/>
              </a:lnSpc>
            </a:pPr>
            <a:r>
              <a:rPr sz="1500" b="1">
                <a:solidFill>
                  <a:srgbClr val="C2410C"/>
                </a:solidFill>
                <a:latin typeface="BIZ UDゴシック"/>
                <a:ea typeface="BIZ UDゴシック"/>
              </a:rPr>
              <a:t>右　計画 結果 ずれ</a:t>
            </a:r>
          </a:p>
        </p:txBody>
      </p:sp>
      <p:sp>
        <p:nvSpPr>
          <p:cNvPr id="21" name="TextBox 20"/>
          <p:cNvSpPr txBox="1"/>
          <p:nvPr/>
        </p:nvSpPr>
        <p:spPr>
          <a:xfrm>
            <a:off x="8034528" y="5074920"/>
            <a:ext cx="3514344" cy="1005840"/>
          </a:xfrm>
          <a:prstGeom prst="rect">
            <a:avLst/>
          </a:prstGeom>
          <a:noFill/>
        </p:spPr>
        <p:txBody>
          <a:bodyPr wrap="square" lIns="73152" rIns="73152" tIns="36576" bIns="36576" anchor="t">
            <a:spAutoFit/>
          </a:bodyPr>
          <a:lstStyle/>
          <a:p>
            <a:pPr algn="l">
              <a:lnSpc>
                <a:spcPct val="118000"/>
              </a:lnSpc>
            </a:pPr>
            <a:r>
              <a:rPr sz="1300" b="0">
                <a:solidFill>
                  <a:srgbClr val="1F2328"/>
                </a:solidFill>
                <a:latin typeface="BIZ UDゴシック"/>
                <a:ea typeface="BIZ UDゴシック"/>
              </a:rPr>
              <a:t>結果の下にレールの写真をはる</a:t>
            </a:r>
          </a:p>
          <a:p>
            <a:pPr algn="l">
              <a:lnSpc>
                <a:spcPct val="118000"/>
              </a:lnSpc>
            </a:pPr>
            <a:r>
              <a:rPr sz="1300" b="0">
                <a:solidFill>
                  <a:srgbClr val="1F2328"/>
                </a:solidFill>
                <a:latin typeface="BIZ UDゴシック"/>
                <a:ea typeface="BIZ UDゴシック"/>
              </a:rPr>
              <a:t>次に調べたいことを書く</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区分"/>
          <p:cNvSpPr txBox="1"/>
          <p:nvPr/>
        </p:nvSpPr>
        <p:spPr>
          <a:xfrm>
            <a:off x="548640" y="274320"/>
            <a:ext cx="8229600" cy="292608"/>
          </a:xfrm>
          <a:prstGeom prst="rect">
            <a:avLst/>
          </a:prstGeom>
          <a:noFill/>
        </p:spPr>
        <p:txBody>
          <a:bodyPr wrap="square" lIns="73152" rIns="73152" tIns="36576" bIns="36576" anchor="t">
            <a:spAutoFit/>
          </a:bodyPr>
          <a:lstStyle/>
          <a:p>
            <a:pPr algn="l">
              <a:lnSpc>
                <a:spcPct val="118000"/>
              </a:lnSpc>
            </a:pPr>
            <a:r>
              <a:rPr sz="1300" b="1">
                <a:solidFill>
                  <a:srgbClr val="5F646B"/>
                </a:solidFill>
                <a:latin typeface="BIZ UDゴシック"/>
                <a:ea typeface="BIZ UDゴシック"/>
              </a:rPr>
              <a:t>第9時と第10時</a:t>
            </a:r>
          </a:p>
        </p:txBody>
      </p:sp>
      <p:sp>
        <p:nvSpPr>
          <p:cNvPr id="3" name="見出しの線"/>
          <p:cNvSpPr/>
          <p:nvPr/>
        </p:nvSpPr>
        <p:spPr>
          <a:xfrm>
            <a:off x="548640" y="640080"/>
            <a:ext cx="82296" cy="47548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見出し"/>
          <p:cNvSpPr txBox="1"/>
          <p:nvPr/>
        </p:nvSpPr>
        <p:spPr>
          <a:xfrm>
            <a:off x="749808" y="566928"/>
            <a:ext cx="10972800" cy="603504"/>
          </a:xfrm>
          <a:prstGeom prst="rect">
            <a:avLst/>
          </a:prstGeom>
          <a:noFill/>
        </p:spPr>
        <p:txBody>
          <a:bodyPr wrap="square" lIns="73152" rIns="73152" tIns="36576" bIns="36576" anchor="ctr">
            <a:spAutoFit/>
          </a:bodyPr>
          <a:lstStyle/>
          <a:p>
            <a:pPr algn="l">
              <a:lnSpc>
                <a:spcPct val="118000"/>
              </a:lnSpc>
            </a:pPr>
            <a:r>
              <a:rPr sz="2800" b="1">
                <a:solidFill>
                  <a:srgbClr val="1F2328"/>
                </a:solidFill>
                <a:latin typeface="BIZ UDゴシック"/>
                <a:ea typeface="BIZ UDゴシック"/>
              </a:rPr>
              <a:t>結果とのずれから あたため方を見直す</a:t>
            </a:r>
          </a:p>
        </p:txBody>
      </p:sp>
      <p:sp>
        <p:nvSpPr>
          <p:cNvPr id="5" name="足もと"/>
          <p:cNvSpPr txBox="1"/>
          <p:nvPr/>
        </p:nvSpPr>
        <p:spPr>
          <a:xfrm>
            <a:off x="548640" y="6455664"/>
            <a:ext cx="8229600" cy="256032"/>
          </a:xfrm>
          <a:prstGeom prst="rect">
            <a:avLst/>
          </a:prstGeom>
          <a:noFill/>
        </p:spPr>
        <p:txBody>
          <a:bodyPr wrap="square" lIns="73152" rIns="73152" tIns="36576" bIns="36576" anchor="t">
            <a:spAutoFit/>
          </a:bodyPr>
          <a:lstStyle/>
          <a:p>
            <a:pPr algn="l">
              <a:lnSpc>
                <a:spcPct val="118000"/>
              </a:lnSpc>
            </a:pPr>
            <a:r>
              <a:rPr sz="1000" b="0">
                <a:solidFill>
                  <a:srgbClr val="8A9097"/>
                </a:solidFill>
                <a:latin typeface="BIZ UDゴシック"/>
                <a:ea typeface="BIZ UDゴシック"/>
              </a:rPr>
              <a:t>4年 理科　物の体積と温度　授業者説明</a:t>
            </a:r>
          </a:p>
        </p:txBody>
      </p:sp>
      <p:sp>
        <p:nvSpPr>
          <p:cNvPr id="6" name="ページ"/>
          <p:cNvSpPr txBox="1"/>
          <p:nvPr/>
        </p:nvSpPr>
        <p:spPr>
          <a:xfrm>
            <a:off x="10545775" y="6455664"/>
            <a:ext cx="1097280" cy="256032"/>
          </a:xfrm>
          <a:prstGeom prst="rect">
            <a:avLst/>
          </a:prstGeom>
          <a:noFill/>
        </p:spPr>
        <p:txBody>
          <a:bodyPr wrap="square" lIns="73152" rIns="73152" tIns="36576" bIns="36576" anchor="t">
            <a:spAutoFit/>
          </a:bodyPr>
          <a:lstStyle/>
          <a:p>
            <a:pPr algn="r">
              <a:lnSpc>
                <a:spcPct val="118000"/>
              </a:lnSpc>
            </a:pPr>
            <a:r>
              <a:rPr sz="1000" b="0">
                <a:solidFill>
                  <a:srgbClr val="8A9097"/>
                </a:solidFill>
                <a:latin typeface="BIZ UDゴシック"/>
                <a:ea typeface="BIZ UDゴシック"/>
              </a:rPr>
              <a:t>19</a:t>
            </a:r>
          </a:p>
        </p:txBody>
      </p:sp>
      <p:sp>
        <p:nvSpPr>
          <p:cNvPr id="7" name="Rectangle 6"/>
          <p:cNvSpPr/>
          <p:nvPr/>
        </p:nvSpPr>
        <p:spPr>
          <a:xfrm>
            <a:off x="548640" y="1417320"/>
            <a:ext cx="1965960" cy="1188720"/>
          </a:xfrm>
          <a:prstGeom prst="rect">
            <a:avLst/>
          </a:prstGeom>
          <a:solidFill>
            <a:srgbClr val="FDEEE4"/>
          </a:solidFill>
          <a:ln w="22225">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417320"/>
            <a:ext cx="1874519" cy="1188720"/>
          </a:xfrm>
          <a:prstGeom prst="rect">
            <a:avLst/>
          </a:prstGeom>
          <a:noFill/>
        </p:spPr>
        <p:txBody>
          <a:bodyPr wrap="square" lIns="73152" rIns="73152" tIns="36576" bIns="36576" anchor="ctr">
            <a:spAutoFit/>
          </a:bodyPr>
          <a:lstStyle/>
          <a:p>
            <a:pPr algn="ctr">
              <a:lnSpc>
                <a:spcPct val="118000"/>
              </a:lnSpc>
            </a:pPr>
            <a:r>
              <a:rPr sz="1400" b="1">
                <a:solidFill>
                  <a:srgbClr val="C2410C"/>
                </a:solidFill>
                <a:latin typeface="BIZ UDゴシック"/>
                <a:ea typeface="BIZ UDゴシック"/>
              </a:rPr>
              <a:t>湯では通った</a:t>
            </a:r>
          </a:p>
          <a:p>
            <a:pPr algn="ctr">
              <a:lnSpc>
                <a:spcPct val="118000"/>
              </a:lnSpc>
            </a:pPr>
            <a:r>
              <a:rPr sz="1400" b="1">
                <a:solidFill>
                  <a:srgbClr val="C2410C"/>
                </a:solidFill>
                <a:latin typeface="BIZ UDゴシック"/>
                <a:ea typeface="BIZ UDゴシック"/>
              </a:rPr>
              <a:t>レールにはすきま</a:t>
            </a:r>
          </a:p>
        </p:txBody>
      </p:sp>
      <p:sp>
        <p:nvSpPr>
          <p:cNvPr id="9" name="矢印"/>
          <p:cNvSpPr/>
          <p:nvPr/>
        </p:nvSpPr>
        <p:spPr>
          <a:xfrm>
            <a:off x="2560320" y="1865376"/>
            <a:ext cx="224027" cy="292608"/>
          </a:xfrm>
          <a:prstGeom prst="rightArrow">
            <a:avLst/>
          </a:prstGeom>
          <a:solidFill>
            <a:srgbClr val="8A90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830068" y="1417320"/>
            <a:ext cx="1965960" cy="1188720"/>
          </a:xfrm>
          <a:prstGeom prst="rect">
            <a:avLst/>
          </a:prstGeom>
          <a:solidFill>
            <a:srgbClr val="FFFFFF"/>
          </a:solidFill>
          <a:ln w="12700">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75788" y="1417320"/>
            <a:ext cx="1874519" cy="1188720"/>
          </a:xfrm>
          <a:prstGeom prst="rect">
            <a:avLst/>
          </a:prstGeom>
          <a:noFill/>
        </p:spPr>
        <p:txBody>
          <a:bodyPr wrap="square" lIns="73152" rIns="73152" tIns="36576" bIns="36576" anchor="ctr">
            <a:spAutoFit/>
          </a:bodyPr>
          <a:lstStyle/>
          <a:p>
            <a:pPr algn="ctr">
              <a:lnSpc>
                <a:spcPct val="118000"/>
              </a:lnSpc>
            </a:pPr>
            <a:r>
              <a:rPr sz="1400" b="1">
                <a:solidFill>
                  <a:srgbClr val="1F2328"/>
                </a:solidFill>
                <a:latin typeface="BIZ UDゴシック"/>
                <a:ea typeface="BIZ UDゴシック"/>
              </a:rPr>
              <a:t>湯では あたため方が</a:t>
            </a:r>
          </a:p>
          <a:p>
            <a:pPr algn="ctr">
              <a:lnSpc>
                <a:spcPct val="118000"/>
              </a:lnSpc>
            </a:pPr>
            <a:r>
              <a:rPr sz="1400" b="1">
                <a:solidFill>
                  <a:srgbClr val="1F2328"/>
                </a:solidFill>
                <a:latin typeface="BIZ UDゴシック"/>
                <a:ea typeface="BIZ UDゴシック"/>
              </a:rPr>
              <a:t>足りなかったのかも</a:t>
            </a:r>
          </a:p>
        </p:txBody>
      </p:sp>
      <p:sp>
        <p:nvSpPr>
          <p:cNvPr id="12" name="矢印"/>
          <p:cNvSpPr/>
          <p:nvPr/>
        </p:nvSpPr>
        <p:spPr>
          <a:xfrm>
            <a:off x="4841748" y="1865376"/>
            <a:ext cx="224027" cy="292608"/>
          </a:xfrm>
          <a:prstGeom prst="rightArrow">
            <a:avLst/>
          </a:prstGeom>
          <a:solidFill>
            <a:srgbClr val="8A90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111496" y="1417320"/>
            <a:ext cx="1965960" cy="1188720"/>
          </a:xfrm>
          <a:prstGeom prst="rect">
            <a:avLst/>
          </a:prstGeom>
          <a:solidFill>
            <a:srgbClr val="FFFFFF"/>
          </a:solidFill>
          <a:ln w="12700">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57216" y="1417320"/>
            <a:ext cx="1874519" cy="1188720"/>
          </a:xfrm>
          <a:prstGeom prst="rect">
            <a:avLst/>
          </a:prstGeom>
          <a:noFill/>
        </p:spPr>
        <p:txBody>
          <a:bodyPr wrap="square" lIns="73152" rIns="73152" tIns="36576" bIns="36576" anchor="ctr">
            <a:spAutoFit/>
          </a:bodyPr>
          <a:lstStyle/>
          <a:p>
            <a:pPr algn="ctr">
              <a:lnSpc>
                <a:spcPct val="118000"/>
              </a:lnSpc>
            </a:pPr>
            <a:r>
              <a:rPr sz="1400" b="1">
                <a:solidFill>
                  <a:srgbClr val="1F2328"/>
                </a:solidFill>
                <a:latin typeface="BIZ UDゴシック"/>
                <a:ea typeface="BIZ UDゴシック"/>
              </a:rPr>
              <a:t>炎で熱する</a:t>
            </a:r>
          </a:p>
          <a:p>
            <a:pPr algn="ctr">
              <a:lnSpc>
                <a:spcPct val="118000"/>
              </a:lnSpc>
            </a:pPr>
            <a:r>
              <a:rPr sz="1400" b="1">
                <a:solidFill>
                  <a:srgbClr val="1F2328"/>
                </a:solidFill>
                <a:latin typeface="BIZ UDゴシック"/>
                <a:ea typeface="BIZ UDゴシック"/>
              </a:rPr>
              <a:t>子どもが班ごとに</a:t>
            </a:r>
          </a:p>
        </p:txBody>
      </p:sp>
      <p:sp>
        <p:nvSpPr>
          <p:cNvPr id="15" name="矢印"/>
          <p:cNvSpPr/>
          <p:nvPr/>
        </p:nvSpPr>
        <p:spPr>
          <a:xfrm>
            <a:off x="7123176" y="1865376"/>
            <a:ext cx="224027" cy="292608"/>
          </a:xfrm>
          <a:prstGeom prst="rightArrow">
            <a:avLst/>
          </a:prstGeom>
          <a:solidFill>
            <a:srgbClr val="8A90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92924" y="1417320"/>
            <a:ext cx="1965960" cy="1188720"/>
          </a:xfrm>
          <a:prstGeom prst="rect">
            <a:avLst/>
          </a:prstGeom>
          <a:solidFill>
            <a:srgbClr val="FFFFFF"/>
          </a:solidFill>
          <a:ln w="12700">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38644" y="1417320"/>
            <a:ext cx="1874519" cy="1188720"/>
          </a:xfrm>
          <a:prstGeom prst="rect">
            <a:avLst/>
          </a:prstGeom>
          <a:noFill/>
        </p:spPr>
        <p:txBody>
          <a:bodyPr wrap="square" lIns="73152" rIns="73152" tIns="36576" bIns="36576" anchor="ctr">
            <a:spAutoFit/>
          </a:bodyPr>
          <a:lstStyle/>
          <a:p>
            <a:pPr algn="ctr">
              <a:lnSpc>
                <a:spcPct val="118000"/>
              </a:lnSpc>
            </a:pPr>
            <a:r>
              <a:rPr sz="1400" b="1">
                <a:solidFill>
                  <a:srgbClr val="1F2328"/>
                </a:solidFill>
                <a:latin typeface="BIZ UDゴシック"/>
                <a:ea typeface="BIZ UDゴシック"/>
              </a:rPr>
              <a:t>通らなくなる</a:t>
            </a:r>
          </a:p>
          <a:p>
            <a:pPr algn="ctr">
              <a:lnSpc>
                <a:spcPct val="118000"/>
              </a:lnSpc>
            </a:pPr>
            <a:r>
              <a:rPr sz="1400" b="1">
                <a:solidFill>
                  <a:srgbClr val="1F2328"/>
                </a:solidFill>
                <a:latin typeface="BIZ UDゴシック"/>
                <a:ea typeface="BIZ UDゴシック"/>
              </a:rPr>
              <a:t>冷やすと また通る</a:t>
            </a:r>
          </a:p>
        </p:txBody>
      </p:sp>
      <p:sp>
        <p:nvSpPr>
          <p:cNvPr id="18" name="矢印"/>
          <p:cNvSpPr/>
          <p:nvPr/>
        </p:nvSpPr>
        <p:spPr>
          <a:xfrm>
            <a:off x="9404604" y="1865376"/>
            <a:ext cx="224027" cy="292608"/>
          </a:xfrm>
          <a:prstGeom prst="rightArrow">
            <a:avLst/>
          </a:prstGeom>
          <a:solidFill>
            <a:srgbClr val="8A90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674352" y="1417320"/>
            <a:ext cx="1965960" cy="1188720"/>
          </a:xfrm>
          <a:prstGeom prst="rect">
            <a:avLst/>
          </a:prstGeom>
          <a:solidFill>
            <a:srgbClr val="FFFFFF"/>
          </a:solidFill>
          <a:ln w="12700">
            <a:solidFill>
              <a:srgbClr val="D6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20072" y="1417320"/>
            <a:ext cx="1874519" cy="1188720"/>
          </a:xfrm>
          <a:prstGeom prst="rect">
            <a:avLst/>
          </a:prstGeom>
          <a:noFill/>
        </p:spPr>
        <p:txBody>
          <a:bodyPr wrap="square" lIns="73152" rIns="73152" tIns="36576" bIns="36576" anchor="ctr">
            <a:spAutoFit/>
          </a:bodyPr>
          <a:lstStyle/>
          <a:p>
            <a:pPr algn="ctr">
              <a:lnSpc>
                <a:spcPct val="118000"/>
              </a:lnSpc>
            </a:pPr>
            <a:r>
              <a:rPr sz="1400" b="1">
                <a:solidFill>
                  <a:srgbClr val="1F2328"/>
                </a:solidFill>
                <a:latin typeface="BIZ UDゴシック"/>
                <a:ea typeface="BIZ UDゴシック"/>
              </a:rPr>
              <a:t>空気 水 金ぞくを</a:t>
            </a:r>
          </a:p>
          <a:p>
            <a:pPr algn="ctr">
              <a:lnSpc>
                <a:spcPct val="118000"/>
              </a:lnSpc>
            </a:pPr>
            <a:r>
              <a:rPr sz="1400" b="1">
                <a:solidFill>
                  <a:srgbClr val="1F2328"/>
                </a:solidFill>
                <a:latin typeface="BIZ UDゴシック"/>
                <a:ea typeface="BIZ UDゴシック"/>
              </a:rPr>
              <a:t>比べてまとめる</a:t>
            </a:r>
          </a:p>
        </p:txBody>
      </p:sp>
      <p:sp>
        <p:nvSpPr>
          <p:cNvPr id="21" name="TextBox 20"/>
          <p:cNvSpPr txBox="1"/>
          <p:nvPr/>
        </p:nvSpPr>
        <p:spPr>
          <a:xfrm>
            <a:off x="548640" y="2697480"/>
            <a:ext cx="11064240" cy="320040"/>
          </a:xfrm>
          <a:prstGeom prst="rect">
            <a:avLst/>
          </a:prstGeom>
          <a:noFill/>
        </p:spPr>
        <p:txBody>
          <a:bodyPr wrap="square" lIns="73152" rIns="73152" tIns="36576" bIns="36576" anchor="t">
            <a:spAutoFit/>
          </a:bodyPr>
          <a:lstStyle/>
          <a:p>
            <a:pPr algn="l">
              <a:lnSpc>
                <a:spcPct val="118000"/>
              </a:lnSpc>
            </a:pPr>
            <a:r>
              <a:rPr sz="1250" b="0">
                <a:solidFill>
                  <a:srgbClr val="5F646B"/>
                </a:solidFill>
                <a:latin typeface="BIZ UDゴシック"/>
                <a:ea typeface="BIZ UDゴシック"/>
              </a:rPr>
              <a:t>第9時の子どもの声　湯では あたため方が足りなかったんだ　火で熱したら 輪を通らなくなった</a:t>
            </a:r>
          </a:p>
        </p:txBody>
      </p:sp>
      <p:sp>
        <p:nvSpPr>
          <p:cNvPr id="22" name="Rectangle 21"/>
          <p:cNvSpPr/>
          <p:nvPr/>
        </p:nvSpPr>
        <p:spPr>
          <a:xfrm>
            <a:off x="548640" y="3246120"/>
            <a:ext cx="5408676" cy="301752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3364992"/>
            <a:ext cx="4951476" cy="365760"/>
          </a:xfrm>
          <a:prstGeom prst="rect">
            <a:avLst/>
          </a:prstGeom>
          <a:noFill/>
        </p:spPr>
        <p:txBody>
          <a:bodyPr wrap="square" lIns="73152" rIns="73152" tIns="36576" bIns="36576" anchor="t">
            <a:spAutoFit/>
          </a:bodyPr>
          <a:lstStyle/>
          <a:p>
            <a:pPr algn="l">
              <a:lnSpc>
                <a:spcPct val="118000"/>
              </a:lnSpc>
            </a:pPr>
            <a:r>
              <a:rPr sz="1700" b="1">
                <a:solidFill>
                  <a:srgbClr val="1F2328"/>
                </a:solidFill>
                <a:latin typeface="BIZ UDゴシック"/>
                <a:ea typeface="BIZ UDゴシック"/>
              </a:rPr>
              <a:t>第10時　結論とまとめ</a:t>
            </a:r>
          </a:p>
        </p:txBody>
      </p:sp>
      <p:sp>
        <p:nvSpPr>
          <p:cNvPr id="24" name="TextBox 23"/>
          <p:cNvSpPr txBox="1"/>
          <p:nvPr/>
        </p:nvSpPr>
        <p:spPr>
          <a:xfrm>
            <a:off x="777240" y="3794760"/>
            <a:ext cx="4951476" cy="2377440"/>
          </a:xfrm>
          <a:prstGeom prst="rect">
            <a:avLst/>
          </a:prstGeom>
          <a:noFill/>
        </p:spPr>
        <p:txBody>
          <a:bodyPr wrap="square" lIns="73152" rIns="73152" tIns="36576" bIns="36576" anchor="t">
            <a:spAutoFit/>
          </a:bodyPr>
          <a:lstStyle/>
          <a:p>
            <a:pPr algn="l">
              <a:lnSpc>
                <a:spcPct val="130000"/>
              </a:lnSpc>
            </a:pPr>
            <a:r>
              <a:rPr sz="1500" b="0">
                <a:solidFill>
                  <a:srgbClr val="1F2328"/>
                </a:solidFill>
                <a:latin typeface="BIZ UDゴシック"/>
                <a:ea typeface="BIZ UDゴシック"/>
              </a:rPr>
              <a:t>金ぞくも あたためたり冷やしたりすると</a:t>
            </a:r>
          </a:p>
          <a:p>
            <a:pPr algn="l">
              <a:lnSpc>
                <a:spcPct val="130000"/>
              </a:lnSpc>
            </a:pPr>
            <a:r>
              <a:rPr sz="1500" b="0">
                <a:solidFill>
                  <a:srgbClr val="1F2328"/>
                </a:solidFill>
                <a:latin typeface="BIZ UDゴシック"/>
                <a:ea typeface="BIZ UDゴシック"/>
              </a:rPr>
              <a:t>体積が変わる</a:t>
            </a:r>
          </a:p>
          <a:p>
            <a:pPr algn="l">
              <a:lnSpc>
                <a:spcPct val="130000"/>
              </a:lnSpc>
            </a:pPr>
            <a:r>
              <a:rPr sz="1500" b="0">
                <a:solidFill>
                  <a:srgbClr val="1F2328"/>
                </a:solidFill>
                <a:latin typeface="BIZ UDゴシック"/>
                <a:ea typeface="BIZ UDゴシック"/>
              </a:rPr>
              <a:t>変わり方は 空気や水より小さい</a:t>
            </a:r>
          </a:p>
          <a:p>
            <a:pPr algn="l">
              <a:lnSpc>
                <a:spcPct val="130000"/>
              </a:lnSpc>
            </a:pPr>
            <a:r>
              <a:rPr sz="1500" b="0">
                <a:solidFill>
                  <a:srgbClr val="1F2328"/>
                </a:solidFill>
                <a:latin typeface="BIZ UDゴシック"/>
                <a:ea typeface="BIZ UDゴシック"/>
              </a:rPr>
              <a:t>レールのすきまと焼きばめから</a:t>
            </a:r>
          </a:p>
          <a:p>
            <a:pPr algn="l">
              <a:lnSpc>
                <a:spcPct val="130000"/>
              </a:lnSpc>
            </a:pPr>
            <a:r>
              <a:rPr sz="1500" b="0">
                <a:solidFill>
                  <a:srgbClr val="1F2328"/>
                </a:solidFill>
                <a:latin typeface="BIZ UDゴシック"/>
                <a:ea typeface="BIZ UDゴシック"/>
              </a:rPr>
              <a:t>生活とのつながりを考える</a:t>
            </a:r>
          </a:p>
        </p:txBody>
      </p:sp>
      <p:sp>
        <p:nvSpPr>
          <p:cNvPr id="25" name="Rectangle 24"/>
          <p:cNvSpPr/>
          <p:nvPr/>
        </p:nvSpPr>
        <p:spPr>
          <a:xfrm>
            <a:off x="6231636" y="3246120"/>
            <a:ext cx="5408676" cy="3017520"/>
          </a:xfrm>
          <a:prstGeom prst="rect">
            <a:avLst/>
          </a:prstGeom>
          <a:solidFill>
            <a:srgbClr val="FFFFFF"/>
          </a:solidFill>
          <a:ln w="15875">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60236" y="3364992"/>
            <a:ext cx="4951476" cy="365760"/>
          </a:xfrm>
          <a:prstGeom prst="rect">
            <a:avLst/>
          </a:prstGeom>
          <a:noFill/>
        </p:spPr>
        <p:txBody>
          <a:bodyPr wrap="square" lIns="73152" rIns="73152" tIns="36576" bIns="36576" anchor="t">
            <a:spAutoFit/>
          </a:bodyPr>
          <a:lstStyle/>
          <a:p>
            <a:pPr algn="l">
              <a:lnSpc>
                <a:spcPct val="118000"/>
              </a:lnSpc>
            </a:pPr>
            <a:r>
              <a:rPr sz="1700" b="1">
                <a:solidFill>
                  <a:srgbClr val="C2410C"/>
                </a:solidFill>
                <a:latin typeface="BIZ UDゴシック"/>
                <a:ea typeface="BIZ UDゴシック"/>
              </a:rPr>
              <a:t>炎を使う実験の安全</a:t>
            </a:r>
          </a:p>
        </p:txBody>
      </p:sp>
      <p:sp>
        <p:nvSpPr>
          <p:cNvPr id="27" name="TextBox 26"/>
          <p:cNvSpPr txBox="1"/>
          <p:nvPr/>
        </p:nvSpPr>
        <p:spPr>
          <a:xfrm>
            <a:off x="6460236" y="3794760"/>
            <a:ext cx="4951476" cy="2423160"/>
          </a:xfrm>
          <a:prstGeom prst="rect">
            <a:avLst/>
          </a:prstGeom>
          <a:noFill/>
        </p:spPr>
        <p:txBody>
          <a:bodyPr wrap="square" lIns="73152" rIns="73152" tIns="36576" bIns="36576" anchor="t">
            <a:spAutoFit/>
          </a:bodyPr>
          <a:lstStyle/>
          <a:p>
            <a:pPr algn="l">
              <a:lnSpc>
                <a:spcPct val="125000"/>
              </a:lnSpc>
            </a:pPr>
            <a:r>
              <a:rPr sz="1400" b="0">
                <a:solidFill>
                  <a:srgbClr val="1F2328"/>
                </a:solidFill>
                <a:latin typeface="BIZ UDゴシック"/>
                <a:ea typeface="BIZ UDゴシック"/>
              </a:rPr>
              <a:t>・手本を見せ 火の係と玉の係を決める</a:t>
            </a:r>
          </a:p>
          <a:p>
            <a:pPr algn="l">
              <a:lnSpc>
                <a:spcPct val="125000"/>
              </a:lnSpc>
            </a:pPr>
            <a:r>
              <a:rPr sz="1400" b="0">
                <a:solidFill>
                  <a:srgbClr val="1F2328"/>
                </a:solidFill>
                <a:latin typeface="BIZ UDゴシック"/>
                <a:ea typeface="BIZ UDゴシック"/>
              </a:rPr>
              <a:t>・保護眼鏡をつける（解説 50ページ）</a:t>
            </a:r>
          </a:p>
          <a:p>
            <a:pPr algn="l">
              <a:lnSpc>
                <a:spcPct val="125000"/>
              </a:lnSpc>
            </a:pPr>
            <a:r>
              <a:rPr sz="1400" b="0">
                <a:solidFill>
                  <a:srgbClr val="1F2328"/>
                </a:solidFill>
                <a:latin typeface="BIZ UDゴシック"/>
                <a:ea typeface="BIZ UDゴシック"/>
              </a:rPr>
              <a:t>・熱した玉とくさりにはさわらない</a:t>
            </a:r>
          </a:p>
          <a:p>
            <a:pPr algn="l">
              <a:lnSpc>
                <a:spcPct val="125000"/>
              </a:lnSpc>
            </a:pPr>
            <a:r>
              <a:rPr sz="1400" b="0">
                <a:solidFill>
                  <a:srgbClr val="1F2328"/>
                </a:solidFill>
                <a:latin typeface="BIZ UDゴシック"/>
                <a:ea typeface="BIZ UDゴシック"/>
              </a:rPr>
              <a:t>・輪は熱しない</a:t>
            </a:r>
          </a:p>
          <a:p>
            <a:pPr algn="l">
              <a:lnSpc>
                <a:spcPct val="125000"/>
              </a:lnSpc>
            </a:pPr>
            <a:r>
              <a:rPr sz="1400" b="0">
                <a:solidFill>
                  <a:srgbClr val="1F2328"/>
                </a:solidFill>
                <a:latin typeface="BIZ UDゴシック"/>
                <a:ea typeface="BIZ UDゴシック"/>
              </a:rPr>
              <a:t>・冷やすときは缶にためた水に入れる</a:t>
            </a:r>
          </a:p>
          <a:p>
            <a:pPr algn="l">
              <a:lnSpc>
                <a:spcPct val="125000"/>
              </a:lnSpc>
            </a:pPr>
            <a:r>
              <a:rPr sz="1400" b="0">
                <a:solidFill>
                  <a:srgbClr val="1F2328"/>
                </a:solidFill>
                <a:latin typeface="BIZ UDゴシック"/>
                <a:ea typeface="BIZ UDゴシック"/>
              </a:rPr>
              <a:t>・湯は「あたためる」 炎は「熱する」と</a:t>
            </a:r>
          </a:p>
          <a:p>
            <a:pPr algn="l">
              <a:lnSpc>
                <a:spcPct val="125000"/>
              </a:lnSpc>
            </a:pPr>
            <a:r>
              <a:rPr sz="1400" b="0">
                <a:solidFill>
                  <a:srgbClr val="1F2328"/>
                </a:solidFill>
                <a:latin typeface="BIZ UDゴシック"/>
                <a:ea typeface="BIZ UDゴシック"/>
              </a:rPr>
              <a:t>　言い分ける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区分"/>
          <p:cNvSpPr txBox="1"/>
          <p:nvPr/>
        </p:nvSpPr>
        <p:spPr>
          <a:xfrm>
            <a:off x="548640" y="274320"/>
            <a:ext cx="8229600" cy="292608"/>
          </a:xfrm>
          <a:prstGeom prst="rect">
            <a:avLst/>
          </a:prstGeom>
          <a:noFill/>
        </p:spPr>
        <p:txBody>
          <a:bodyPr wrap="square" lIns="73152" rIns="73152" tIns="36576" bIns="36576" anchor="t">
            <a:spAutoFit/>
          </a:bodyPr>
          <a:lstStyle/>
          <a:p>
            <a:pPr algn="l">
              <a:lnSpc>
                <a:spcPct val="118000"/>
              </a:lnSpc>
            </a:pPr>
            <a:r>
              <a:rPr sz="1300" b="1">
                <a:solidFill>
                  <a:srgbClr val="5F646B"/>
                </a:solidFill>
                <a:latin typeface="BIZ UDゴシック"/>
                <a:ea typeface="BIZ UDゴシック"/>
              </a:rPr>
              <a:t>発表の視覚支援</a:t>
            </a:r>
          </a:p>
        </p:txBody>
      </p:sp>
      <p:sp>
        <p:nvSpPr>
          <p:cNvPr id="3" name="見出しの線"/>
          <p:cNvSpPr/>
          <p:nvPr/>
        </p:nvSpPr>
        <p:spPr>
          <a:xfrm>
            <a:off x="548640" y="640080"/>
            <a:ext cx="82296" cy="47548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見出し"/>
          <p:cNvSpPr txBox="1"/>
          <p:nvPr/>
        </p:nvSpPr>
        <p:spPr>
          <a:xfrm>
            <a:off x="749808" y="566928"/>
            <a:ext cx="10972800" cy="603504"/>
          </a:xfrm>
          <a:prstGeom prst="rect">
            <a:avLst/>
          </a:prstGeom>
          <a:noFill/>
        </p:spPr>
        <p:txBody>
          <a:bodyPr wrap="square" lIns="73152" rIns="73152" tIns="36576" bIns="36576" anchor="ctr">
            <a:spAutoFit/>
          </a:bodyPr>
          <a:lstStyle/>
          <a:p>
            <a:pPr algn="l">
              <a:lnSpc>
                <a:spcPct val="118000"/>
              </a:lnSpc>
            </a:pPr>
            <a:r>
              <a:rPr sz="2800" b="1">
                <a:solidFill>
                  <a:srgbClr val="1F2328"/>
                </a:solidFill>
                <a:latin typeface="BIZ UDゴシック"/>
                <a:ea typeface="BIZ UDゴシック"/>
              </a:rPr>
              <a:t>文献から分かったこと</a:t>
            </a:r>
          </a:p>
        </p:txBody>
      </p:sp>
      <p:sp>
        <p:nvSpPr>
          <p:cNvPr id="5" name="足もと"/>
          <p:cNvSpPr txBox="1"/>
          <p:nvPr/>
        </p:nvSpPr>
        <p:spPr>
          <a:xfrm>
            <a:off x="548640" y="6455664"/>
            <a:ext cx="8229600" cy="256032"/>
          </a:xfrm>
          <a:prstGeom prst="rect">
            <a:avLst/>
          </a:prstGeom>
          <a:noFill/>
        </p:spPr>
        <p:txBody>
          <a:bodyPr wrap="square" lIns="73152" rIns="73152" tIns="36576" bIns="36576" anchor="t">
            <a:spAutoFit/>
          </a:bodyPr>
          <a:lstStyle/>
          <a:p>
            <a:pPr algn="l">
              <a:lnSpc>
                <a:spcPct val="118000"/>
              </a:lnSpc>
            </a:pPr>
            <a:r>
              <a:rPr sz="1000" b="0">
                <a:solidFill>
                  <a:srgbClr val="8A9097"/>
                </a:solidFill>
                <a:latin typeface="BIZ UDゴシック"/>
                <a:ea typeface="BIZ UDゴシック"/>
              </a:rPr>
              <a:t>4年 理科　物の体積と温度　授業者説明</a:t>
            </a:r>
          </a:p>
        </p:txBody>
      </p:sp>
      <p:sp>
        <p:nvSpPr>
          <p:cNvPr id="6" name="ページ"/>
          <p:cNvSpPr txBox="1"/>
          <p:nvPr/>
        </p:nvSpPr>
        <p:spPr>
          <a:xfrm>
            <a:off x="10545775" y="6455664"/>
            <a:ext cx="1097280" cy="256032"/>
          </a:xfrm>
          <a:prstGeom prst="rect">
            <a:avLst/>
          </a:prstGeom>
          <a:noFill/>
        </p:spPr>
        <p:txBody>
          <a:bodyPr wrap="square" lIns="73152" rIns="73152" tIns="36576" bIns="36576" anchor="t">
            <a:spAutoFit/>
          </a:bodyPr>
          <a:lstStyle/>
          <a:p>
            <a:pPr algn="r">
              <a:lnSpc>
                <a:spcPct val="118000"/>
              </a:lnSpc>
            </a:pPr>
            <a:r>
              <a:rPr sz="1000" b="0">
                <a:solidFill>
                  <a:srgbClr val="8A9097"/>
                </a:solidFill>
                <a:latin typeface="BIZ UDゴシック"/>
                <a:ea typeface="BIZ UDゴシック"/>
              </a:rPr>
              <a:t>20</a:t>
            </a:r>
          </a:p>
        </p:txBody>
      </p:sp>
      <p:sp>
        <p:nvSpPr>
          <p:cNvPr id="7" name="Rectangle 6"/>
          <p:cNvSpPr/>
          <p:nvPr/>
        </p:nvSpPr>
        <p:spPr>
          <a:xfrm>
            <a:off x="548640" y="1325880"/>
            <a:ext cx="3575304" cy="1993392"/>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17320"/>
            <a:ext cx="457200" cy="411480"/>
          </a:xfrm>
          <a:prstGeom prst="rect">
            <a:avLst/>
          </a:prstGeom>
          <a:noFill/>
        </p:spPr>
        <p:txBody>
          <a:bodyPr wrap="square" lIns="73152" rIns="73152" tIns="36576" bIns="36576" anchor="t">
            <a:spAutoFit/>
          </a:bodyPr>
          <a:lstStyle/>
          <a:p>
            <a:pPr algn="l">
              <a:lnSpc>
                <a:spcPct val="118000"/>
              </a:lnSpc>
            </a:pPr>
            <a:r>
              <a:rPr sz="2000" b="1">
                <a:solidFill>
                  <a:srgbClr val="C2410C"/>
                </a:solidFill>
                <a:latin typeface="BIZ UDゴシック"/>
                <a:ea typeface="BIZ UDゴシック"/>
              </a:rPr>
              <a:t>1</a:t>
            </a:r>
          </a:p>
        </p:txBody>
      </p:sp>
      <p:sp>
        <p:nvSpPr>
          <p:cNvPr id="9" name="TextBox 8"/>
          <p:cNvSpPr txBox="1"/>
          <p:nvPr/>
        </p:nvSpPr>
        <p:spPr>
          <a:xfrm>
            <a:off x="1097280" y="1435607"/>
            <a:ext cx="2935224" cy="384048"/>
          </a:xfrm>
          <a:prstGeom prst="rect">
            <a:avLst/>
          </a:prstGeom>
          <a:noFill/>
        </p:spPr>
        <p:txBody>
          <a:bodyPr wrap="square" lIns="73152" rIns="73152" tIns="36576" bIns="36576" anchor="t">
            <a:spAutoFit/>
          </a:bodyPr>
          <a:lstStyle/>
          <a:p>
            <a:pPr algn="l">
              <a:lnSpc>
                <a:spcPct val="118000"/>
              </a:lnSpc>
            </a:pPr>
            <a:r>
              <a:rPr sz="1600" b="1">
                <a:solidFill>
                  <a:srgbClr val="1F2328"/>
                </a:solidFill>
                <a:latin typeface="BIZ UDゴシック"/>
                <a:ea typeface="BIZ UDゴシック"/>
              </a:rPr>
              <a:t>色だけで区別しない</a:t>
            </a:r>
          </a:p>
        </p:txBody>
      </p:sp>
      <p:sp>
        <p:nvSpPr>
          <p:cNvPr id="10" name="TextBox 9"/>
          <p:cNvSpPr txBox="1"/>
          <p:nvPr/>
        </p:nvSpPr>
        <p:spPr>
          <a:xfrm>
            <a:off x="685800" y="1892807"/>
            <a:ext cx="3300984" cy="731520"/>
          </a:xfrm>
          <a:prstGeom prst="rect">
            <a:avLst/>
          </a:prstGeom>
          <a:noFill/>
        </p:spPr>
        <p:txBody>
          <a:bodyPr wrap="square" lIns="73152" rIns="73152" tIns="36576" bIns="36576" anchor="t">
            <a:spAutoFit/>
          </a:bodyPr>
          <a:lstStyle/>
          <a:p>
            <a:pPr algn="l">
              <a:lnSpc>
                <a:spcPct val="112000"/>
              </a:lnSpc>
            </a:pPr>
            <a:r>
              <a:rPr sz="1350" b="0">
                <a:solidFill>
                  <a:srgbClr val="1F2328"/>
                </a:solidFill>
                <a:latin typeface="BIZ UDゴシック"/>
                <a:ea typeface="BIZ UDゴシック"/>
              </a:rPr>
              <a:t>番号と形をつける</a:t>
            </a:r>
          </a:p>
          <a:p>
            <a:pPr algn="l">
              <a:lnSpc>
                <a:spcPct val="112000"/>
              </a:lnSpc>
            </a:pPr>
            <a:r>
              <a:rPr sz="1350" b="0">
                <a:solidFill>
                  <a:srgbClr val="1F2328"/>
                </a:solidFill>
                <a:latin typeface="BIZ UDゴシック"/>
                <a:ea typeface="BIZ UDゴシック"/>
              </a:rPr>
              <a:t>黒板の字は白と黄</a:t>
            </a:r>
          </a:p>
        </p:txBody>
      </p:sp>
      <p:sp>
        <p:nvSpPr>
          <p:cNvPr id="11" name="TextBox 10"/>
          <p:cNvSpPr txBox="1"/>
          <p:nvPr/>
        </p:nvSpPr>
        <p:spPr>
          <a:xfrm>
            <a:off x="685800" y="2651760"/>
            <a:ext cx="3300984" cy="603504"/>
          </a:xfrm>
          <a:prstGeom prst="rect">
            <a:avLst/>
          </a:prstGeom>
          <a:noFill/>
        </p:spPr>
        <p:txBody>
          <a:bodyPr wrap="square" lIns="73152" rIns="73152" tIns="36576" bIns="36576" anchor="t">
            <a:spAutoFit/>
          </a:bodyPr>
          <a:lstStyle/>
          <a:p>
            <a:pPr algn="l">
              <a:lnSpc>
                <a:spcPct val="105000"/>
              </a:lnSpc>
            </a:pPr>
            <a:r>
              <a:rPr sz="1100" b="0">
                <a:solidFill>
                  <a:srgbClr val="5F646B"/>
                </a:solidFill>
                <a:latin typeface="BIZ UDゴシック"/>
                <a:ea typeface="BIZ UDゴシック"/>
              </a:rPr>
              <a:t>文部科学省 色覚に関する指導の資料</a:t>
            </a:r>
          </a:p>
          <a:p>
            <a:pPr algn="l">
              <a:lnSpc>
                <a:spcPct val="105000"/>
              </a:lnSpc>
            </a:pPr>
            <a:r>
              <a:rPr sz="1100" b="0">
                <a:solidFill>
                  <a:srgbClr val="5F646B"/>
                </a:solidFill>
                <a:latin typeface="BIZ UDゴシック"/>
                <a:ea typeface="BIZ UDゴシック"/>
              </a:rPr>
              <a:t>日本眼科医会 2019</a:t>
            </a:r>
          </a:p>
        </p:txBody>
      </p:sp>
      <p:sp>
        <p:nvSpPr>
          <p:cNvPr id="12" name="Rectangle 11"/>
          <p:cNvSpPr/>
          <p:nvPr/>
        </p:nvSpPr>
        <p:spPr>
          <a:xfrm>
            <a:off x="4306824" y="1325880"/>
            <a:ext cx="3575304" cy="1993392"/>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4" y="1417320"/>
            <a:ext cx="457200" cy="411480"/>
          </a:xfrm>
          <a:prstGeom prst="rect">
            <a:avLst/>
          </a:prstGeom>
          <a:noFill/>
        </p:spPr>
        <p:txBody>
          <a:bodyPr wrap="square" lIns="73152" rIns="73152" tIns="36576" bIns="36576" anchor="t">
            <a:spAutoFit/>
          </a:bodyPr>
          <a:lstStyle/>
          <a:p>
            <a:pPr algn="l">
              <a:lnSpc>
                <a:spcPct val="118000"/>
              </a:lnSpc>
            </a:pPr>
            <a:r>
              <a:rPr sz="2000" b="1">
                <a:solidFill>
                  <a:srgbClr val="C2410C"/>
                </a:solidFill>
                <a:latin typeface="BIZ UDゴシック"/>
                <a:ea typeface="BIZ UDゴシック"/>
              </a:rPr>
              <a:t>2</a:t>
            </a:r>
          </a:p>
        </p:txBody>
      </p:sp>
      <p:sp>
        <p:nvSpPr>
          <p:cNvPr id="14" name="TextBox 13"/>
          <p:cNvSpPr txBox="1"/>
          <p:nvPr/>
        </p:nvSpPr>
        <p:spPr>
          <a:xfrm>
            <a:off x="4855464" y="1435607"/>
            <a:ext cx="2935224" cy="384048"/>
          </a:xfrm>
          <a:prstGeom prst="rect">
            <a:avLst/>
          </a:prstGeom>
          <a:noFill/>
        </p:spPr>
        <p:txBody>
          <a:bodyPr wrap="square" lIns="73152" rIns="73152" tIns="36576" bIns="36576" anchor="t">
            <a:spAutoFit/>
          </a:bodyPr>
          <a:lstStyle/>
          <a:p>
            <a:pPr algn="l">
              <a:lnSpc>
                <a:spcPct val="118000"/>
              </a:lnSpc>
            </a:pPr>
            <a:r>
              <a:rPr sz="1600" b="1">
                <a:solidFill>
                  <a:srgbClr val="1F2328"/>
                </a:solidFill>
                <a:latin typeface="BIZ UDゴシック"/>
                <a:ea typeface="BIZ UDゴシック"/>
              </a:rPr>
              <a:t>一度に見せる量を絞る</a:t>
            </a:r>
          </a:p>
        </p:txBody>
      </p:sp>
      <p:sp>
        <p:nvSpPr>
          <p:cNvPr id="15" name="TextBox 14"/>
          <p:cNvSpPr txBox="1"/>
          <p:nvPr/>
        </p:nvSpPr>
        <p:spPr>
          <a:xfrm>
            <a:off x="4443984" y="1892807"/>
            <a:ext cx="3300984" cy="731520"/>
          </a:xfrm>
          <a:prstGeom prst="rect">
            <a:avLst/>
          </a:prstGeom>
          <a:noFill/>
        </p:spPr>
        <p:txBody>
          <a:bodyPr wrap="square" lIns="73152" rIns="73152" tIns="36576" bIns="36576" anchor="t">
            <a:spAutoFit/>
          </a:bodyPr>
          <a:lstStyle/>
          <a:p>
            <a:pPr algn="l">
              <a:lnSpc>
                <a:spcPct val="112000"/>
              </a:lnSpc>
            </a:pPr>
            <a:r>
              <a:rPr sz="1350" b="0">
                <a:solidFill>
                  <a:srgbClr val="1F2328"/>
                </a:solidFill>
                <a:latin typeface="BIZ UDゴシック"/>
                <a:ea typeface="BIZ UDゴシック"/>
              </a:rPr>
              <a:t>その段階のカードだけ出す</a:t>
            </a:r>
          </a:p>
          <a:p>
            <a:pPr algn="l">
              <a:lnSpc>
                <a:spcPct val="112000"/>
              </a:lnSpc>
            </a:pPr>
            <a:r>
              <a:rPr sz="1350" b="0">
                <a:solidFill>
                  <a:srgbClr val="1F2328"/>
                </a:solidFill>
                <a:latin typeface="BIZ UDゴシック"/>
                <a:ea typeface="BIZ UDゴシック"/>
              </a:rPr>
              <a:t>いまここで 現在地を示す</a:t>
            </a:r>
          </a:p>
        </p:txBody>
      </p:sp>
      <p:sp>
        <p:nvSpPr>
          <p:cNvPr id="16" name="TextBox 15"/>
          <p:cNvSpPr txBox="1"/>
          <p:nvPr/>
        </p:nvSpPr>
        <p:spPr>
          <a:xfrm>
            <a:off x="4443984" y="2651760"/>
            <a:ext cx="3300984" cy="603504"/>
          </a:xfrm>
          <a:prstGeom prst="rect">
            <a:avLst/>
          </a:prstGeom>
          <a:noFill/>
        </p:spPr>
        <p:txBody>
          <a:bodyPr wrap="square" lIns="73152" rIns="73152" tIns="36576" bIns="36576" anchor="t">
            <a:spAutoFit/>
          </a:bodyPr>
          <a:lstStyle/>
          <a:p>
            <a:pPr algn="l">
              <a:lnSpc>
                <a:spcPct val="105000"/>
              </a:lnSpc>
            </a:pPr>
            <a:r>
              <a:rPr sz="1100" b="0">
                <a:solidFill>
                  <a:srgbClr val="5F646B"/>
                </a:solidFill>
                <a:latin typeface="BIZ UDゴシック"/>
                <a:ea typeface="BIZ UDゴシック"/>
              </a:rPr>
              <a:t>障害のある子供の教育支援の手引</a:t>
            </a:r>
          </a:p>
          <a:p>
            <a:pPr algn="l">
              <a:lnSpc>
                <a:spcPct val="105000"/>
              </a:lnSpc>
            </a:pPr>
            <a:r>
              <a:rPr sz="1100" b="0">
                <a:solidFill>
                  <a:srgbClr val="5F646B"/>
                </a:solidFill>
                <a:latin typeface="BIZ UDゴシック"/>
                <a:ea typeface="BIZ UDゴシック"/>
              </a:rPr>
              <a:t>Fisher ほか 2014</a:t>
            </a:r>
          </a:p>
        </p:txBody>
      </p:sp>
      <p:sp>
        <p:nvSpPr>
          <p:cNvPr id="17" name="Rectangle 16"/>
          <p:cNvSpPr/>
          <p:nvPr/>
        </p:nvSpPr>
        <p:spPr>
          <a:xfrm>
            <a:off x="8065008" y="1325880"/>
            <a:ext cx="3575304" cy="1993392"/>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2168" y="1417320"/>
            <a:ext cx="457200" cy="411480"/>
          </a:xfrm>
          <a:prstGeom prst="rect">
            <a:avLst/>
          </a:prstGeom>
          <a:noFill/>
        </p:spPr>
        <p:txBody>
          <a:bodyPr wrap="square" lIns="73152" rIns="73152" tIns="36576" bIns="36576" anchor="t">
            <a:spAutoFit/>
          </a:bodyPr>
          <a:lstStyle/>
          <a:p>
            <a:pPr algn="l">
              <a:lnSpc>
                <a:spcPct val="118000"/>
              </a:lnSpc>
            </a:pPr>
            <a:r>
              <a:rPr sz="2000" b="1">
                <a:solidFill>
                  <a:srgbClr val="C2410C"/>
                </a:solidFill>
                <a:latin typeface="BIZ UDゴシック"/>
                <a:ea typeface="BIZ UDゴシック"/>
              </a:rPr>
              <a:t>3</a:t>
            </a:r>
          </a:p>
        </p:txBody>
      </p:sp>
      <p:sp>
        <p:nvSpPr>
          <p:cNvPr id="19" name="TextBox 18"/>
          <p:cNvSpPr txBox="1"/>
          <p:nvPr/>
        </p:nvSpPr>
        <p:spPr>
          <a:xfrm>
            <a:off x="8613648" y="1435607"/>
            <a:ext cx="2935224" cy="384048"/>
          </a:xfrm>
          <a:prstGeom prst="rect">
            <a:avLst/>
          </a:prstGeom>
          <a:noFill/>
        </p:spPr>
        <p:txBody>
          <a:bodyPr wrap="square" lIns="73152" rIns="73152" tIns="36576" bIns="36576" anchor="t">
            <a:spAutoFit/>
          </a:bodyPr>
          <a:lstStyle/>
          <a:p>
            <a:pPr algn="l">
              <a:lnSpc>
                <a:spcPct val="118000"/>
              </a:lnSpc>
            </a:pPr>
            <a:r>
              <a:rPr sz="1600" b="1">
                <a:solidFill>
                  <a:srgbClr val="1F2328"/>
                </a:solidFill>
                <a:latin typeface="BIZ UDゴシック"/>
                <a:ea typeface="BIZ UDゴシック"/>
              </a:rPr>
              <a:t>型は外していく</a:t>
            </a:r>
          </a:p>
        </p:txBody>
      </p:sp>
      <p:sp>
        <p:nvSpPr>
          <p:cNvPr id="20" name="TextBox 19"/>
          <p:cNvSpPr txBox="1"/>
          <p:nvPr/>
        </p:nvSpPr>
        <p:spPr>
          <a:xfrm>
            <a:off x="8202168" y="1892807"/>
            <a:ext cx="3300984" cy="731520"/>
          </a:xfrm>
          <a:prstGeom prst="rect">
            <a:avLst/>
          </a:prstGeom>
          <a:noFill/>
        </p:spPr>
        <p:txBody>
          <a:bodyPr wrap="square" lIns="73152" rIns="73152" tIns="36576" bIns="36576" anchor="t">
            <a:spAutoFit/>
          </a:bodyPr>
          <a:lstStyle/>
          <a:p>
            <a:pPr algn="l">
              <a:lnSpc>
                <a:spcPct val="112000"/>
              </a:lnSpc>
            </a:pPr>
            <a:r>
              <a:rPr sz="1350" b="0">
                <a:solidFill>
                  <a:srgbClr val="1F2328"/>
                </a:solidFill>
                <a:latin typeface="BIZ UDゴシック"/>
                <a:ea typeface="BIZ UDゴシック"/>
              </a:rPr>
              <a:t>全文 書き出し 見出し なしの順</a:t>
            </a:r>
          </a:p>
          <a:p>
            <a:pPr algn="l">
              <a:lnSpc>
                <a:spcPct val="112000"/>
              </a:lnSpc>
            </a:pPr>
            <a:r>
              <a:rPr sz="1350" b="0">
                <a:solidFill>
                  <a:srgbClr val="1F2328"/>
                </a:solidFill>
                <a:latin typeface="BIZ UDゴシック"/>
                <a:ea typeface="BIZ UDゴシック"/>
              </a:rPr>
              <a:t>型なしで言えたかを記録</a:t>
            </a:r>
          </a:p>
        </p:txBody>
      </p:sp>
      <p:sp>
        <p:nvSpPr>
          <p:cNvPr id="21" name="TextBox 20"/>
          <p:cNvSpPr txBox="1"/>
          <p:nvPr/>
        </p:nvSpPr>
        <p:spPr>
          <a:xfrm>
            <a:off x="8202168" y="2651760"/>
            <a:ext cx="3300984" cy="603504"/>
          </a:xfrm>
          <a:prstGeom prst="rect">
            <a:avLst/>
          </a:prstGeom>
          <a:noFill/>
        </p:spPr>
        <p:txBody>
          <a:bodyPr wrap="square" lIns="73152" rIns="73152" tIns="36576" bIns="36576" anchor="t">
            <a:spAutoFit/>
          </a:bodyPr>
          <a:lstStyle/>
          <a:p>
            <a:pPr algn="l">
              <a:lnSpc>
                <a:spcPct val="105000"/>
              </a:lnSpc>
            </a:pPr>
            <a:r>
              <a:rPr sz="1100" b="0">
                <a:solidFill>
                  <a:srgbClr val="5F646B"/>
                </a:solidFill>
                <a:latin typeface="BIZ UDゴシック"/>
                <a:ea typeface="BIZ UDゴシック"/>
              </a:rPr>
              <a:t>Krantz と McClannahan 1993</a:t>
            </a:r>
          </a:p>
          <a:p>
            <a:pPr algn="l">
              <a:lnSpc>
                <a:spcPct val="105000"/>
              </a:lnSpc>
            </a:pPr>
            <a:r>
              <a:rPr sz="1100" b="0">
                <a:solidFill>
                  <a:srgbClr val="5F646B"/>
                </a:solidFill>
                <a:latin typeface="BIZ UDゴシック"/>
                <a:ea typeface="BIZ UDゴシック"/>
              </a:rPr>
              <a:t>McNeill ほか 2006</a:t>
            </a:r>
          </a:p>
        </p:txBody>
      </p:sp>
      <p:sp>
        <p:nvSpPr>
          <p:cNvPr id="22" name="Rectangle 21"/>
          <p:cNvSpPr/>
          <p:nvPr/>
        </p:nvSpPr>
        <p:spPr>
          <a:xfrm>
            <a:off x="548640" y="3483864"/>
            <a:ext cx="3575304" cy="1993392"/>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575304"/>
            <a:ext cx="457200" cy="411480"/>
          </a:xfrm>
          <a:prstGeom prst="rect">
            <a:avLst/>
          </a:prstGeom>
          <a:noFill/>
        </p:spPr>
        <p:txBody>
          <a:bodyPr wrap="square" lIns="73152" rIns="73152" tIns="36576" bIns="36576" anchor="t">
            <a:spAutoFit/>
          </a:bodyPr>
          <a:lstStyle/>
          <a:p>
            <a:pPr algn="l">
              <a:lnSpc>
                <a:spcPct val="118000"/>
              </a:lnSpc>
            </a:pPr>
            <a:r>
              <a:rPr sz="2000" b="1">
                <a:solidFill>
                  <a:srgbClr val="C2410C"/>
                </a:solidFill>
                <a:latin typeface="BIZ UDゴシック"/>
                <a:ea typeface="BIZ UDゴシック"/>
              </a:rPr>
              <a:t>4</a:t>
            </a:r>
          </a:p>
        </p:txBody>
      </p:sp>
      <p:sp>
        <p:nvSpPr>
          <p:cNvPr id="24" name="TextBox 23"/>
          <p:cNvSpPr txBox="1"/>
          <p:nvPr/>
        </p:nvSpPr>
        <p:spPr>
          <a:xfrm>
            <a:off x="1097280" y="3593592"/>
            <a:ext cx="2935224" cy="384048"/>
          </a:xfrm>
          <a:prstGeom prst="rect">
            <a:avLst/>
          </a:prstGeom>
          <a:noFill/>
        </p:spPr>
        <p:txBody>
          <a:bodyPr wrap="square" lIns="73152" rIns="73152" tIns="36576" bIns="36576" anchor="t">
            <a:spAutoFit/>
          </a:bodyPr>
          <a:lstStyle/>
          <a:p>
            <a:pPr algn="l">
              <a:lnSpc>
                <a:spcPct val="118000"/>
              </a:lnSpc>
            </a:pPr>
            <a:r>
              <a:rPr sz="1600" b="1">
                <a:solidFill>
                  <a:srgbClr val="1F2328"/>
                </a:solidFill>
                <a:latin typeface="BIZ UDゴシック"/>
                <a:ea typeface="BIZ UDゴシック"/>
              </a:rPr>
              <a:t>準備を段階にする</a:t>
            </a:r>
          </a:p>
        </p:txBody>
      </p:sp>
      <p:sp>
        <p:nvSpPr>
          <p:cNvPr id="25" name="TextBox 24"/>
          <p:cNvSpPr txBox="1"/>
          <p:nvPr/>
        </p:nvSpPr>
        <p:spPr>
          <a:xfrm>
            <a:off x="685800" y="4050792"/>
            <a:ext cx="3300984" cy="731520"/>
          </a:xfrm>
          <a:prstGeom prst="rect">
            <a:avLst/>
          </a:prstGeom>
          <a:noFill/>
        </p:spPr>
        <p:txBody>
          <a:bodyPr wrap="square" lIns="73152" rIns="73152" tIns="36576" bIns="36576" anchor="t">
            <a:spAutoFit/>
          </a:bodyPr>
          <a:lstStyle/>
          <a:p>
            <a:pPr algn="l">
              <a:lnSpc>
                <a:spcPct val="112000"/>
              </a:lnSpc>
            </a:pPr>
            <a:r>
              <a:rPr sz="1350" b="0">
                <a:solidFill>
                  <a:srgbClr val="1F2328"/>
                </a:solidFill>
                <a:latin typeface="BIZ UDゴシック"/>
                <a:ea typeface="BIZ UDゴシック"/>
              </a:rPr>
              <a:t>ひとり となり 班 全体の順</a:t>
            </a:r>
          </a:p>
          <a:p>
            <a:pPr algn="l">
              <a:lnSpc>
                <a:spcPct val="112000"/>
              </a:lnSpc>
            </a:pPr>
            <a:r>
              <a:rPr sz="1350" b="0">
                <a:solidFill>
                  <a:srgbClr val="1F2328"/>
                </a:solidFill>
                <a:latin typeface="BIZ UDゴシック"/>
                <a:ea typeface="BIZ UDゴシック"/>
              </a:rPr>
              <a:t>先に書いてから話す</a:t>
            </a:r>
          </a:p>
        </p:txBody>
      </p:sp>
      <p:sp>
        <p:nvSpPr>
          <p:cNvPr id="26" name="TextBox 25"/>
          <p:cNvSpPr txBox="1"/>
          <p:nvPr/>
        </p:nvSpPr>
        <p:spPr>
          <a:xfrm>
            <a:off x="685800" y="4809744"/>
            <a:ext cx="3300984" cy="603504"/>
          </a:xfrm>
          <a:prstGeom prst="rect">
            <a:avLst/>
          </a:prstGeom>
          <a:noFill/>
        </p:spPr>
        <p:txBody>
          <a:bodyPr wrap="square" lIns="73152" rIns="73152" tIns="36576" bIns="36576" anchor="t">
            <a:spAutoFit/>
          </a:bodyPr>
          <a:lstStyle/>
          <a:p>
            <a:pPr algn="l">
              <a:lnSpc>
                <a:spcPct val="105000"/>
              </a:lnSpc>
            </a:pPr>
            <a:r>
              <a:rPr sz="1100" b="0">
                <a:solidFill>
                  <a:srgbClr val="5F646B"/>
                </a:solidFill>
                <a:latin typeface="BIZ UDゴシック"/>
                <a:ea typeface="BIZ UDゴシック"/>
              </a:rPr>
              <a:t>国立特別支援教育総合研究所</a:t>
            </a:r>
          </a:p>
          <a:p>
            <a:pPr algn="l">
              <a:lnSpc>
                <a:spcPct val="105000"/>
              </a:lnSpc>
            </a:pPr>
            <a:r>
              <a:rPr sz="1100" b="0">
                <a:solidFill>
                  <a:srgbClr val="5F646B"/>
                </a:solidFill>
                <a:latin typeface="BIZ UDゴシック"/>
                <a:ea typeface="BIZ UDゴシック"/>
              </a:rPr>
              <a:t>新潟県教育委員会 2023</a:t>
            </a:r>
          </a:p>
        </p:txBody>
      </p:sp>
      <p:sp>
        <p:nvSpPr>
          <p:cNvPr id="27" name="Rectangle 26"/>
          <p:cNvSpPr/>
          <p:nvPr/>
        </p:nvSpPr>
        <p:spPr>
          <a:xfrm>
            <a:off x="4306824" y="3483864"/>
            <a:ext cx="3575304" cy="1993392"/>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43984" y="3575304"/>
            <a:ext cx="457200" cy="411480"/>
          </a:xfrm>
          <a:prstGeom prst="rect">
            <a:avLst/>
          </a:prstGeom>
          <a:noFill/>
        </p:spPr>
        <p:txBody>
          <a:bodyPr wrap="square" lIns="73152" rIns="73152" tIns="36576" bIns="36576" anchor="t">
            <a:spAutoFit/>
          </a:bodyPr>
          <a:lstStyle/>
          <a:p>
            <a:pPr algn="l">
              <a:lnSpc>
                <a:spcPct val="118000"/>
              </a:lnSpc>
            </a:pPr>
            <a:r>
              <a:rPr sz="2000" b="1">
                <a:solidFill>
                  <a:srgbClr val="C2410C"/>
                </a:solidFill>
                <a:latin typeface="BIZ UDゴシック"/>
                <a:ea typeface="BIZ UDゴシック"/>
              </a:rPr>
              <a:t>5</a:t>
            </a:r>
          </a:p>
        </p:txBody>
      </p:sp>
      <p:sp>
        <p:nvSpPr>
          <p:cNvPr id="29" name="TextBox 28"/>
          <p:cNvSpPr txBox="1"/>
          <p:nvPr/>
        </p:nvSpPr>
        <p:spPr>
          <a:xfrm>
            <a:off x="4855464" y="3593592"/>
            <a:ext cx="2935224" cy="384048"/>
          </a:xfrm>
          <a:prstGeom prst="rect">
            <a:avLst/>
          </a:prstGeom>
          <a:noFill/>
        </p:spPr>
        <p:txBody>
          <a:bodyPr wrap="square" lIns="73152" rIns="73152" tIns="36576" bIns="36576" anchor="t">
            <a:spAutoFit/>
          </a:bodyPr>
          <a:lstStyle/>
          <a:p>
            <a:pPr algn="l">
              <a:lnSpc>
                <a:spcPct val="118000"/>
              </a:lnSpc>
            </a:pPr>
            <a:r>
              <a:rPr sz="1600" b="1">
                <a:solidFill>
                  <a:srgbClr val="1F2328"/>
                </a:solidFill>
                <a:latin typeface="BIZ UDゴシック"/>
                <a:ea typeface="BIZ UDゴシック"/>
              </a:rPr>
              <a:t>聞く子も全員が反応する</a:t>
            </a:r>
          </a:p>
        </p:txBody>
      </p:sp>
      <p:sp>
        <p:nvSpPr>
          <p:cNvPr id="30" name="TextBox 29"/>
          <p:cNvSpPr txBox="1"/>
          <p:nvPr/>
        </p:nvSpPr>
        <p:spPr>
          <a:xfrm>
            <a:off x="4443984" y="4050792"/>
            <a:ext cx="3300984" cy="731520"/>
          </a:xfrm>
          <a:prstGeom prst="rect">
            <a:avLst/>
          </a:prstGeom>
          <a:noFill/>
        </p:spPr>
        <p:txBody>
          <a:bodyPr wrap="square" lIns="73152" rIns="73152" tIns="36576" bIns="36576" anchor="t">
            <a:spAutoFit/>
          </a:bodyPr>
          <a:lstStyle/>
          <a:p>
            <a:pPr algn="l">
              <a:lnSpc>
                <a:spcPct val="112000"/>
              </a:lnSpc>
            </a:pPr>
            <a:r>
              <a:rPr sz="1350" b="0">
                <a:solidFill>
                  <a:srgbClr val="1F2328"/>
                </a:solidFill>
                <a:latin typeface="BIZ UDゴシック"/>
                <a:ea typeface="BIZ UDゴシック"/>
              </a:rPr>
              <a:t>「にている」「ちがう」のカード</a:t>
            </a:r>
          </a:p>
          <a:p>
            <a:pPr algn="l">
              <a:lnSpc>
                <a:spcPct val="112000"/>
              </a:lnSpc>
            </a:pPr>
            <a:r>
              <a:rPr sz="1350" b="0">
                <a:solidFill>
                  <a:srgbClr val="1F2328"/>
                </a:solidFill>
                <a:latin typeface="BIZ UDゴシック"/>
                <a:ea typeface="BIZ UDゴシック"/>
              </a:rPr>
              <a:t>考えのずれが全員に見える</a:t>
            </a:r>
          </a:p>
        </p:txBody>
      </p:sp>
      <p:sp>
        <p:nvSpPr>
          <p:cNvPr id="31" name="TextBox 30"/>
          <p:cNvSpPr txBox="1"/>
          <p:nvPr/>
        </p:nvSpPr>
        <p:spPr>
          <a:xfrm>
            <a:off x="4443984" y="4809744"/>
            <a:ext cx="3300984" cy="603504"/>
          </a:xfrm>
          <a:prstGeom prst="rect">
            <a:avLst/>
          </a:prstGeom>
          <a:noFill/>
        </p:spPr>
        <p:txBody>
          <a:bodyPr wrap="square" lIns="73152" rIns="73152" tIns="36576" bIns="36576" anchor="t">
            <a:spAutoFit/>
          </a:bodyPr>
          <a:lstStyle/>
          <a:p>
            <a:pPr algn="l">
              <a:lnSpc>
                <a:spcPct val="105000"/>
              </a:lnSpc>
            </a:pPr>
            <a:r>
              <a:rPr sz="1100" b="0">
                <a:solidFill>
                  <a:srgbClr val="5F646B"/>
                </a:solidFill>
                <a:latin typeface="BIZ UDゴシック"/>
                <a:ea typeface="BIZ UDゴシック"/>
              </a:rPr>
              <a:t>Randolph 2007</a:t>
            </a:r>
          </a:p>
          <a:p>
            <a:pPr algn="l">
              <a:lnSpc>
                <a:spcPct val="105000"/>
              </a:lnSpc>
            </a:pPr>
            <a:r>
              <a:rPr sz="1100" b="0">
                <a:solidFill>
                  <a:srgbClr val="5F646B"/>
                </a:solidFill>
                <a:latin typeface="BIZ UDゴシック"/>
                <a:ea typeface="BIZ UDゴシック"/>
              </a:rPr>
              <a:t>Marsh ほか 2023</a:t>
            </a:r>
          </a:p>
        </p:txBody>
      </p:sp>
      <p:sp>
        <p:nvSpPr>
          <p:cNvPr id="32" name="Rectangle 31"/>
          <p:cNvSpPr/>
          <p:nvPr/>
        </p:nvSpPr>
        <p:spPr>
          <a:xfrm>
            <a:off x="8065008" y="3483864"/>
            <a:ext cx="3575304" cy="1993392"/>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02168" y="3575304"/>
            <a:ext cx="457200" cy="411480"/>
          </a:xfrm>
          <a:prstGeom prst="rect">
            <a:avLst/>
          </a:prstGeom>
          <a:noFill/>
        </p:spPr>
        <p:txBody>
          <a:bodyPr wrap="square" lIns="73152" rIns="73152" tIns="36576" bIns="36576" anchor="t">
            <a:spAutoFit/>
          </a:bodyPr>
          <a:lstStyle/>
          <a:p>
            <a:pPr algn="l">
              <a:lnSpc>
                <a:spcPct val="118000"/>
              </a:lnSpc>
            </a:pPr>
            <a:r>
              <a:rPr sz="2000" b="1">
                <a:solidFill>
                  <a:srgbClr val="C2410C"/>
                </a:solidFill>
                <a:latin typeface="BIZ UDゴシック"/>
                <a:ea typeface="BIZ UDゴシック"/>
              </a:rPr>
              <a:t>6</a:t>
            </a:r>
          </a:p>
        </p:txBody>
      </p:sp>
      <p:sp>
        <p:nvSpPr>
          <p:cNvPr id="34" name="TextBox 33"/>
          <p:cNvSpPr txBox="1"/>
          <p:nvPr/>
        </p:nvSpPr>
        <p:spPr>
          <a:xfrm>
            <a:off x="8613648" y="3593592"/>
            <a:ext cx="2935224" cy="384048"/>
          </a:xfrm>
          <a:prstGeom prst="rect">
            <a:avLst/>
          </a:prstGeom>
          <a:noFill/>
        </p:spPr>
        <p:txBody>
          <a:bodyPr wrap="square" lIns="73152" rIns="73152" tIns="36576" bIns="36576" anchor="t">
            <a:spAutoFit/>
          </a:bodyPr>
          <a:lstStyle/>
          <a:p>
            <a:pPr algn="l">
              <a:lnSpc>
                <a:spcPct val="118000"/>
              </a:lnSpc>
            </a:pPr>
            <a:r>
              <a:rPr sz="1600" b="1">
                <a:solidFill>
                  <a:srgbClr val="1F2328"/>
                </a:solidFill>
                <a:latin typeface="BIZ UDゴシック"/>
                <a:ea typeface="BIZ UDゴシック"/>
              </a:rPr>
              <a:t>説明のしかたを選べる</a:t>
            </a:r>
          </a:p>
        </p:txBody>
      </p:sp>
      <p:sp>
        <p:nvSpPr>
          <p:cNvPr id="35" name="TextBox 34"/>
          <p:cNvSpPr txBox="1"/>
          <p:nvPr/>
        </p:nvSpPr>
        <p:spPr>
          <a:xfrm>
            <a:off x="8202168" y="4050792"/>
            <a:ext cx="3300984" cy="731520"/>
          </a:xfrm>
          <a:prstGeom prst="rect">
            <a:avLst/>
          </a:prstGeom>
          <a:noFill/>
        </p:spPr>
        <p:txBody>
          <a:bodyPr wrap="square" lIns="73152" rIns="73152" tIns="36576" bIns="36576" anchor="t">
            <a:spAutoFit/>
          </a:bodyPr>
          <a:lstStyle/>
          <a:p>
            <a:pPr algn="l">
              <a:lnSpc>
                <a:spcPct val="112000"/>
              </a:lnSpc>
            </a:pPr>
            <a:r>
              <a:rPr sz="1350" b="0">
                <a:solidFill>
                  <a:srgbClr val="1F2328"/>
                </a:solidFill>
                <a:latin typeface="BIZ UDゴシック"/>
                <a:ea typeface="BIZ UDゴシック"/>
              </a:rPr>
              <a:t>指さしや書画カメラも</a:t>
            </a:r>
          </a:p>
          <a:p>
            <a:pPr algn="l">
              <a:lnSpc>
                <a:spcPct val="112000"/>
              </a:lnSpc>
            </a:pPr>
            <a:r>
              <a:rPr sz="1350" b="0">
                <a:solidFill>
                  <a:srgbClr val="1F2328"/>
                </a:solidFill>
                <a:latin typeface="BIZ UDゴシック"/>
                <a:ea typeface="BIZ UDゴシック"/>
              </a:rPr>
              <a:t>正式な説明として認める</a:t>
            </a:r>
          </a:p>
        </p:txBody>
      </p:sp>
      <p:sp>
        <p:nvSpPr>
          <p:cNvPr id="36" name="TextBox 35"/>
          <p:cNvSpPr txBox="1"/>
          <p:nvPr/>
        </p:nvSpPr>
        <p:spPr>
          <a:xfrm>
            <a:off x="8202168" y="4809744"/>
            <a:ext cx="3300984" cy="603504"/>
          </a:xfrm>
          <a:prstGeom prst="rect">
            <a:avLst/>
          </a:prstGeom>
          <a:noFill/>
        </p:spPr>
        <p:txBody>
          <a:bodyPr wrap="square" lIns="73152" rIns="73152" tIns="36576" bIns="36576" anchor="t">
            <a:spAutoFit/>
          </a:bodyPr>
          <a:lstStyle/>
          <a:p>
            <a:pPr algn="l">
              <a:lnSpc>
                <a:spcPct val="105000"/>
              </a:lnSpc>
            </a:pPr>
            <a:r>
              <a:rPr sz="1100" b="0">
                <a:solidFill>
                  <a:srgbClr val="5F646B"/>
                </a:solidFill>
                <a:latin typeface="BIZ UDゴシック"/>
                <a:ea typeface="BIZ UDゴシック"/>
              </a:rPr>
              <a:t>CAST 2024</a:t>
            </a:r>
          </a:p>
          <a:p>
            <a:pPr algn="l">
              <a:lnSpc>
                <a:spcPct val="105000"/>
              </a:lnSpc>
            </a:pPr>
            <a:r>
              <a:rPr sz="1100" b="0">
                <a:solidFill>
                  <a:srgbClr val="5F646B"/>
                </a:solidFill>
                <a:latin typeface="BIZ UDゴシック"/>
                <a:ea typeface="BIZ UDゴシック"/>
              </a:rPr>
              <a:t>学びのユニバーサルデザイン</a:t>
            </a:r>
          </a:p>
        </p:txBody>
      </p:sp>
      <p:sp>
        <p:nvSpPr>
          <p:cNvPr id="37" name="Rectangle 36"/>
          <p:cNvSpPr/>
          <p:nvPr/>
        </p:nvSpPr>
        <p:spPr>
          <a:xfrm>
            <a:off x="548640" y="5760720"/>
            <a:ext cx="11091672" cy="566928"/>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5760720"/>
            <a:ext cx="10698480" cy="566928"/>
          </a:xfrm>
          <a:prstGeom prst="rect">
            <a:avLst/>
          </a:prstGeom>
          <a:noFill/>
        </p:spPr>
        <p:txBody>
          <a:bodyPr wrap="square" lIns="73152" rIns="73152" tIns="36576" bIns="36576" anchor="ctr">
            <a:spAutoFit/>
          </a:bodyPr>
          <a:lstStyle/>
          <a:p>
            <a:pPr algn="l">
              <a:lnSpc>
                <a:spcPct val="118000"/>
              </a:lnSpc>
            </a:pPr>
            <a:r>
              <a:rPr sz="1250" b="0">
                <a:solidFill>
                  <a:srgbClr val="1F2328"/>
                </a:solidFill>
                <a:latin typeface="BIZ UDゴシック"/>
                <a:ea typeface="BIZ UDゴシック"/>
              </a:rPr>
              <a:t>通常の学級の4年生が前で説明する場面を そのまま確かめた研究は見つからなかった　使いながら記録をとって確かめる</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区分"/>
          <p:cNvSpPr txBox="1"/>
          <p:nvPr/>
        </p:nvSpPr>
        <p:spPr>
          <a:xfrm>
            <a:off x="548640" y="274320"/>
            <a:ext cx="8229600" cy="292608"/>
          </a:xfrm>
          <a:prstGeom prst="rect">
            <a:avLst/>
          </a:prstGeom>
          <a:noFill/>
        </p:spPr>
        <p:txBody>
          <a:bodyPr wrap="square" lIns="73152" rIns="73152" tIns="36576" bIns="36576" anchor="t">
            <a:spAutoFit/>
          </a:bodyPr>
          <a:lstStyle/>
          <a:p>
            <a:pPr algn="l">
              <a:lnSpc>
                <a:spcPct val="118000"/>
              </a:lnSpc>
            </a:pPr>
            <a:r>
              <a:rPr sz="1300" b="1">
                <a:solidFill>
                  <a:srgbClr val="5F646B"/>
                </a:solidFill>
                <a:latin typeface="BIZ UDゴシック"/>
                <a:ea typeface="BIZ UDゴシック"/>
              </a:rPr>
              <a:t>発表の視覚支援</a:t>
            </a:r>
          </a:p>
        </p:txBody>
      </p:sp>
      <p:sp>
        <p:nvSpPr>
          <p:cNvPr id="3" name="見出しの線"/>
          <p:cNvSpPr/>
          <p:nvPr/>
        </p:nvSpPr>
        <p:spPr>
          <a:xfrm>
            <a:off x="548640" y="640080"/>
            <a:ext cx="82296" cy="47548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見出し"/>
          <p:cNvSpPr txBox="1"/>
          <p:nvPr/>
        </p:nvSpPr>
        <p:spPr>
          <a:xfrm>
            <a:off x="749808" y="566928"/>
            <a:ext cx="10972800" cy="603504"/>
          </a:xfrm>
          <a:prstGeom prst="rect">
            <a:avLst/>
          </a:prstGeom>
          <a:noFill/>
        </p:spPr>
        <p:txBody>
          <a:bodyPr wrap="square" lIns="73152" rIns="73152" tIns="36576" bIns="36576" anchor="ctr">
            <a:spAutoFit/>
          </a:bodyPr>
          <a:lstStyle/>
          <a:p>
            <a:pPr algn="l">
              <a:lnSpc>
                <a:spcPct val="118000"/>
              </a:lnSpc>
            </a:pPr>
            <a:r>
              <a:rPr sz="2800" b="1">
                <a:solidFill>
                  <a:srgbClr val="1F2328"/>
                </a:solidFill>
                <a:latin typeface="BIZ UDゴシック"/>
                <a:ea typeface="BIZ UDゴシック"/>
              </a:rPr>
              <a:t>発表のカードとスライド（5〜6人の班で使う）</a:t>
            </a:r>
          </a:p>
        </p:txBody>
      </p:sp>
      <p:sp>
        <p:nvSpPr>
          <p:cNvPr id="5" name="足もと"/>
          <p:cNvSpPr txBox="1"/>
          <p:nvPr/>
        </p:nvSpPr>
        <p:spPr>
          <a:xfrm>
            <a:off x="548640" y="6455664"/>
            <a:ext cx="8229600" cy="256032"/>
          </a:xfrm>
          <a:prstGeom prst="rect">
            <a:avLst/>
          </a:prstGeom>
          <a:noFill/>
        </p:spPr>
        <p:txBody>
          <a:bodyPr wrap="square" lIns="73152" rIns="73152" tIns="36576" bIns="36576" anchor="t">
            <a:spAutoFit/>
          </a:bodyPr>
          <a:lstStyle/>
          <a:p>
            <a:pPr algn="l">
              <a:lnSpc>
                <a:spcPct val="118000"/>
              </a:lnSpc>
            </a:pPr>
            <a:r>
              <a:rPr sz="1000" b="0">
                <a:solidFill>
                  <a:srgbClr val="8A9097"/>
                </a:solidFill>
                <a:latin typeface="BIZ UDゴシック"/>
                <a:ea typeface="BIZ UDゴシック"/>
              </a:rPr>
              <a:t>4年 理科　物の体積と温度　授業者説明</a:t>
            </a:r>
          </a:p>
        </p:txBody>
      </p:sp>
      <p:sp>
        <p:nvSpPr>
          <p:cNvPr id="6" name="ページ"/>
          <p:cNvSpPr txBox="1"/>
          <p:nvPr/>
        </p:nvSpPr>
        <p:spPr>
          <a:xfrm>
            <a:off x="10545775" y="6455664"/>
            <a:ext cx="1097280" cy="256032"/>
          </a:xfrm>
          <a:prstGeom prst="rect">
            <a:avLst/>
          </a:prstGeom>
          <a:noFill/>
        </p:spPr>
        <p:txBody>
          <a:bodyPr wrap="square" lIns="73152" rIns="73152" tIns="36576" bIns="36576" anchor="t">
            <a:spAutoFit/>
          </a:bodyPr>
          <a:lstStyle/>
          <a:p>
            <a:pPr algn="r">
              <a:lnSpc>
                <a:spcPct val="118000"/>
              </a:lnSpc>
            </a:pPr>
            <a:r>
              <a:rPr sz="1000" b="0">
                <a:solidFill>
                  <a:srgbClr val="8A9097"/>
                </a:solidFill>
                <a:latin typeface="BIZ UDゴシック"/>
                <a:ea typeface="BIZ UDゴシック"/>
              </a:rPr>
              <a:t>21</a:t>
            </a:r>
          </a:p>
        </p:txBody>
      </p:sp>
      <p:sp>
        <p:nvSpPr>
          <p:cNvPr id="7" name="Rectangle 6"/>
          <p:cNvSpPr/>
          <p:nvPr/>
        </p:nvSpPr>
        <p:spPr>
          <a:xfrm>
            <a:off x="548640" y="1298448"/>
            <a:ext cx="3575304" cy="210312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kit_midashi.png"/>
          <p:cNvPicPr>
            <a:picLocks noChangeAspect="1"/>
          </p:cNvPicPr>
          <p:nvPr/>
        </p:nvPicPr>
        <p:blipFill>
          <a:blip r:embed="rId2"/>
          <a:stretch>
            <a:fillRect/>
          </a:stretch>
        </p:blipFill>
        <p:spPr>
          <a:xfrm>
            <a:off x="685799" y="1566034"/>
            <a:ext cx="3300984" cy="790708"/>
          </a:xfrm>
          <a:prstGeom prst="rect">
            <a:avLst/>
          </a:prstGeom>
        </p:spPr>
      </p:pic>
      <p:sp>
        <p:nvSpPr>
          <p:cNvPr id="9" name="TextBox 8"/>
          <p:cNvSpPr txBox="1"/>
          <p:nvPr/>
        </p:nvSpPr>
        <p:spPr>
          <a:xfrm>
            <a:off x="658368" y="2578608"/>
            <a:ext cx="3355848" cy="329184"/>
          </a:xfrm>
          <a:prstGeom prst="rect">
            <a:avLst/>
          </a:prstGeom>
          <a:noFill/>
        </p:spPr>
        <p:txBody>
          <a:bodyPr wrap="square" lIns="73152" rIns="73152" tIns="36576" bIns="36576" anchor="t">
            <a:spAutoFit/>
          </a:bodyPr>
          <a:lstStyle/>
          <a:p>
            <a:pPr algn="l">
              <a:lnSpc>
                <a:spcPct val="118000"/>
              </a:lnSpc>
            </a:pPr>
            <a:r>
              <a:rPr sz="1350" b="1">
                <a:solidFill>
                  <a:srgbClr val="1F2328"/>
                </a:solidFill>
                <a:latin typeface="BIZ UDゴシック"/>
                <a:ea typeface="BIZ UDゴシック"/>
              </a:rPr>
              <a:t>見出しカード</a:t>
            </a:r>
          </a:p>
        </p:txBody>
      </p:sp>
      <p:sp>
        <p:nvSpPr>
          <p:cNvPr id="10" name="TextBox 9"/>
          <p:cNvSpPr txBox="1"/>
          <p:nvPr/>
        </p:nvSpPr>
        <p:spPr>
          <a:xfrm>
            <a:off x="658368" y="2889504"/>
            <a:ext cx="3355848" cy="502920"/>
          </a:xfrm>
          <a:prstGeom prst="rect">
            <a:avLst/>
          </a:prstGeom>
          <a:noFill/>
        </p:spPr>
        <p:txBody>
          <a:bodyPr wrap="square" lIns="73152" rIns="73152" tIns="36576" bIns="36576" anchor="t">
            <a:spAutoFit/>
          </a:bodyPr>
          <a:lstStyle/>
          <a:p>
            <a:pPr algn="l">
              <a:lnSpc>
                <a:spcPct val="110000"/>
              </a:lnSpc>
            </a:pPr>
            <a:r>
              <a:rPr sz="1100" b="0">
                <a:solidFill>
                  <a:srgbClr val="5F646B"/>
                </a:solidFill>
                <a:latin typeface="BIZ UDゴシック"/>
                <a:ea typeface="BIZ UDゴシック"/>
              </a:rPr>
              <a:t>番号と形つき11まい</a:t>
            </a:r>
          </a:p>
          <a:p>
            <a:pPr algn="l">
              <a:lnSpc>
                <a:spcPct val="110000"/>
              </a:lnSpc>
            </a:pPr>
            <a:r>
              <a:rPr sz="1100" b="0">
                <a:solidFill>
                  <a:srgbClr val="5F646B"/>
                </a:solidFill>
                <a:latin typeface="BIZ UDゴシック"/>
                <a:ea typeface="BIZ UDゴシック"/>
              </a:rPr>
              <a:t>その段階の分だけ出す</a:t>
            </a:r>
          </a:p>
        </p:txBody>
      </p:sp>
      <p:sp>
        <p:nvSpPr>
          <p:cNvPr id="11" name="Rectangle 10"/>
          <p:cNvSpPr/>
          <p:nvPr/>
        </p:nvSpPr>
        <p:spPr>
          <a:xfrm>
            <a:off x="4306824" y="1298448"/>
            <a:ext cx="3575304" cy="210312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kit_nagare.png"/>
          <p:cNvPicPr>
            <a:picLocks noChangeAspect="1"/>
          </p:cNvPicPr>
          <p:nvPr/>
        </p:nvPicPr>
        <p:blipFill>
          <a:blip r:embed="rId3"/>
          <a:stretch>
            <a:fillRect/>
          </a:stretch>
        </p:blipFill>
        <p:spPr>
          <a:xfrm>
            <a:off x="5002988" y="1389888"/>
            <a:ext cx="2182974" cy="1143000"/>
          </a:xfrm>
          <a:prstGeom prst="rect">
            <a:avLst/>
          </a:prstGeom>
        </p:spPr>
      </p:pic>
      <p:sp>
        <p:nvSpPr>
          <p:cNvPr id="13" name="TextBox 12"/>
          <p:cNvSpPr txBox="1"/>
          <p:nvPr/>
        </p:nvSpPr>
        <p:spPr>
          <a:xfrm>
            <a:off x="4416552" y="2578608"/>
            <a:ext cx="3355848" cy="329184"/>
          </a:xfrm>
          <a:prstGeom prst="rect">
            <a:avLst/>
          </a:prstGeom>
          <a:noFill/>
        </p:spPr>
        <p:txBody>
          <a:bodyPr wrap="square" lIns="73152" rIns="73152" tIns="36576" bIns="36576" anchor="t">
            <a:spAutoFit/>
          </a:bodyPr>
          <a:lstStyle/>
          <a:p>
            <a:pPr algn="l">
              <a:lnSpc>
                <a:spcPct val="118000"/>
              </a:lnSpc>
            </a:pPr>
            <a:r>
              <a:rPr sz="1350" b="1">
                <a:solidFill>
                  <a:srgbClr val="1F2328"/>
                </a:solidFill>
                <a:latin typeface="BIZ UDゴシック"/>
                <a:ea typeface="BIZ UDゴシック"/>
              </a:rPr>
              <a:t>流れのカードと いまここ</a:t>
            </a:r>
          </a:p>
        </p:txBody>
      </p:sp>
      <p:sp>
        <p:nvSpPr>
          <p:cNvPr id="14" name="TextBox 13"/>
          <p:cNvSpPr txBox="1"/>
          <p:nvPr/>
        </p:nvSpPr>
        <p:spPr>
          <a:xfrm>
            <a:off x="4416552" y="2889504"/>
            <a:ext cx="3355848" cy="502920"/>
          </a:xfrm>
          <a:prstGeom prst="rect">
            <a:avLst/>
          </a:prstGeom>
          <a:noFill/>
        </p:spPr>
        <p:txBody>
          <a:bodyPr wrap="square" lIns="73152" rIns="73152" tIns="36576" bIns="36576" anchor="t">
            <a:spAutoFit/>
          </a:bodyPr>
          <a:lstStyle/>
          <a:p>
            <a:pPr algn="l">
              <a:lnSpc>
                <a:spcPct val="110000"/>
              </a:lnSpc>
            </a:pPr>
            <a:r>
              <a:rPr sz="1100" b="0">
                <a:solidFill>
                  <a:srgbClr val="5F646B"/>
                </a:solidFill>
                <a:latin typeface="BIZ UDゴシック"/>
                <a:ea typeface="BIZ UDゴシック"/>
              </a:rPr>
              <a:t>黒板の上に1から5を並べ</a:t>
            </a:r>
          </a:p>
          <a:p>
            <a:pPr algn="l">
              <a:lnSpc>
                <a:spcPct val="110000"/>
              </a:lnSpc>
            </a:pPr>
            <a:r>
              <a:rPr sz="1100" b="0">
                <a:solidFill>
                  <a:srgbClr val="5F646B"/>
                </a:solidFill>
                <a:latin typeface="BIZ UDゴシック"/>
                <a:ea typeface="BIZ UDゴシック"/>
              </a:rPr>
              <a:t>いまここを動かす</a:t>
            </a:r>
          </a:p>
        </p:txBody>
      </p:sp>
      <p:sp>
        <p:nvSpPr>
          <p:cNvPr id="15" name="Rectangle 14"/>
          <p:cNvSpPr/>
          <p:nvPr/>
        </p:nvSpPr>
        <p:spPr>
          <a:xfrm>
            <a:off x="8065008" y="1298448"/>
            <a:ext cx="3575304" cy="210312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kit_hanashi.png"/>
          <p:cNvPicPr>
            <a:picLocks noChangeAspect="1"/>
          </p:cNvPicPr>
          <p:nvPr/>
        </p:nvPicPr>
        <p:blipFill>
          <a:blip r:embed="rId4"/>
          <a:stretch>
            <a:fillRect/>
          </a:stretch>
        </p:blipFill>
        <p:spPr>
          <a:xfrm>
            <a:off x="8644007" y="1389888"/>
            <a:ext cx="2417305" cy="1143000"/>
          </a:xfrm>
          <a:prstGeom prst="rect">
            <a:avLst/>
          </a:prstGeom>
        </p:spPr>
      </p:pic>
      <p:sp>
        <p:nvSpPr>
          <p:cNvPr id="17" name="TextBox 16"/>
          <p:cNvSpPr txBox="1"/>
          <p:nvPr/>
        </p:nvSpPr>
        <p:spPr>
          <a:xfrm>
            <a:off x="8174736" y="2578608"/>
            <a:ext cx="3355848" cy="329184"/>
          </a:xfrm>
          <a:prstGeom prst="rect">
            <a:avLst/>
          </a:prstGeom>
          <a:noFill/>
        </p:spPr>
        <p:txBody>
          <a:bodyPr wrap="square" lIns="73152" rIns="73152" tIns="36576" bIns="36576" anchor="t">
            <a:spAutoFit/>
          </a:bodyPr>
          <a:lstStyle/>
          <a:p>
            <a:pPr algn="l">
              <a:lnSpc>
                <a:spcPct val="118000"/>
              </a:lnSpc>
            </a:pPr>
            <a:r>
              <a:rPr sz="1350" b="1">
                <a:solidFill>
                  <a:srgbClr val="1F2328"/>
                </a:solidFill>
                <a:latin typeface="BIZ UDゴシック"/>
                <a:ea typeface="BIZ UDゴシック"/>
              </a:rPr>
              <a:t>話し方カード</a:t>
            </a:r>
          </a:p>
        </p:txBody>
      </p:sp>
      <p:sp>
        <p:nvSpPr>
          <p:cNvPr id="18" name="TextBox 17"/>
          <p:cNvSpPr txBox="1"/>
          <p:nvPr/>
        </p:nvSpPr>
        <p:spPr>
          <a:xfrm>
            <a:off x="8174736" y="2889504"/>
            <a:ext cx="3355848" cy="502920"/>
          </a:xfrm>
          <a:prstGeom prst="rect">
            <a:avLst/>
          </a:prstGeom>
          <a:noFill/>
        </p:spPr>
        <p:txBody>
          <a:bodyPr wrap="square" lIns="73152" rIns="73152" tIns="36576" bIns="36576" anchor="t">
            <a:spAutoFit/>
          </a:bodyPr>
          <a:lstStyle/>
          <a:p>
            <a:pPr algn="l">
              <a:lnSpc>
                <a:spcPct val="110000"/>
              </a:lnSpc>
            </a:pPr>
            <a:r>
              <a:rPr sz="1100" b="0">
                <a:solidFill>
                  <a:srgbClr val="5F646B"/>
                </a:solidFill>
                <a:latin typeface="BIZ UDゴシック"/>
                <a:ea typeface="BIZ UDゴシック"/>
              </a:rPr>
              <a:t>全文と書き出しだけの2段</a:t>
            </a:r>
          </a:p>
          <a:p>
            <a:pPr algn="l">
              <a:lnSpc>
                <a:spcPct val="110000"/>
              </a:lnSpc>
            </a:pPr>
            <a:r>
              <a:rPr sz="1100" b="0">
                <a:solidFill>
                  <a:srgbClr val="5F646B"/>
                </a:solidFill>
                <a:latin typeface="BIZ UDゴシック"/>
                <a:ea typeface="BIZ UDゴシック"/>
              </a:rPr>
              <a:t>「予想が正しければ」は えらんで使う</a:t>
            </a:r>
          </a:p>
        </p:txBody>
      </p:sp>
      <p:sp>
        <p:nvSpPr>
          <p:cNvPr id="19" name="Rectangle 18"/>
          <p:cNvSpPr/>
          <p:nvPr/>
        </p:nvSpPr>
        <p:spPr>
          <a:xfrm>
            <a:off x="548640" y="3538727"/>
            <a:ext cx="3575304" cy="210312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kit_takujo.png"/>
          <p:cNvPicPr>
            <a:picLocks noChangeAspect="1"/>
          </p:cNvPicPr>
          <p:nvPr/>
        </p:nvPicPr>
        <p:blipFill>
          <a:blip r:embed="rId5"/>
          <a:stretch>
            <a:fillRect/>
          </a:stretch>
        </p:blipFill>
        <p:spPr>
          <a:xfrm>
            <a:off x="1528870" y="3630168"/>
            <a:ext cx="1614843" cy="1143000"/>
          </a:xfrm>
          <a:prstGeom prst="rect">
            <a:avLst/>
          </a:prstGeom>
        </p:spPr>
      </p:pic>
      <p:sp>
        <p:nvSpPr>
          <p:cNvPr id="21" name="TextBox 20"/>
          <p:cNvSpPr txBox="1"/>
          <p:nvPr/>
        </p:nvSpPr>
        <p:spPr>
          <a:xfrm>
            <a:off x="658368" y="4818888"/>
            <a:ext cx="3355848" cy="329184"/>
          </a:xfrm>
          <a:prstGeom prst="rect">
            <a:avLst/>
          </a:prstGeom>
          <a:noFill/>
        </p:spPr>
        <p:txBody>
          <a:bodyPr wrap="square" lIns="73152" rIns="73152" tIns="36576" bIns="36576" anchor="t">
            <a:spAutoFit/>
          </a:bodyPr>
          <a:lstStyle/>
          <a:p>
            <a:pPr algn="l">
              <a:lnSpc>
                <a:spcPct val="118000"/>
              </a:lnSpc>
            </a:pPr>
            <a:r>
              <a:rPr sz="1350" b="1">
                <a:solidFill>
                  <a:srgbClr val="1F2328"/>
                </a:solidFill>
                <a:latin typeface="BIZ UDゴシック"/>
                <a:ea typeface="BIZ UDゴシック"/>
              </a:rPr>
              <a:t>はんの卓上カード</a:t>
            </a:r>
          </a:p>
        </p:txBody>
      </p:sp>
      <p:sp>
        <p:nvSpPr>
          <p:cNvPr id="22" name="TextBox 21"/>
          <p:cNvSpPr txBox="1"/>
          <p:nvPr/>
        </p:nvSpPr>
        <p:spPr>
          <a:xfrm>
            <a:off x="658368" y="5129783"/>
            <a:ext cx="3355848" cy="502920"/>
          </a:xfrm>
          <a:prstGeom prst="rect">
            <a:avLst/>
          </a:prstGeom>
          <a:noFill/>
        </p:spPr>
        <p:txBody>
          <a:bodyPr wrap="square" lIns="73152" rIns="73152" tIns="36576" bIns="36576" anchor="t">
            <a:spAutoFit/>
          </a:bodyPr>
          <a:lstStyle/>
          <a:p>
            <a:pPr algn="l">
              <a:lnSpc>
                <a:spcPct val="110000"/>
              </a:lnSpc>
            </a:pPr>
            <a:r>
              <a:rPr sz="1100" b="0">
                <a:solidFill>
                  <a:srgbClr val="5F646B"/>
                </a:solidFill>
                <a:latin typeface="BIZ UDゴシック"/>
                <a:ea typeface="BIZ UDゴシック"/>
              </a:rPr>
              <a:t>表は話し合いの順番</a:t>
            </a:r>
          </a:p>
          <a:p>
            <a:pPr algn="l">
              <a:lnSpc>
                <a:spcPct val="110000"/>
              </a:lnSpc>
            </a:pPr>
            <a:r>
              <a:rPr sz="1100" b="0">
                <a:solidFill>
                  <a:srgbClr val="5F646B"/>
                </a:solidFill>
                <a:latin typeface="BIZ UDゴシック"/>
                <a:ea typeface="BIZ UDゴシック"/>
              </a:rPr>
              <a:t>裏は司会のことば</a:t>
            </a:r>
          </a:p>
        </p:txBody>
      </p:sp>
      <p:sp>
        <p:nvSpPr>
          <p:cNvPr id="23" name="Rectangle 22"/>
          <p:cNvSpPr/>
          <p:nvPr/>
        </p:nvSpPr>
        <p:spPr>
          <a:xfrm>
            <a:off x="4306824" y="3538727"/>
            <a:ext cx="3575304" cy="210312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kit_hannou.png"/>
          <p:cNvPicPr>
            <a:picLocks noChangeAspect="1"/>
          </p:cNvPicPr>
          <p:nvPr/>
        </p:nvPicPr>
        <p:blipFill>
          <a:blip r:embed="rId6"/>
          <a:stretch>
            <a:fillRect/>
          </a:stretch>
        </p:blipFill>
        <p:spPr>
          <a:xfrm>
            <a:off x="5284170" y="3630168"/>
            <a:ext cx="1620610" cy="1142999"/>
          </a:xfrm>
          <a:prstGeom prst="rect">
            <a:avLst/>
          </a:prstGeom>
        </p:spPr>
      </p:pic>
      <p:sp>
        <p:nvSpPr>
          <p:cNvPr id="25" name="TextBox 24"/>
          <p:cNvSpPr txBox="1"/>
          <p:nvPr/>
        </p:nvSpPr>
        <p:spPr>
          <a:xfrm>
            <a:off x="4416552" y="4818888"/>
            <a:ext cx="3355848" cy="329184"/>
          </a:xfrm>
          <a:prstGeom prst="rect">
            <a:avLst/>
          </a:prstGeom>
          <a:noFill/>
        </p:spPr>
        <p:txBody>
          <a:bodyPr wrap="square" lIns="73152" rIns="73152" tIns="36576" bIns="36576" anchor="t">
            <a:spAutoFit/>
          </a:bodyPr>
          <a:lstStyle/>
          <a:p>
            <a:pPr algn="l">
              <a:lnSpc>
                <a:spcPct val="118000"/>
              </a:lnSpc>
            </a:pPr>
            <a:r>
              <a:rPr sz="1350" b="1">
                <a:solidFill>
                  <a:srgbClr val="1F2328"/>
                </a:solidFill>
                <a:latin typeface="BIZ UDゴシック"/>
                <a:ea typeface="BIZ UDゴシック"/>
              </a:rPr>
              <a:t>反応カード</a:t>
            </a:r>
          </a:p>
        </p:txBody>
      </p:sp>
      <p:sp>
        <p:nvSpPr>
          <p:cNvPr id="26" name="TextBox 25"/>
          <p:cNvSpPr txBox="1"/>
          <p:nvPr/>
        </p:nvSpPr>
        <p:spPr>
          <a:xfrm>
            <a:off x="4416552" y="5129783"/>
            <a:ext cx="3355848" cy="502920"/>
          </a:xfrm>
          <a:prstGeom prst="rect">
            <a:avLst/>
          </a:prstGeom>
          <a:noFill/>
        </p:spPr>
        <p:txBody>
          <a:bodyPr wrap="square" lIns="73152" rIns="73152" tIns="36576" bIns="36576" anchor="t">
            <a:spAutoFit/>
          </a:bodyPr>
          <a:lstStyle/>
          <a:p>
            <a:pPr algn="l">
              <a:lnSpc>
                <a:spcPct val="110000"/>
              </a:lnSpc>
            </a:pPr>
            <a:r>
              <a:rPr sz="1100" b="0">
                <a:solidFill>
                  <a:srgbClr val="5F646B"/>
                </a:solidFill>
                <a:latin typeface="BIZ UDゴシック"/>
                <a:ea typeface="BIZ UDゴシック"/>
              </a:rPr>
              <a:t>表は にている　裏は ちがう</a:t>
            </a:r>
          </a:p>
          <a:p>
            <a:pPr algn="l">
              <a:lnSpc>
                <a:spcPct val="110000"/>
              </a:lnSpc>
            </a:pPr>
            <a:r>
              <a:rPr sz="1100" b="0">
                <a:solidFill>
                  <a:srgbClr val="5F646B"/>
                </a:solidFill>
                <a:latin typeface="BIZ UDゴシック"/>
                <a:ea typeface="BIZ UDゴシック"/>
              </a:rPr>
              <a:t>聞く子が全員で上げる</a:t>
            </a:r>
          </a:p>
        </p:txBody>
      </p:sp>
      <p:sp>
        <p:nvSpPr>
          <p:cNvPr id="27" name="Rectangle 26"/>
          <p:cNvSpPr/>
          <p:nvPr/>
        </p:nvSpPr>
        <p:spPr>
          <a:xfrm>
            <a:off x="8065008" y="3538727"/>
            <a:ext cx="3575304" cy="210312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kit_slide.png"/>
          <p:cNvPicPr>
            <a:picLocks noChangeAspect="1"/>
          </p:cNvPicPr>
          <p:nvPr/>
        </p:nvPicPr>
        <p:blipFill>
          <a:blip r:embed="rId7"/>
          <a:stretch>
            <a:fillRect/>
          </a:stretch>
        </p:blipFill>
        <p:spPr>
          <a:xfrm>
            <a:off x="8836660" y="3630168"/>
            <a:ext cx="2032000" cy="1143000"/>
          </a:xfrm>
          <a:prstGeom prst="rect">
            <a:avLst/>
          </a:prstGeom>
        </p:spPr>
      </p:pic>
      <p:sp>
        <p:nvSpPr>
          <p:cNvPr id="29" name="TextBox 28"/>
          <p:cNvSpPr txBox="1"/>
          <p:nvPr/>
        </p:nvSpPr>
        <p:spPr>
          <a:xfrm>
            <a:off x="8174736" y="4818888"/>
            <a:ext cx="3355848" cy="329184"/>
          </a:xfrm>
          <a:prstGeom prst="rect">
            <a:avLst/>
          </a:prstGeom>
          <a:noFill/>
        </p:spPr>
        <p:txBody>
          <a:bodyPr wrap="square" lIns="73152" rIns="73152" tIns="36576" bIns="36576" anchor="t">
            <a:spAutoFit/>
          </a:bodyPr>
          <a:lstStyle/>
          <a:p>
            <a:pPr algn="l">
              <a:lnSpc>
                <a:spcPct val="118000"/>
              </a:lnSpc>
            </a:pPr>
            <a:r>
              <a:rPr sz="1350" b="1">
                <a:solidFill>
                  <a:srgbClr val="1F2328"/>
                </a:solidFill>
                <a:latin typeface="BIZ UDゴシック"/>
                <a:ea typeface="BIZ UDゴシック"/>
              </a:rPr>
              <a:t>発表スライドのひな形</a:t>
            </a:r>
          </a:p>
        </p:txBody>
      </p:sp>
      <p:sp>
        <p:nvSpPr>
          <p:cNvPr id="30" name="TextBox 29"/>
          <p:cNvSpPr txBox="1"/>
          <p:nvPr/>
        </p:nvSpPr>
        <p:spPr>
          <a:xfrm>
            <a:off x="8174736" y="5129783"/>
            <a:ext cx="3355848" cy="502920"/>
          </a:xfrm>
          <a:prstGeom prst="rect">
            <a:avLst/>
          </a:prstGeom>
          <a:noFill/>
        </p:spPr>
        <p:txBody>
          <a:bodyPr wrap="square" lIns="73152" rIns="73152" tIns="36576" bIns="36576" anchor="t">
            <a:spAutoFit/>
          </a:bodyPr>
          <a:lstStyle/>
          <a:p>
            <a:pPr algn="l">
              <a:lnSpc>
                <a:spcPct val="110000"/>
              </a:lnSpc>
            </a:pPr>
            <a:r>
              <a:rPr sz="1100" b="0">
                <a:solidFill>
                  <a:srgbClr val="5F646B"/>
                </a:solidFill>
                <a:latin typeface="BIZ UDゴシック"/>
                <a:ea typeface="BIZ UDゴシック"/>
              </a:rPr>
              <a:t>上に流れと いまここ</a:t>
            </a:r>
          </a:p>
          <a:p>
            <a:pPr algn="l">
              <a:lnSpc>
                <a:spcPct val="110000"/>
              </a:lnSpc>
            </a:pPr>
            <a:r>
              <a:rPr sz="1100" b="0">
                <a:solidFill>
                  <a:srgbClr val="5F646B"/>
                </a:solidFill>
                <a:latin typeface="BIZ UDゴシック"/>
                <a:ea typeface="BIZ UDゴシック"/>
              </a:rPr>
              <a:t>ロイロノートにはPDFで</a:t>
            </a:r>
          </a:p>
        </p:txBody>
      </p:sp>
      <p:sp>
        <p:nvSpPr>
          <p:cNvPr id="31" name="Rectangle 30"/>
          <p:cNvSpPr/>
          <p:nvPr/>
        </p:nvSpPr>
        <p:spPr>
          <a:xfrm>
            <a:off x="548640" y="5788152"/>
            <a:ext cx="11091672" cy="54864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5788152"/>
            <a:ext cx="10698480" cy="548640"/>
          </a:xfrm>
          <a:prstGeom prst="rect">
            <a:avLst/>
          </a:prstGeom>
          <a:noFill/>
        </p:spPr>
        <p:txBody>
          <a:bodyPr wrap="square" lIns="73152" rIns="73152" tIns="36576" bIns="36576" anchor="ctr">
            <a:spAutoFit/>
          </a:bodyPr>
          <a:lstStyle/>
          <a:p>
            <a:pPr algn="l">
              <a:lnSpc>
                <a:spcPct val="118000"/>
              </a:lnSpc>
            </a:pPr>
            <a:r>
              <a:rPr sz="1250" b="0">
                <a:solidFill>
                  <a:srgbClr val="1F2328"/>
                </a:solidFill>
                <a:latin typeface="BIZ UDゴシック"/>
                <a:ea typeface="BIZ UDゴシック"/>
              </a:rPr>
              <a:t>書画カメラ用の小さい見出しカードと 書きこみ用の吹き出しカードもある　単元サイトの資料から取り出せる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
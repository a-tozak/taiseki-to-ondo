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sldIdLst>
    <p:sldId id="264" r:id="rId2"/>
    <p:sldId id="265" r:id="rId3"/>
    <p:sldId id="266" r:id="rId4"/>
  </p:sldIdLst>
  <p:sldSz cx="12192000" cy="6858000"/>
  <p:notesSz cx="10018713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CCFFCC"/>
    <a:srgbClr val="33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9"/>
  </p:normalViewPr>
  <p:slideViewPr>
    <p:cSldViewPr snapToGrid="0">
      <p:cViewPr varScale="1">
        <p:scale>
          <a:sx n="100" d="100"/>
          <a:sy n="100" d="100"/>
        </p:scale>
        <p:origin x="8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0903" cy="3448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75500" y="0"/>
            <a:ext cx="4340903" cy="3448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6554C-BB7A-43E3-8698-2C4F12398836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41638" y="860425"/>
            <a:ext cx="4135437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02103" y="3314745"/>
            <a:ext cx="8014509" cy="27122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43264"/>
            <a:ext cx="4340903" cy="3448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75500" y="6543264"/>
            <a:ext cx="4340903" cy="3448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E4F65-7BBA-4C13-A066-C730B56D1A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79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E4F65-7BBA-4C13-A066-C730B56D1A0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969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1E4F-A0F4-0719-1CD8-57E3109F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3CC5076-167A-8981-1468-D8E0437BD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EF269AE-0E81-35F2-B8C5-F637F1735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FF7568-7E48-6562-0200-D8315B7D6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AE4F65-7BBA-4C13-A066-C730B56D1A0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51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C58C-7A2D-5724-E647-DF60F117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869C71E-19DE-CD06-94D5-8865F5B38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A65B5B6-D5DA-92A5-2566-25902E648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6FF0D1-AE12-5B29-A28A-54B32F0DD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AE4F65-7BBA-4C13-A066-C730B56D1A00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7637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54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4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95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26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4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54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67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425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927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24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636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C18AC-1306-425D-9E5A-599E0CBBD55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74CB5-5A6B-4262-838B-A5D592ACE2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918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9B2C8-42AA-4D26-5297-81005ADA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B4A3F438-2F87-EAFB-8FB3-70E4A3232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18066"/>
              </p:ext>
            </p:extLst>
          </p:nvPr>
        </p:nvGraphicFramePr>
        <p:xfrm>
          <a:off x="2082965" y="643005"/>
          <a:ext cx="9943935" cy="59446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02492">
                  <a:extLst>
                    <a:ext uri="{9D8B030D-6E8A-4147-A177-3AD203B41FA5}">
                      <a16:colId xmlns:a16="http://schemas.microsoft.com/office/drawing/2014/main" val="1025654473"/>
                    </a:ext>
                  </a:extLst>
                </a:gridCol>
                <a:gridCol w="3853543">
                  <a:extLst>
                    <a:ext uri="{9D8B030D-6E8A-4147-A177-3AD203B41FA5}">
                      <a16:colId xmlns:a16="http://schemas.microsoft.com/office/drawing/2014/main" val="2360809772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3063140589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段階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学習活動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目指す児童の姿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20348"/>
                  </a:ext>
                </a:extLst>
              </a:tr>
              <a:tr h="99175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見いだす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algn="ctr"/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つかむ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・せっけん水の膜を張った試験管を手でにぎり、気づきや疑問を出し合って問題をつくる。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手のあたたかさと膜のふくらみを関係付け、「空気は、あたためると体積が大きくなるのだろうか」という問題を見いだす。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529740"/>
                  </a:ext>
                </a:extLst>
              </a:tr>
              <a:tr h="135894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見通す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・前単元の学習や生活経験を基に予想し、理由を書く。</a:t>
                      </a:r>
                    </a:p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・湯と氷水で調べる方法を考える。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「空気には体積がある」という既習と関係付け、「あたためられて空気の体積が大きくなったのではないか」という根拠のある予想を発想し、表現している。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08851"/>
                  </a:ext>
                </a:extLst>
              </a:tr>
              <a:tr h="10945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調べる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・湯と氷水で空気をあたためたり冷やしたりして、体積の変化を調べる。（実験１）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空気の出入り口がないことを確かめたうえで、ガラス管の中の水の位置に着目し、結果を図と言葉で記録している。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825038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まとめる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・実験結果を基に、空気の体積と温度の関係について妥当な考えをつくりだす。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根拠を基に「空気は、あたためると体積が大きくなり、冷やすと小さくなる」という妥当な結論を導き出し、表現している。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11739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生かす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・身の回りの物を、体積が変わりそうな物と変わらなそうな物に分け、調べる順番を決める。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空気の結論を基に身の回りの物を分類し、空気や水のような形のない物と、金属や木のような形のある物とを比べて、次に調べる物を決めている。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26512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6E8304-56EF-1E41-5BCD-7A2544C75EBE}"/>
              </a:ext>
            </a:extLst>
          </p:cNvPr>
          <p:cNvSpPr txBox="1"/>
          <p:nvPr/>
        </p:nvSpPr>
        <p:spPr>
          <a:xfrm>
            <a:off x="2082965" y="116420"/>
            <a:ext cx="9376064" cy="461665"/>
          </a:xfrm>
          <a:prstGeom prst="rect">
            <a:avLst/>
          </a:prstGeom>
          <a:solidFill>
            <a:srgbClr val="CCFFC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【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着眼１</a:t>
            </a:r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】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追究の連続性を生む単元構成</a:t>
            </a:r>
            <a:endParaRPr lang="ja-JP" altLang="en-US" sz="1050" dirty="0"/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5ECCBB3D-A137-011B-7752-6B59DBB17413}"/>
              </a:ext>
            </a:extLst>
          </p:cNvPr>
          <p:cNvSpPr/>
          <p:nvPr/>
        </p:nvSpPr>
        <p:spPr>
          <a:xfrm>
            <a:off x="211364" y="941415"/>
            <a:ext cx="1830000" cy="1563347"/>
          </a:xfrm>
          <a:prstGeom prst="wedgeRectCallout">
            <a:avLst>
              <a:gd name="adj1" fmla="val 56000"/>
              <a:gd name="adj2" fmla="val -15321"/>
            </a:avLst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kumimoji="1" lang="en-US" altLang="ja-JP" sz="20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【</a:t>
            </a:r>
            <a:r>
              <a:rPr kumimoji="1" lang="ja-JP" altLang="en-US" sz="20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着眼２</a:t>
            </a:r>
            <a:r>
              <a:rPr kumimoji="1" lang="en-US" altLang="ja-JP" sz="20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】</a:t>
            </a:r>
          </a:p>
          <a:p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膜を張った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試験管を一人ずつ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手でにぎる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体験活動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D5B1022D-021C-38B9-BE55-C6F28B7279DD}"/>
              </a:ext>
            </a:extLst>
          </p:cNvPr>
          <p:cNvSpPr/>
          <p:nvPr/>
        </p:nvSpPr>
        <p:spPr>
          <a:xfrm>
            <a:off x="165100" y="2721429"/>
            <a:ext cx="1830000" cy="4071453"/>
          </a:xfrm>
          <a:prstGeom prst="wedgeRectCallout">
            <a:avLst>
              <a:gd name="adj1" fmla="val 61423"/>
              <a:gd name="adj2" fmla="val 27958"/>
            </a:avLst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kumimoji="1" lang="en-US" altLang="ja-JP" sz="20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【</a:t>
            </a:r>
            <a:r>
              <a:rPr kumimoji="1" lang="ja-JP" altLang="en-US" sz="20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着眼２</a:t>
            </a:r>
            <a:r>
              <a:rPr kumimoji="1" lang="en-US" altLang="ja-JP" sz="20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】</a:t>
            </a:r>
          </a:p>
          <a:p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鉛筆・黒板・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机やいす・水など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身の回りの物を</a:t>
            </a:r>
          </a:p>
          <a:p>
            <a:pPr>
              <a:spcBef>
                <a:spcPts val="600"/>
              </a:spcBef>
            </a:pP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「変わりそう」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「変わらなそう」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に分けて整理する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2F5EC0-7649-0B47-55B1-D528A83FDC02}"/>
              </a:ext>
            </a:extLst>
          </p:cNvPr>
          <p:cNvSpPr txBox="1"/>
          <p:nvPr/>
        </p:nvSpPr>
        <p:spPr>
          <a:xfrm>
            <a:off x="165100" y="116420"/>
            <a:ext cx="1658257" cy="8961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第１次</a:t>
            </a:r>
          </a:p>
          <a:p>
            <a:pPr algn="ctr"/>
            <a:r>
              <a:rPr kumimoji="1" lang="ja-JP" altLang="en-US" sz="1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（４時間）</a:t>
            </a:r>
          </a:p>
        </p:txBody>
      </p:sp>
    </p:spTree>
    <p:extLst>
      <p:ext uri="{BB962C8B-B14F-4D97-AF65-F5344CB8AC3E}">
        <p14:creationId xmlns:p14="http://schemas.microsoft.com/office/powerpoint/2010/main" val="4168006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B45CC-2410-4644-4C02-5626A3C9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F3E086D6-D8D5-B43C-387B-1BDCF530A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277010"/>
              </p:ext>
            </p:extLst>
          </p:nvPr>
        </p:nvGraphicFramePr>
        <p:xfrm>
          <a:off x="2082965" y="643005"/>
          <a:ext cx="9943935" cy="59446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02492">
                  <a:extLst>
                    <a:ext uri="{9D8B030D-6E8A-4147-A177-3AD203B41FA5}">
                      <a16:colId xmlns:a16="http://schemas.microsoft.com/office/drawing/2014/main" val="1025654473"/>
                    </a:ext>
                  </a:extLst>
                </a:gridCol>
                <a:gridCol w="3853543">
                  <a:extLst>
                    <a:ext uri="{9D8B030D-6E8A-4147-A177-3AD203B41FA5}">
                      <a16:colId xmlns:a16="http://schemas.microsoft.com/office/drawing/2014/main" val="2360809772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3063140589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段階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学習活動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目指す児童の姿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20348"/>
                  </a:ext>
                </a:extLst>
              </a:tr>
              <a:tr h="99175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見いだす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algn="ctr"/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つかむ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・分類で意見が分かれた水を取り上げ、空気と同じ器具に水を入れた物を見て問題をつくる。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空気の結論と分類表とを関係付け、「水も、あたためたり冷やしたりすると、体積は変わるのだろうか」という問題を見いだす。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529740"/>
                  </a:ext>
                </a:extLst>
              </a:tr>
              <a:tr h="135894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見通す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・空気の結果や前単元の学習を根拠に予想し、理由を書く。</a:t>
                      </a:r>
                    </a:p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・空気と同じ手順で計画を立てる。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空気の結果や前単元の学習と関係付け、「空気と同じで大きくなる」「水は変わらない」など、根拠のある予想を発想し、表現している。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08851"/>
                  </a:ext>
                </a:extLst>
              </a:tr>
              <a:tr h="10945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調べる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・湯と氷水で水をあたためたり冷やしたりして、体積の変化を調べる。（実験２）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水面のわずかな動きを見逃さないように注意深く観察し、空気の記録と並べて比べられるように記録している。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825038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まとめる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・結果を空気のときと比べながら考察し、水の体積と温度の関係をまとめる。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根拠を基に「水も温度で体積が変わるが、増え方は空気より小さい」という妥当な結論を導き出し、表現している。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11739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生かす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・分類表に水の結果を書き込み、形のある物について話し合う。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空気と水の結論を関係付け、「形のある金ぞくも、あたためると体積が変わるのか」という新たな問いをもち、次の追究に向かおうとしている。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26512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FBFE8E3-254B-CCF5-0B10-6AB3636831A1}"/>
              </a:ext>
            </a:extLst>
          </p:cNvPr>
          <p:cNvSpPr txBox="1"/>
          <p:nvPr/>
        </p:nvSpPr>
        <p:spPr>
          <a:xfrm>
            <a:off x="2082965" y="116420"/>
            <a:ext cx="9376064" cy="461665"/>
          </a:xfrm>
          <a:prstGeom prst="rect">
            <a:avLst/>
          </a:prstGeom>
          <a:solidFill>
            <a:srgbClr val="CCFFC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【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着眼１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】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　追究の連続性を生む単元構成</a:t>
            </a:r>
            <a:endParaRPr kumimoji="0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39AF22B3-93A8-25BD-2AB9-F17CC90B0646}"/>
              </a:ext>
            </a:extLst>
          </p:cNvPr>
          <p:cNvSpPr/>
          <p:nvPr/>
        </p:nvSpPr>
        <p:spPr>
          <a:xfrm>
            <a:off x="211364" y="941415"/>
            <a:ext cx="1830000" cy="1563347"/>
          </a:xfrm>
          <a:prstGeom prst="wedgeRectCallout">
            <a:avLst>
              <a:gd name="adj1" fmla="val 56000"/>
              <a:gd name="adj2" fmla="val -15321"/>
            </a:avLst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着眼２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</a:p>
          <a:p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第１次と同じ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器具の中身を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水に変えた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実物提示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A2877BE-E524-AA23-802B-BE6E9B7E8ED6}"/>
              </a:ext>
            </a:extLst>
          </p:cNvPr>
          <p:cNvSpPr/>
          <p:nvPr/>
        </p:nvSpPr>
        <p:spPr>
          <a:xfrm>
            <a:off x="165100" y="2721429"/>
            <a:ext cx="1830000" cy="4071453"/>
          </a:xfrm>
          <a:prstGeom prst="wedgeRectCallout">
            <a:avLst>
              <a:gd name="adj1" fmla="val 61423"/>
              <a:gd name="adj2" fmla="val 27958"/>
            </a:avLst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着眼２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</a:p>
          <a:p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第１次の分類表に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水の結果を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書き込む</a:t>
            </a:r>
          </a:p>
          <a:p>
            <a:pPr>
              <a:spcBef>
                <a:spcPts val="600"/>
              </a:spcBef>
            </a:pP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形のある物へ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目を向けさせる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47A7FA-ABD3-0CAF-1F2B-D54A4FBEEB75}"/>
              </a:ext>
            </a:extLst>
          </p:cNvPr>
          <p:cNvSpPr txBox="1"/>
          <p:nvPr/>
        </p:nvSpPr>
        <p:spPr>
          <a:xfrm>
            <a:off x="165100" y="116420"/>
            <a:ext cx="1750786" cy="8961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rPr>
              <a:t>第２次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rPr>
              <a:t>（３時間）</a:t>
            </a:r>
          </a:p>
        </p:txBody>
      </p:sp>
    </p:spTree>
    <p:extLst>
      <p:ext uri="{BB962C8B-B14F-4D97-AF65-F5344CB8AC3E}">
        <p14:creationId xmlns:p14="http://schemas.microsoft.com/office/powerpoint/2010/main" val="226024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BD187-4D30-589D-06C1-4E249B4E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AEC086F2-AE6F-2486-39F9-70905080C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566836"/>
              </p:ext>
            </p:extLst>
          </p:nvPr>
        </p:nvGraphicFramePr>
        <p:xfrm>
          <a:off x="2082965" y="643005"/>
          <a:ext cx="9943935" cy="567032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02492">
                  <a:extLst>
                    <a:ext uri="{9D8B030D-6E8A-4147-A177-3AD203B41FA5}">
                      <a16:colId xmlns:a16="http://schemas.microsoft.com/office/drawing/2014/main" val="1025654473"/>
                    </a:ext>
                  </a:extLst>
                </a:gridCol>
                <a:gridCol w="3853543">
                  <a:extLst>
                    <a:ext uri="{9D8B030D-6E8A-4147-A177-3AD203B41FA5}">
                      <a16:colId xmlns:a16="http://schemas.microsoft.com/office/drawing/2014/main" val="2360809772"/>
                    </a:ext>
                  </a:extLst>
                </a:gridCol>
                <a:gridCol w="4787900">
                  <a:extLst>
                    <a:ext uri="{9D8B030D-6E8A-4147-A177-3AD203B41FA5}">
                      <a16:colId xmlns:a16="http://schemas.microsoft.com/office/drawing/2014/main" val="3063140589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段階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学習活動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目指す児童の姿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20348"/>
                  </a:ext>
                </a:extLst>
              </a:tr>
              <a:tr h="99175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見いだす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algn="ctr"/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つかむ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・分類表をふり返り、配られた玉にさわって調べる物が金属であることに気づき、問題をつくる。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空気と水の結論や分類表と関係付け、「金ぞくは、あたためたり冷やしたりすると、体積は変わるのだろうか」という問題を見いだす。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529740"/>
                  </a:ext>
                </a:extLst>
              </a:tr>
              <a:tr h="135894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見通す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・空気や水の学習や生活経験を基に予想し、理由を伝え合う。</a:t>
                      </a:r>
                    </a:p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・空気や水の実験の方法を基に、湯であたためて調べる計画を立てる。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空気や水の結論や生活経験と関係付けて根拠のある予想を発想し、「大きくなるなら、あたためた玉は輪を通らなくなるはず」と結果を見通して、空気や水と同じ方法で調べる計画を立てている。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08851"/>
                  </a:ext>
                </a:extLst>
              </a:tr>
              <a:tr h="10945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調べる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・湯であたためて、玉が輪を通るかを調べる。（本時）</a:t>
                      </a:r>
                    </a:p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・あたため方を見直し、炎で熱したり冷やしたりする。（実験３）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湯でも玉が通った結果とレールのつなぎ目のすきまとのずれから、あたため方を見直し、加熱器具を安全に扱いながら結果を記録している。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825038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まとめる</a:t>
                      </a:r>
                      <a:endParaRPr kumimoji="1" lang="en-US" altLang="ja-JP" sz="1800" dirty="0"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・結果を空気や水と比べ、増え方のちがいも合わせてまとめる。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根拠を基に「金ぞくも、あたためると体積が大きくなり、冷やすと小さくなる」という妥当な結論を導き出し、表現している。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11739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生かす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・今回の単元で学んだことが、日常生活の中でどのように生かされているのかを考える。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>
                          <a:solidFill>
                            <a:schemeClr val="tx1"/>
                          </a:solidFill>
                          <a:latin typeface="UD デジタル 教科書体 NP-B" panose="02020700000000000000" pitchFamily="18" charset="-128"/>
                          <a:ea typeface="UD デジタル 教科書体 NP-B" panose="02020700000000000000" pitchFamily="18" charset="-128"/>
                        </a:rPr>
                        <a:t>焼きばめの事例について知り、科学によって私たちの生活が支えられていることに気づき、表現している。</a:t>
                      </a:r>
                      <a:endParaRPr kumimoji="1" lang="ja-JP" altLang="en-US" sz="1800" dirty="0">
                        <a:solidFill>
                          <a:schemeClr val="tx1"/>
                        </a:solidFill>
                        <a:latin typeface="UD デジタル 教科書体 NP-B" panose="02020700000000000000" pitchFamily="18" charset="-128"/>
                        <a:ea typeface="UD デジタル 教科書体 NP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26512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919D49-90A5-C4BB-12FB-423311047A30}"/>
              </a:ext>
            </a:extLst>
          </p:cNvPr>
          <p:cNvSpPr txBox="1"/>
          <p:nvPr/>
        </p:nvSpPr>
        <p:spPr>
          <a:xfrm>
            <a:off x="2082965" y="116420"/>
            <a:ext cx="9376064" cy="461665"/>
          </a:xfrm>
          <a:prstGeom prst="rect">
            <a:avLst/>
          </a:prstGeom>
          <a:solidFill>
            <a:srgbClr val="CCFFCC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【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着眼１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】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+mn-cs"/>
              </a:rPr>
              <a:t>　追究の連続性を生む単元構成</a:t>
            </a:r>
            <a:endParaRPr kumimoji="0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5466B3A7-4E70-4DA7-D390-A73F7E700B24}"/>
              </a:ext>
            </a:extLst>
          </p:cNvPr>
          <p:cNvSpPr/>
          <p:nvPr/>
        </p:nvSpPr>
        <p:spPr>
          <a:xfrm>
            <a:off x="211364" y="1104900"/>
            <a:ext cx="1830000" cy="1399862"/>
          </a:xfrm>
          <a:prstGeom prst="wedgeRectCallout">
            <a:avLst>
              <a:gd name="adj1" fmla="val 56000"/>
              <a:gd name="adj2" fmla="val 114"/>
            </a:avLst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着眼２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</a:p>
          <a:p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分類表の再提示と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金属の玉だけを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配ってさわらせる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3D7E83FE-D17D-E556-0B5C-9AB614651767}"/>
              </a:ext>
            </a:extLst>
          </p:cNvPr>
          <p:cNvSpPr/>
          <p:nvPr/>
        </p:nvSpPr>
        <p:spPr>
          <a:xfrm>
            <a:off x="165100" y="2721429"/>
            <a:ext cx="1830000" cy="4071453"/>
          </a:xfrm>
          <a:prstGeom prst="wedgeRectCallout">
            <a:avLst>
              <a:gd name="adj1" fmla="val 61423"/>
              <a:gd name="adj2" fmla="val -53880"/>
            </a:avLst>
          </a:prstGeom>
          <a:solidFill>
            <a:srgbClr val="00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【</a:t>
            </a:r>
            <a: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着眼２</a:t>
            </a: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】</a:t>
            </a:r>
          </a:p>
          <a:p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予想と理由を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伝え合い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考えのずれに</a:t>
            </a:r>
            <a:b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気づかせる</a:t>
            </a:r>
            <a:endParaRPr kumimoji="1" lang="en-US" altLang="ja-JP" sz="1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湯でも玉が通った</a:t>
            </a:r>
            <a:b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あとに</a:t>
            </a:r>
            <a:b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レールのすきまの</a:t>
            </a:r>
            <a:b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写真を提示し</a:t>
            </a:r>
            <a:b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結果とのずれに</a:t>
            </a:r>
            <a:b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</a:br>
            <a:r>
              <a:rPr kumimoji="1" lang="ja-JP" altLang="en-US" sz="1600" b="1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気づかせる</a:t>
            </a:r>
            <a:endParaRPr kumimoji="1" lang="ja-JP" altLang="en-US" sz="1600" b="1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41EEB2-7EEE-33A1-ED51-E64F76DC63A3}"/>
              </a:ext>
            </a:extLst>
          </p:cNvPr>
          <p:cNvSpPr txBox="1"/>
          <p:nvPr/>
        </p:nvSpPr>
        <p:spPr>
          <a:xfrm>
            <a:off x="165100" y="116420"/>
            <a:ext cx="1750786" cy="89611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rPr>
              <a:t>第３次</a:t>
            </a:r>
            <a:endParaRPr kumimoji="1" lang="ja-JP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rPr>
              <a:t>（３時間）</a:t>
            </a:r>
            <a:endParaRPr kumimoji="1" lang="ja-JP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43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1619</TotalTime>
  <Words>1100</Words>
  <Application>Microsoft Macintosh PowerPoint</Application>
  <PresentationFormat>ワイド画面</PresentationFormat>
  <Paragraphs>90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1" baseType="lpstr">
      <vt:lpstr>HGP創英角ｺﾞｼｯｸUB</vt:lpstr>
      <vt:lpstr>ＭＳ ゴシック</vt:lpstr>
      <vt:lpstr>UD デジタル 教科書体 NP-B</vt:lpstr>
      <vt:lpstr>游ゴシック</vt:lpstr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下村　隆也</dc:creator>
  <cp:lastModifiedBy>Akihiro Tozaki</cp:lastModifiedBy>
  <cp:revision>24</cp:revision>
  <cp:lastPrinted>2026-08-19T04:23:55Z</cp:lastPrinted>
  <dcterms:created xsi:type="dcterms:W3CDTF">2026-07-30T23:48:28Z</dcterms:created>
  <dcterms:modified xsi:type="dcterms:W3CDTF">2026-10-08T07:40:35Z</dcterms:modified>
</cp:coreProperties>
</file>
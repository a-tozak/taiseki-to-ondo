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9" r:id="rId1"/>
  </p:sldMasterIdLst>
  <p:notesMasterIdLst>
    <p:notesMasterId r:id="rId5"/>
  </p:notesMasterIdLst>
  <p:sldIdLst>
    <p:sldId id="264" r:id="rId2"/>
    <p:sldId id="265" r:id="rId3"/>
    <p:sldId id="266" r:id="rId4"/>
  </p:sldIdLst>
  <p:sldSz cx="12192000" cy="6858000"/>
  <p:notesSz cx="10018713" cy="688816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00"/>
    <a:srgbClr val="CCFFCC"/>
    <a:srgbClr val="3366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94679"/>
  </p:normalViewPr>
  <p:slideViewPr>
    <p:cSldViewPr snapToGrid="0">
      <p:cViewPr varScale="1">
        <p:scale>
          <a:sx n="100" d="100"/>
          <a:sy n="100" d="100"/>
        </p:scale>
        <p:origin x="848"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4340903" cy="344899"/>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5675500" y="0"/>
            <a:ext cx="4340903" cy="344899"/>
          </a:xfrm>
          <a:prstGeom prst="rect">
            <a:avLst/>
          </a:prstGeom>
        </p:spPr>
        <p:txBody>
          <a:bodyPr vert="horz" lIns="91440" tIns="45720" rIns="91440" bIns="45720" rtlCol="0"/>
          <a:lstStyle>
            <a:lvl1pPr algn="r">
              <a:defRPr sz="1200"/>
            </a:lvl1pPr>
          </a:lstStyle>
          <a:p>
            <a:fld id="{0196554C-BB7A-43E3-8698-2C4F12398836}" type="datetimeFigureOut">
              <a:rPr kumimoji="1" lang="ja-JP" altLang="en-US" smtClean="0"/>
              <a:t>2026/10/8</a:t>
            </a:fld>
            <a:endParaRPr kumimoji="1" lang="ja-JP" altLang="en-US"/>
          </a:p>
        </p:txBody>
      </p:sp>
      <p:sp>
        <p:nvSpPr>
          <p:cNvPr id="4" name="スライド イメージ プレースホルダー 3"/>
          <p:cNvSpPr>
            <a:spLocks noGrp="1" noRot="1" noChangeAspect="1"/>
          </p:cNvSpPr>
          <p:nvPr>
            <p:ph type="sldImg" idx="2"/>
          </p:nvPr>
        </p:nvSpPr>
        <p:spPr>
          <a:xfrm>
            <a:off x="2941638" y="860425"/>
            <a:ext cx="4135437" cy="2325688"/>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1002103" y="3314745"/>
            <a:ext cx="8014509" cy="2712261"/>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6543264"/>
            <a:ext cx="4340903" cy="344899"/>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5675500" y="6543264"/>
            <a:ext cx="4340903" cy="344899"/>
          </a:xfrm>
          <a:prstGeom prst="rect">
            <a:avLst/>
          </a:prstGeom>
        </p:spPr>
        <p:txBody>
          <a:bodyPr vert="horz" lIns="91440" tIns="45720" rIns="91440" bIns="45720" rtlCol="0" anchor="b"/>
          <a:lstStyle>
            <a:lvl1pPr algn="r">
              <a:defRPr sz="1200"/>
            </a:lvl1pPr>
          </a:lstStyle>
          <a:p>
            <a:fld id="{96AE4F65-7BBA-4C13-A066-C730B56D1A00}" type="slidenum">
              <a:rPr kumimoji="1" lang="ja-JP" altLang="en-US" smtClean="0"/>
              <a:t>‹#›</a:t>
            </a:fld>
            <a:endParaRPr kumimoji="1" lang="ja-JP" altLang="en-US"/>
          </a:p>
        </p:txBody>
      </p:sp>
    </p:spTree>
    <p:extLst>
      <p:ext uri="{BB962C8B-B14F-4D97-AF65-F5344CB8AC3E}">
        <p14:creationId xmlns:p14="http://schemas.microsoft.com/office/powerpoint/2010/main" val="293979858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96AE4F65-7BBA-4C13-A066-C730B56D1A00}" type="slidenum">
              <a:rPr kumimoji="1" lang="ja-JP" altLang="en-US" smtClean="0"/>
              <a:t>1</a:t>
            </a:fld>
            <a:endParaRPr kumimoji="1" lang="ja-JP" altLang="en-US"/>
          </a:p>
        </p:txBody>
      </p:sp>
    </p:spTree>
    <p:extLst>
      <p:ext uri="{BB962C8B-B14F-4D97-AF65-F5344CB8AC3E}">
        <p14:creationId xmlns:p14="http://schemas.microsoft.com/office/powerpoint/2010/main" val="18039698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31E4F-A0F4-0719-1CD8-57E3109F142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CC5076-167A-8981-1468-D8E0437BD92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EF269AE-0E81-35F2-B8C5-F637F17350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4FF7568-7E48-6562-0200-D8315B7D648E}"/>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AE4F65-7BBA-4C13-A066-C730B56D1A00}" type="slidenum">
              <a:rPr kumimoji="1" lang="ja-JP" altLang="en-US" sz="1200" b="0" i="0" u="none" strike="noStrike" kern="1200" cap="none" spc="0" normalizeH="0" baseline="0" noProof="0" smtClean="0">
                <a:ln>
                  <a:noFill/>
                </a:ln>
                <a:solidFill>
                  <a:prstClr val="black"/>
                </a:solidFill>
                <a:effectLst/>
                <a:uLnTx/>
                <a:uFillTx/>
                <a:latin typeface="游ゴシック" panose="02110004020202020204"/>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1" lang="ja-JP" altLang="en-US" sz="1200" b="0" i="0" u="none" strike="noStrike" kern="1200" cap="none" spc="0" normalizeH="0" baseline="0" noProof="0">
              <a:ln>
                <a:noFill/>
              </a:ln>
              <a:solidFill>
                <a:prstClr val="black"/>
              </a:solidFill>
              <a:effectLst/>
              <a:uLnTx/>
              <a:uFillTx/>
              <a:latin typeface="游ゴシック" panose="02110004020202020204"/>
              <a:ea typeface="游ゴシック" panose="020B0400000000000000" pitchFamily="50" charset="-128"/>
              <a:cs typeface="+mn-cs"/>
            </a:endParaRPr>
          </a:p>
        </p:txBody>
      </p:sp>
    </p:spTree>
    <p:extLst>
      <p:ext uri="{BB962C8B-B14F-4D97-AF65-F5344CB8AC3E}">
        <p14:creationId xmlns:p14="http://schemas.microsoft.com/office/powerpoint/2010/main" val="31345176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AC58C-7A2D-5724-E647-DF60F1171B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69C71E-19DE-CD06-94D5-8865F5B38F9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A65B5B6-D5DA-92A5-2566-25902E648EA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86FF0D1-AE12-5B29-A28A-54B32F0DD965}"/>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6AE4F65-7BBA-4C13-A066-C730B56D1A00}" type="slidenum">
              <a:rPr kumimoji="1" lang="ja-JP" altLang="en-US" sz="1200" b="0" i="0" u="none" strike="noStrike" kern="1200" cap="none" spc="0" normalizeH="0" baseline="0" noProof="0" smtClean="0">
                <a:ln>
                  <a:noFill/>
                </a:ln>
                <a:solidFill>
                  <a:prstClr val="black"/>
                </a:solidFill>
                <a:effectLst/>
                <a:uLnTx/>
                <a:uFillTx/>
                <a:latin typeface="游ゴシック" panose="02110004020202020204"/>
                <a:ea typeface="游ゴシック" panose="020B0400000000000000" pitchFamily="50" charset="-128"/>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1" lang="ja-JP" altLang="en-US" sz="1200" b="0" i="0" u="none" strike="noStrike" kern="1200" cap="none" spc="0" normalizeH="0" baseline="0" noProof="0">
              <a:ln>
                <a:noFill/>
              </a:ln>
              <a:solidFill>
                <a:prstClr val="black"/>
              </a:solidFill>
              <a:effectLst/>
              <a:uLnTx/>
              <a:uFillTx/>
              <a:latin typeface="游ゴシック" panose="02110004020202020204"/>
              <a:ea typeface="游ゴシック" panose="020B0400000000000000" pitchFamily="50" charset="-128"/>
              <a:cs typeface="+mn-cs"/>
            </a:endParaRPr>
          </a:p>
        </p:txBody>
      </p:sp>
    </p:spTree>
    <p:extLst>
      <p:ext uri="{BB962C8B-B14F-4D97-AF65-F5344CB8AC3E}">
        <p14:creationId xmlns:p14="http://schemas.microsoft.com/office/powerpoint/2010/main" val="36707637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31755468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11022449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3706956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379626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2960479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19055468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32056709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39142570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15992751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4251243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8A5C18AC-1306-425D-9E5A-599E0CBBD553}" type="datetimeFigureOut">
              <a:rPr kumimoji="1" lang="ja-JP" altLang="en-US" smtClean="0"/>
              <a:t>2026/10/8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42356362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A5C18AC-1306-425D-9E5A-599E0CBBD553}" type="datetimeFigureOut">
              <a:rPr kumimoji="1" lang="ja-JP" altLang="en-US" smtClean="0"/>
              <a:t>2026/10/8</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7A74CB5-5A6B-4262-838B-A5D592ACE2F8}" type="slidenum">
              <a:rPr kumimoji="1" lang="ja-JP" altLang="en-US" smtClean="0"/>
              <a:t>‹#›</a:t>
            </a:fld>
            <a:endParaRPr kumimoji="1" lang="ja-JP" altLang="en-US"/>
          </a:p>
        </p:txBody>
      </p:sp>
    </p:spTree>
    <p:extLst>
      <p:ext uri="{BB962C8B-B14F-4D97-AF65-F5344CB8AC3E}">
        <p14:creationId xmlns:p14="http://schemas.microsoft.com/office/powerpoint/2010/main" val="3439181365"/>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7549B2C8-42AA-4D26-5297-81005ADA37CA}"/>
            </a:ext>
          </a:extLst>
        </p:cNvPr>
        <p:cNvGrpSpPr/>
        <p:nvPr/>
      </p:nvGrpSpPr>
      <p:grpSpPr>
        <a:xfrm>
          <a:off x="0" y="0"/>
          <a:ext cx="0" cy="0"/>
          <a:chOff x="0" y="0"/>
          <a:chExt cx="0" cy="0"/>
        </a:xfrm>
      </p:grpSpPr>
      <p:graphicFrame>
        <p:nvGraphicFramePr>
          <p:cNvPr id="2" name="表 1">
            <a:extLst>
              <a:ext uri="{FF2B5EF4-FFF2-40B4-BE49-F238E27FC236}">
                <a16:creationId xmlns:a16="http://schemas.microsoft.com/office/drawing/2014/main" id="{B4A3F438-2F87-EAFB-8FB3-70E4A3232ED1}"/>
              </a:ext>
            </a:extLst>
          </p:cNvPr>
          <p:cNvGraphicFramePr>
            <a:graphicFrameLocks noGrp="1"/>
          </p:cNvGraphicFramePr>
          <p:nvPr>
            <p:extLst>
              <p:ext uri="{D42A27DB-BD31-4B8C-83A1-F6EECF244321}">
                <p14:modId xmlns:p14="http://schemas.microsoft.com/office/powerpoint/2010/main" val="2536818066"/>
              </p:ext>
            </p:extLst>
          </p:nvPr>
        </p:nvGraphicFramePr>
        <p:xfrm>
          <a:off x="2082965" y="643005"/>
          <a:ext cx="9943935" cy="5944642"/>
        </p:xfrm>
        <a:graphic>
          <a:graphicData uri="http://schemas.openxmlformats.org/drawingml/2006/table">
            <a:tbl>
              <a:tblPr firstRow="1" bandRow="1">
                <a:tableStyleId>{93296810-A885-4BE3-A3E7-6D5BEEA58F35}</a:tableStyleId>
              </a:tblPr>
              <a:tblGrid>
                <a:gridCol w="1302492">
                  <a:extLst>
                    <a:ext uri="{9D8B030D-6E8A-4147-A177-3AD203B41FA5}">
                      <a16:colId xmlns:a16="http://schemas.microsoft.com/office/drawing/2014/main" val="1025654473"/>
                    </a:ext>
                  </a:extLst>
                </a:gridCol>
                <a:gridCol w="3853543">
                  <a:extLst>
                    <a:ext uri="{9D8B030D-6E8A-4147-A177-3AD203B41FA5}">
                      <a16:colId xmlns:a16="http://schemas.microsoft.com/office/drawing/2014/main" val="2360809772"/>
                    </a:ext>
                  </a:extLst>
                </a:gridCol>
                <a:gridCol w="4787900">
                  <a:extLst>
                    <a:ext uri="{9D8B030D-6E8A-4147-A177-3AD203B41FA5}">
                      <a16:colId xmlns:a16="http://schemas.microsoft.com/office/drawing/2014/main" val="3063140589"/>
                    </a:ext>
                  </a:extLst>
                </a:gridCol>
              </a:tblGrid>
              <a:tr h="249382">
                <a:tc>
                  <a:txBody>
                    <a:bodyPr/>
                    <a:lstStyle/>
                    <a:p>
                      <a:pPr algn="ct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段階</a:t>
                      </a:r>
                    </a:p>
                  </a:txBody>
                  <a:tcPr anchor="ctr"/>
                </a:tc>
                <a:tc>
                  <a:txBody>
                    <a:bodyPr/>
                    <a:lstStyle/>
                    <a:p>
                      <a:pPr algn="ct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学習活動</a:t>
                      </a:r>
                    </a:p>
                  </a:txBody>
                  <a:tcPr anchor="ctr"/>
                </a:tc>
                <a:tc>
                  <a:txBody>
                    <a:bodyPr/>
                    <a:lstStyle/>
                    <a:p>
                      <a:pPr algn="ct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目指す児童の姿</a:t>
                      </a:r>
                    </a:p>
                  </a:txBody>
                  <a:tcPr anchor="ctr"/>
                </a:tc>
                <a:extLst>
                  <a:ext uri="{0D108BD9-81ED-4DB2-BD59-A6C34878D82A}">
                    <a16:rowId xmlns:a16="http://schemas.microsoft.com/office/drawing/2014/main" val="389720348"/>
                  </a:ext>
                </a:extLst>
              </a:tr>
              <a:tr h="991754">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見いだす</a:t>
                      </a:r>
                      <a:endParaRPr kumimoji="1" lang="en-US" altLang="ja-JP" sz="1800" dirty="0">
                        <a:latin typeface="UD デジタル 教科書体 NP-B" panose="02020700000000000000" pitchFamily="18" charset="-128"/>
                        <a:ea typeface="UD デジタル 教科書体 NP-B" panose="02020700000000000000" pitchFamily="18" charset="-128"/>
                      </a:endParaRPr>
                    </a:p>
                    <a:p>
                      <a:pPr algn="ctr"/>
                      <a:endParaRPr kumimoji="1" lang="en-US" altLang="ja-JP" sz="1800" dirty="0">
                        <a:latin typeface="UD デジタル 教科書体 NP-B" panose="02020700000000000000" pitchFamily="18" charset="-128"/>
                        <a:ea typeface="UD デジタル 教科書体 NP-B" panose="02020700000000000000" pitchFamily="18" charset="-128"/>
                      </a:endParaRPr>
                    </a:p>
                    <a:p>
                      <a:pPr algn="ctr"/>
                      <a:r>
                        <a:rPr kumimoji="1" lang="ja-JP" altLang="en-US" sz="1800" dirty="0">
                          <a:latin typeface="UD デジタル 教科書体 NP-B" panose="02020700000000000000" pitchFamily="18" charset="-128"/>
                          <a:ea typeface="UD デジタル 教科書体 NP-B" panose="02020700000000000000" pitchFamily="18" charset="-128"/>
                        </a:rPr>
                        <a:t>つかむ</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・せっけん水の膜を張った試験管を手でにぎり、気づきや疑問を出し合って問題をつくる。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手のあたたかさと膜のふくらみを関係付け、「空気は、あたためると体積が大きくなるのだろうか」という問題を見いだす。</a:t>
                      </a:r>
                    </a:p>
                  </a:txBody>
                  <a:tcPr anchor="ctr"/>
                </a:tc>
                <a:extLst>
                  <a:ext uri="{0D108BD9-81ED-4DB2-BD59-A6C34878D82A}">
                    <a16:rowId xmlns:a16="http://schemas.microsoft.com/office/drawing/2014/main" val="4046529740"/>
                  </a:ext>
                </a:extLst>
              </a:tr>
              <a:tr h="1358946">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見通す</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・前単元の学習や生活経験を基に予想し、理由を書く。</a:t>
                      </a:r>
                    </a:p>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・湯と氷水で調べる方法を考える。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「空気には体積がある」という既習と関係付け、「あたためられて空気の体積が大きくなったのではないか」という根拠のある予想を発想し、表現している。</a:t>
                      </a:r>
                    </a:p>
                  </a:txBody>
                  <a:tcPr anchor="ctr"/>
                </a:tc>
                <a:extLst>
                  <a:ext uri="{0D108BD9-81ED-4DB2-BD59-A6C34878D82A}">
                    <a16:rowId xmlns:a16="http://schemas.microsoft.com/office/drawing/2014/main" val="1538008851"/>
                  </a:ext>
                </a:extLst>
              </a:tr>
              <a:tr h="1094582">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調べる</a:t>
                      </a:r>
                      <a:endParaRPr kumimoji="1" lang="en-US" altLang="ja-JP" sz="1800" dirty="0">
                        <a:latin typeface="UD デジタル 教科書体 NP-B" panose="02020700000000000000" pitchFamily="18" charset="-128"/>
                        <a:ea typeface="UD デジタル 教科書体 NP-B" panose="02020700000000000000" pitchFamily="18" charset="-128"/>
                      </a:endParaRP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・湯と氷水で空気をあたためたり冷やしたりして、体積の変化を調べる。（実験１）</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空気の出入り口がないことを確かめたうえで、ガラス管の中の水の位置に着目し、結果を図と言葉で記録している。</a:t>
                      </a:r>
                    </a:p>
                  </a:txBody>
                  <a:tcPr anchor="ctr"/>
                </a:tc>
                <a:extLst>
                  <a:ext uri="{0D108BD9-81ED-4DB2-BD59-A6C34878D82A}">
                    <a16:rowId xmlns:a16="http://schemas.microsoft.com/office/drawing/2014/main" val="1448825038"/>
                  </a:ext>
                </a:extLst>
              </a:tr>
              <a:tr h="876300">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まとめる</a:t>
                      </a:r>
                      <a:endParaRPr kumimoji="1" lang="en-US" altLang="ja-JP" sz="1800" dirty="0">
                        <a:latin typeface="UD デジタル 教科書体 NP-B" panose="02020700000000000000" pitchFamily="18" charset="-128"/>
                        <a:ea typeface="UD デジタル 教科書体 NP-B" panose="02020700000000000000" pitchFamily="18" charset="-128"/>
                      </a:endParaRP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・実験結果を基に、空気の体積と温度の関係について妥当な考えをつくりだす。</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根拠を基に「空気は、あたためると体積が大きくなり、冷やすと小さくなる」という妥当な結論を導きだし、表現している。</a:t>
                      </a:r>
                    </a:p>
                  </a:txBody>
                  <a:tcPr anchor="ctr"/>
                </a:tc>
                <a:extLst>
                  <a:ext uri="{0D108BD9-81ED-4DB2-BD59-A6C34878D82A}">
                    <a16:rowId xmlns:a16="http://schemas.microsoft.com/office/drawing/2014/main" val="2602117394"/>
                  </a:ext>
                </a:extLst>
              </a:tr>
              <a:tr h="876300">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生かす</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・身の回りの物を、体積が変わりそうな物と変わらなそうな物に分け、調べる順番を決める。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空気について導きだした結論を基に身の回りの物を分類し、空気や水のような形のない物と、金属や木のような形のある物とを比べて、次に調べる物を決めている。</a:t>
                      </a:r>
                    </a:p>
                  </a:txBody>
                  <a:tcPr anchor="ctr"/>
                </a:tc>
                <a:extLst>
                  <a:ext uri="{0D108BD9-81ED-4DB2-BD59-A6C34878D82A}">
                    <a16:rowId xmlns:a16="http://schemas.microsoft.com/office/drawing/2014/main" val="1004026512"/>
                  </a:ext>
                </a:extLst>
              </a:tr>
            </a:tbl>
          </a:graphicData>
        </a:graphic>
      </p:graphicFrame>
      <p:sp>
        <p:nvSpPr>
          <p:cNvPr id="12" name="テキスト ボックス 11">
            <a:extLst>
              <a:ext uri="{FF2B5EF4-FFF2-40B4-BE49-F238E27FC236}">
                <a16:creationId xmlns:a16="http://schemas.microsoft.com/office/drawing/2014/main" id="{8E6E8304-56EF-1E41-5BCD-7A2544C75EBE}"/>
              </a:ext>
            </a:extLst>
          </p:cNvPr>
          <p:cNvSpPr txBox="1"/>
          <p:nvPr/>
        </p:nvSpPr>
        <p:spPr>
          <a:xfrm>
            <a:off x="2082965" y="116420"/>
            <a:ext cx="9376064" cy="461665"/>
          </a:xfrm>
          <a:prstGeom prst="rect">
            <a:avLst/>
          </a:prstGeom>
          <a:solidFill>
            <a:srgbClr val="CCFFCC"/>
          </a:solidFill>
          <a:scene3d>
            <a:camera prst="orthographicFront"/>
            <a:lightRig rig="threePt" dir="t"/>
          </a:scene3d>
          <a:sp3d>
            <a:bevelT/>
          </a:sp3d>
        </p:spPr>
        <p:txBody>
          <a:bodyPr wrap="square">
            <a:spAutoFit/>
          </a:bodyPr>
          <a:lstStyle/>
          <a:p>
            <a:pPr algn="ctr"/>
            <a:r>
              <a:rPr lang="en-US" altLang="ja-JP" sz="2400" dirty="0">
                <a:latin typeface="HGP創英角ｺﾞｼｯｸUB" panose="020B0900000000000000" pitchFamily="50" charset="-128"/>
                <a:ea typeface="HGP創英角ｺﾞｼｯｸUB" panose="020B0900000000000000" pitchFamily="50" charset="-128"/>
              </a:rPr>
              <a:t>【</a:t>
            </a:r>
            <a:r>
              <a:rPr lang="ja-JP" altLang="en-US" sz="2400" dirty="0">
                <a:latin typeface="HGP創英角ｺﾞｼｯｸUB" panose="020B0900000000000000" pitchFamily="50" charset="-128"/>
                <a:ea typeface="HGP創英角ｺﾞｼｯｸUB" panose="020B0900000000000000" pitchFamily="50" charset="-128"/>
              </a:rPr>
              <a:t>着眼１</a:t>
            </a:r>
            <a:r>
              <a:rPr lang="en-US" altLang="ja-JP" sz="2400" dirty="0">
                <a:latin typeface="HGP創英角ｺﾞｼｯｸUB" panose="020B0900000000000000" pitchFamily="50" charset="-128"/>
                <a:ea typeface="HGP創英角ｺﾞｼｯｸUB" panose="020B0900000000000000" pitchFamily="50" charset="-128"/>
              </a:rPr>
              <a:t>】</a:t>
            </a:r>
            <a:r>
              <a:rPr lang="ja-JP" altLang="en-US" sz="2400" dirty="0">
                <a:latin typeface="HGP創英角ｺﾞｼｯｸUB" panose="020B0900000000000000" pitchFamily="50" charset="-128"/>
                <a:ea typeface="HGP創英角ｺﾞｼｯｸUB" panose="020B0900000000000000" pitchFamily="50" charset="-128"/>
              </a:rPr>
              <a:t>　追究の連続性を生む単元構成</a:t>
            </a:r>
            <a:endParaRPr lang="ja-JP" altLang="en-US" sz="1050" dirty="0"/>
          </a:p>
        </p:txBody>
      </p:sp>
      <p:sp>
        <p:nvSpPr>
          <p:cNvPr id="13" name="吹き出し: 四角形 12">
            <a:extLst>
              <a:ext uri="{FF2B5EF4-FFF2-40B4-BE49-F238E27FC236}">
                <a16:creationId xmlns:a16="http://schemas.microsoft.com/office/drawing/2014/main" id="{5ECCBB3D-A137-011B-7752-6B59DBB17413}"/>
              </a:ext>
            </a:extLst>
          </p:cNvPr>
          <p:cNvSpPr/>
          <p:nvPr/>
        </p:nvSpPr>
        <p:spPr>
          <a:xfrm>
            <a:off x="211364" y="941415"/>
            <a:ext cx="1830000" cy="1563347"/>
          </a:xfrm>
          <a:prstGeom prst="wedgeRectCallout">
            <a:avLst>
              <a:gd name="adj1" fmla="val 56000"/>
              <a:gd name="adj2" fmla="val -15321"/>
            </a:avLst>
          </a:prstGeom>
          <a:solidFill>
            <a:srgbClr val="003300"/>
          </a:solidFill>
        </p:spPr>
        <p:style>
          <a:lnRef idx="2">
            <a:schemeClr val="accent1">
              <a:shade val="15000"/>
            </a:schemeClr>
          </a:lnRef>
          <a:fillRef idx="1">
            <a:schemeClr val="accent1"/>
          </a:fillRef>
          <a:effectRef idx="0">
            <a:schemeClr val="accent1"/>
          </a:effectRef>
          <a:fontRef idx="minor">
            <a:schemeClr val="lt1"/>
          </a:fontRef>
        </p:style>
        <p:txBody>
          <a:bodyPr lIns="45720" rIns="45720" rtlCol="0" anchor="ctr"/>
          <a:lstStyle/>
          <a:p>
            <a:r>
              <a:rPr kumimoji="1" lang="en-US" altLang="ja-JP" sz="2000" b="1" dirty="0">
                <a:latin typeface="UD デジタル 教科書体 NP-B" panose="02020700000000000000" pitchFamily="18" charset="-128"/>
                <a:ea typeface="UD デジタル 教科書体 NP-B" panose="02020700000000000000" pitchFamily="18" charset="-128"/>
              </a:rPr>
              <a:t>【</a:t>
            </a:r>
            <a:r>
              <a:rPr kumimoji="1" lang="ja-JP" altLang="en-US" sz="2000" b="1" dirty="0">
                <a:latin typeface="UD デジタル 教科書体 NP-B" panose="02020700000000000000" pitchFamily="18" charset="-128"/>
                <a:ea typeface="UD デジタル 教科書体 NP-B" panose="02020700000000000000" pitchFamily="18" charset="-128"/>
              </a:rPr>
              <a:t>着眼２</a:t>
            </a:r>
            <a:r>
              <a:rPr kumimoji="1" lang="en-US" altLang="ja-JP" sz="2000" b="1" dirty="0">
                <a:latin typeface="UD デジタル 教科書体 NP-B" panose="02020700000000000000" pitchFamily="18" charset="-128"/>
                <a:ea typeface="UD デジタル 教科書体 NP-B" panose="02020700000000000000" pitchFamily="18" charset="-128"/>
              </a:rPr>
              <a:t>】</a:t>
            </a:r>
          </a:p>
          <a:p>
            <a:r>
              <a:rPr kumimoji="1" lang="ja-JP" altLang="en-US" sz="1600" b="1" dirty="0">
                <a:latin typeface="UD デジタル 教科書体 NP-B" panose="02020700000000000000" pitchFamily="18" charset="-128"/>
                <a:ea typeface="UD デジタル 教科書体 NP-B" panose="02020700000000000000" pitchFamily="18" charset="-128"/>
              </a:rPr>
              <a:t>膜を張った</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試験管を一人ずつ</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手でにぎる</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体験活動</a:t>
            </a:r>
          </a:p>
        </p:txBody>
      </p:sp>
      <p:sp>
        <p:nvSpPr>
          <p:cNvPr id="5" name="吹き出し: 四角形 4">
            <a:extLst>
              <a:ext uri="{FF2B5EF4-FFF2-40B4-BE49-F238E27FC236}">
                <a16:creationId xmlns:a16="http://schemas.microsoft.com/office/drawing/2014/main" id="{D5B1022D-021C-38B9-BE55-C6F28B7279DD}"/>
              </a:ext>
            </a:extLst>
          </p:cNvPr>
          <p:cNvSpPr/>
          <p:nvPr/>
        </p:nvSpPr>
        <p:spPr>
          <a:xfrm>
            <a:off x="165100" y="2721429"/>
            <a:ext cx="1830000" cy="4071453"/>
          </a:xfrm>
          <a:prstGeom prst="wedgeRectCallout">
            <a:avLst>
              <a:gd name="adj1" fmla="val 61423"/>
              <a:gd name="adj2" fmla="val 27958"/>
            </a:avLst>
          </a:prstGeom>
          <a:solidFill>
            <a:srgbClr val="003300"/>
          </a:solidFill>
        </p:spPr>
        <p:style>
          <a:lnRef idx="2">
            <a:schemeClr val="accent1">
              <a:shade val="15000"/>
            </a:schemeClr>
          </a:lnRef>
          <a:fillRef idx="1">
            <a:schemeClr val="accent1"/>
          </a:fillRef>
          <a:effectRef idx="0">
            <a:schemeClr val="accent1"/>
          </a:effectRef>
          <a:fontRef idx="minor">
            <a:schemeClr val="lt1"/>
          </a:fontRef>
        </p:style>
        <p:txBody>
          <a:bodyPr lIns="45720" rIns="45720" rtlCol="0" anchor="ctr"/>
          <a:lstStyle/>
          <a:p>
            <a:r>
              <a:rPr kumimoji="1" lang="en-US" altLang="ja-JP" sz="2000" b="1" dirty="0">
                <a:latin typeface="UD デジタル 教科書体 NP-B" panose="02020700000000000000" pitchFamily="18" charset="-128"/>
                <a:ea typeface="UD デジタル 教科書体 NP-B" panose="02020700000000000000" pitchFamily="18" charset="-128"/>
              </a:rPr>
              <a:t>【</a:t>
            </a:r>
            <a:r>
              <a:rPr kumimoji="1" lang="ja-JP" altLang="en-US" sz="2000" b="1" dirty="0">
                <a:latin typeface="UD デジタル 教科書体 NP-B" panose="02020700000000000000" pitchFamily="18" charset="-128"/>
                <a:ea typeface="UD デジタル 教科書体 NP-B" panose="02020700000000000000" pitchFamily="18" charset="-128"/>
              </a:rPr>
              <a:t>着眼２</a:t>
            </a:r>
            <a:r>
              <a:rPr kumimoji="1" lang="en-US" altLang="ja-JP" sz="2000" b="1" dirty="0">
                <a:latin typeface="UD デジタル 教科書体 NP-B" panose="02020700000000000000" pitchFamily="18" charset="-128"/>
                <a:ea typeface="UD デジタル 教科書体 NP-B" panose="02020700000000000000" pitchFamily="18" charset="-128"/>
              </a:rPr>
              <a:t>】</a:t>
            </a:r>
          </a:p>
          <a:p>
            <a:r>
              <a:rPr kumimoji="1" lang="ja-JP" altLang="en-US" sz="1600" b="1" dirty="0">
                <a:latin typeface="UD デジタル 教科書体 NP-B" panose="02020700000000000000" pitchFamily="18" charset="-128"/>
                <a:ea typeface="UD デジタル 教科書体 NP-B" panose="02020700000000000000" pitchFamily="18" charset="-128"/>
              </a:rPr>
              <a:t>鉛筆・黒板・</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机やいす・水など</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身の回りの物を</a:t>
            </a:r>
          </a:p>
          <a:p>
            <a:pPr>
              <a:spcBef>
                <a:spcPts val="600"/>
              </a:spcBef>
            </a:pPr>
            <a:r>
              <a:rPr kumimoji="1" lang="ja-JP" altLang="en-US" sz="1600" b="1" dirty="0">
                <a:latin typeface="UD デジタル 教科書体 NP-B" panose="02020700000000000000" pitchFamily="18" charset="-128"/>
                <a:ea typeface="UD デジタル 教科書体 NP-B" panose="02020700000000000000" pitchFamily="18" charset="-128"/>
              </a:rPr>
              <a:t>「変わりそう」</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「変わらなそう」</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に分けて整理する</a:t>
            </a:r>
          </a:p>
        </p:txBody>
      </p:sp>
      <p:sp>
        <p:nvSpPr>
          <p:cNvPr id="3" name="テキスト ボックス 2">
            <a:extLst>
              <a:ext uri="{FF2B5EF4-FFF2-40B4-BE49-F238E27FC236}">
                <a16:creationId xmlns:a16="http://schemas.microsoft.com/office/drawing/2014/main" id="{772F5EC0-7649-0B47-55B1-D528A83FDC02}"/>
              </a:ext>
            </a:extLst>
          </p:cNvPr>
          <p:cNvSpPr txBox="1"/>
          <p:nvPr/>
        </p:nvSpPr>
        <p:spPr>
          <a:xfrm>
            <a:off x="165100" y="116420"/>
            <a:ext cx="1658257" cy="896112"/>
          </a:xfrm>
          <a:prstGeom prst="rect">
            <a:avLst/>
          </a:prstGeom>
          <a:solidFill>
            <a:schemeClr val="bg1"/>
          </a:solidFill>
          <a:ln w="38100">
            <a:solidFill>
              <a:schemeClr val="accent1"/>
            </a:solidFill>
          </a:ln>
        </p:spPr>
        <p:txBody>
          <a:bodyPr wrap="square" rtlCol="0">
            <a:spAutoFit/>
          </a:bodyPr>
          <a:lstStyle/>
          <a:p>
            <a:pPr algn="ctr"/>
            <a:r>
              <a:rPr kumimoji="1" lang="ja-JP" altLang="en-US" sz="3600" dirty="0">
                <a:latin typeface="ＭＳ ゴシック" panose="020B0609070205080204" pitchFamily="49" charset="-128"/>
                <a:ea typeface="ＭＳ ゴシック" panose="020B0609070205080204" pitchFamily="49" charset="-128"/>
              </a:rPr>
              <a:t>第１次</a:t>
            </a:r>
          </a:p>
          <a:p>
            <a:pPr algn="ctr"/>
            <a:r>
              <a:rPr kumimoji="1" lang="ja-JP" altLang="en-US" sz="1800" dirty="0">
                <a:latin typeface="ＭＳ ゴシック" panose="020B0609070205080204" pitchFamily="49" charset="-128"/>
                <a:ea typeface="ＭＳ ゴシック" panose="020B0609070205080204" pitchFamily="49" charset="-128"/>
              </a:rPr>
              <a:t>（４時間）</a:t>
            </a:r>
          </a:p>
        </p:txBody>
      </p:sp>
    </p:spTree>
    <p:extLst>
      <p:ext uri="{BB962C8B-B14F-4D97-AF65-F5344CB8AC3E}">
        <p14:creationId xmlns:p14="http://schemas.microsoft.com/office/powerpoint/2010/main" val="41680064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9F8B45CC-2410-4644-4C02-5626A3C99F37}"/>
            </a:ext>
          </a:extLst>
        </p:cNvPr>
        <p:cNvGrpSpPr/>
        <p:nvPr/>
      </p:nvGrpSpPr>
      <p:grpSpPr>
        <a:xfrm>
          <a:off x="0" y="0"/>
          <a:ext cx="0" cy="0"/>
          <a:chOff x="0" y="0"/>
          <a:chExt cx="0" cy="0"/>
        </a:xfrm>
      </p:grpSpPr>
      <p:graphicFrame>
        <p:nvGraphicFramePr>
          <p:cNvPr id="2" name="表 1">
            <a:extLst>
              <a:ext uri="{FF2B5EF4-FFF2-40B4-BE49-F238E27FC236}">
                <a16:creationId xmlns:a16="http://schemas.microsoft.com/office/drawing/2014/main" id="{F3E086D6-D8D5-B43C-387B-1BDCF530A0E8}"/>
              </a:ext>
            </a:extLst>
          </p:cNvPr>
          <p:cNvGraphicFramePr>
            <a:graphicFrameLocks noGrp="1"/>
          </p:cNvGraphicFramePr>
          <p:nvPr>
            <p:extLst>
              <p:ext uri="{D42A27DB-BD31-4B8C-83A1-F6EECF244321}">
                <p14:modId xmlns:p14="http://schemas.microsoft.com/office/powerpoint/2010/main" val="1103277010"/>
              </p:ext>
            </p:extLst>
          </p:nvPr>
        </p:nvGraphicFramePr>
        <p:xfrm>
          <a:off x="2082965" y="643005"/>
          <a:ext cx="9943935" cy="5944642"/>
        </p:xfrm>
        <a:graphic>
          <a:graphicData uri="http://schemas.openxmlformats.org/drawingml/2006/table">
            <a:tbl>
              <a:tblPr firstRow="1" bandRow="1">
                <a:tableStyleId>{93296810-A885-4BE3-A3E7-6D5BEEA58F35}</a:tableStyleId>
              </a:tblPr>
              <a:tblGrid>
                <a:gridCol w="1302492">
                  <a:extLst>
                    <a:ext uri="{9D8B030D-6E8A-4147-A177-3AD203B41FA5}">
                      <a16:colId xmlns:a16="http://schemas.microsoft.com/office/drawing/2014/main" val="1025654473"/>
                    </a:ext>
                  </a:extLst>
                </a:gridCol>
                <a:gridCol w="3853543">
                  <a:extLst>
                    <a:ext uri="{9D8B030D-6E8A-4147-A177-3AD203B41FA5}">
                      <a16:colId xmlns:a16="http://schemas.microsoft.com/office/drawing/2014/main" val="2360809772"/>
                    </a:ext>
                  </a:extLst>
                </a:gridCol>
                <a:gridCol w="4787900">
                  <a:extLst>
                    <a:ext uri="{9D8B030D-6E8A-4147-A177-3AD203B41FA5}">
                      <a16:colId xmlns:a16="http://schemas.microsoft.com/office/drawing/2014/main" val="3063140589"/>
                    </a:ext>
                  </a:extLst>
                </a:gridCol>
              </a:tblGrid>
              <a:tr h="24938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段階</a:t>
                      </a:r>
                    </a:p>
                  </a:txBody>
                  <a:tcPr anchor="ctr"/>
                </a:tc>
                <a:tc>
                  <a:txBody>
                    <a:bodyPr/>
                    <a:lstStyle/>
                    <a:p>
                      <a:pPr algn="ct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学習活動</a:t>
                      </a:r>
                    </a:p>
                  </a:txBody>
                  <a:tcPr anchor="ctr"/>
                </a:tc>
                <a:tc>
                  <a:txBody>
                    <a:bodyPr/>
                    <a:lstStyle/>
                    <a:p>
                      <a:pPr algn="ct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目指す児童の姿</a:t>
                      </a:r>
                    </a:p>
                  </a:txBody>
                  <a:tcPr anchor="ctr"/>
                </a:tc>
                <a:extLst>
                  <a:ext uri="{0D108BD9-81ED-4DB2-BD59-A6C34878D82A}">
                    <a16:rowId xmlns:a16="http://schemas.microsoft.com/office/drawing/2014/main" val="389720348"/>
                  </a:ext>
                </a:extLst>
              </a:tr>
              <a:tr h="991754">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見いだす</a:t>
                      </a:r>
                      <a:endParaRPr kumimoji="1" lang="en-US" altLang="ja-JP" sz="1800" dirty="0">
                        <a:latin typeface="UD デジタル 教科書体 NP-B" panose="02020700000000000000" pitchFamily="18" charset="-128"/>
                        <a:ea typeface="UD デジタル 教科書体 NP-B" panose="02020700000000000000" pitchFamily="18" charset="-128"/>
                      </a:endParaRPr>
                    </a:p>
                    <a:p>
                      <a:pPr algn="ctr"/>
                      <a:endParaRPr kumimoji="1" lang="en-US" altLang="ja-JP" sz="1800" dirty="0">
                        <a:latin typeface="UD デジタル 教科書体 NP-B" panose="02020700000000000000" pitchFamily="18" charset="-128"/>
                        <a:ea typeface="UD デジタル 教科書体 NP-B" panose="02020700000000000000" pitchFamily="18" charset="-128"/>
                      </a:endParaRPr>
                    </a:p>
                    <a:p>
                      <a:pPr algn="ctr"/>
                      <a:r>
                        <a:rPr kumimoji="1" lang="ja-JP" altLang="en-US" sz="1800" dirty="0">
                          <a:latin typeface="UD デジタル 教科書体 NP-B" panose="02020700000000000000" pitchFamily="18" charset="-128"/>
                          <a:ea typeface="UD デジタル 教科書体 NP-B" panose="02020700000000000000" pitchFamily="18" charset="-128"/>
                        </a:rPr>
                        <a:t>つかむ</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・分類で意見が分かれた水を取り上げ、空気と同じ器具に水を入れた物を見て問題をつくる。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空気について導きだした結論と分類表とを関係付け、「水も、あたためたり冷やしたりすると、体積は変わるのだろうか」という問題を見いだす。</a:t>
                      </a:r>
                    </a:p>
                  </a:txBody>
                  <a:tcPr anchor="ctr"/>
                </a:tc>
                <a:extLst>
                  <a:ext uri="{0D108BD9-81ED-4DB2-BD59-A6C34878D82A}">
                    <a16:rowId xmlns:a16="http://schemas.microsoft.com/office/drawing/2014/main" val="4046529740"/>
                  </a:ext>
                </a:extLst>
              </a:tr>
              <a:tr h="1358946">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見通す</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・空気の結果や前単元の学習を根拠に予想し、理由を書く。</a:t>
                      </a:r>
                    </a:p>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・空気と同じ手順で計画を立てる。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空気の結果や前単元の学習と関係付け、「空気と同じで大きくなる」「水は変わらない」など、根拠のある予想を発想し、表現している。</a:t>
                      </a:r>
                    </a:p>
                  </a:txBody>
                  <a:tcPr anchor="ctr"/>
                </a:tc>
                <a:extLst>
                  <a:ext uri="{0D108BD9-81ED-4DB2-BD59-A6C34878D82A}">
                    <a16:rowId xmlns:a16="http://schemas.microsoft.com/office/drawing/2014/main" val="1538008851"/>
                  </a:ext>
                </a:extLst>
              </a:tr>
              <a:tr h="1094582">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調べる</a:t>
                      </a:r>
                      <a:endParaRPr kumimoji="1" lang="en-US" altLang="ja-JP" sz="1800" dirty="0">
                        <a:latin typeface="UD デジタル 教科書体 NP-B" panose="02020700000000000000" pitchFamily="18" charset="-128"/>
                        <a:ea typeface="UD デジタル 教科書体 NP-B" panose="02020700000000000000" pitchFamily="18" charset="-128"/>
                      </a:endParaRP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・湯と氷水で水をあたためたり冷やしたりして、体積の変化を調べる。（実験２）</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水面のわずかな動きを見逃さないように注意深く観察し、空気の記録と並べて比べられるように記録している。</a:t>
                      </a:r>
                    </a:p>
                  </a:txBody>
                  <a:tcPr anchor="ctr"/>
                </a:tc>
                <a:extLst>
                  <a:ext uri="{0D108BD9-81ED-4DB2-BD59-A6C34878D82A}">
                    <a16:rowId xmlns:a16="http://schemas.microsoft.com/office/drawing/2014/main" val="1448825038"/>
                  </a:ext>
                </a:extLst>
              </a:tr>
              <a:tr h="876300">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まとめる</a:t>
                      </a:r>
                      <a:endParaRPr kumimoji="1" lang="en-US" altLang="ja-JP" sz="1800" dirty="0">
                        <a:latin typeface="UD デジタル 教科書体 NP-B" panose="02020700000000000000" pitchFamily="18" charset="-128"/>
                        <a:ea typeface="UD デジタル 教科書体 NP-B" panose="02020700000000000000" pitchFamily="18" charset="-128"/>
                      </a:endParaRP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・結果を空気のときと比べながら考察し、水の体積と温度の関係をまとめる。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根拠を基に「水も温度で体積が変わるが、増え方は空気より小さい」という妥当な結論を導きだし、表現している。</a:t>
                      </a:r>
                    </a:p>
                  </a:txBody>
                  <a:tcPr anchor="ctr"/>
                </a:tc>
                <a:extLst>
                  <a:ext uri="{0D108BD9-81ED-4DB2-BD59-A6C34878D82A}">
                    <a16:rowId xmlns:a16="http://schemas.microsoft.com/office/drawing/2014/main" val="2602117394"/>
                  </a:ext>
                </a:extLst>
              </a:tr>
              <a:tr h="876300">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生かす</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・分類表に水の結果を書き込み、形のある物について話し合う。</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空気と水について導きだした結論を関係付け、「形のある金ぞくも、あたためると体積が変わるのか」という新たな問いをもち、次の追究に向かおうとしている。</a:t>
                      </a:r>
                    </a:p>
                  </a:txBody>
                  <a:tcPr anchor="ctr"/>
                </a:tc>
                <a:extLst>
                  <a:ext uri="{0D108BD9-81ED-4DB2-BD59-A6C34878D82A}">
                    <a16:rowId xmlns:a16="http://schemas.microsoft.com/office/drawing/2014/main" val="1004026512"/>
                  </a:ext>
                </a:extLst>
              </a:tr>
            </a:tbl>
          </a:graphicData>
        </a:graphic>
      </p:graphicFrame>
      <p:sp>
        <p:nvSpPr>
          <p:cNvPr id="12" name="テキスト ボックス 11">
            <a:extLst>
              <a:ext uri="{FF2B5EF4-FFF2-40B4-BE49-F238E27FC236}">
                <a16:creationId xmlns:a16="http://schemas.microsoft.com/office/drawing/2014/main" id="{BFBFE8E3-254B-CCF5-0B10-6AB3636831A1}"/>
              </a:ext>
            </a:extLst>
          </p:cNvPr>
          <p:cNvSpPr txBox="1"/>
          <p:nvPr/>
        </p:nvSpPr>
        <p:spPr>
          <a:xfrm>
            <a:off x="2082965" y="116420"/>
            <a:ext cx="9376064" cy="461665"/>
          </a:xfrm>
          <a:prstGeom prst="rect">
            <a:avLst/>
          </a:prstGeom>
          <a:solidFill>
            <a:srgbClr val="CCFFCC"/>
          </a:solidFill>
          <a:scene3d>
            <a:camera prst="orthographicFront"/>
            <a:lightRig rig="threePt" dir="t"/>
          </a:scene3d>
          <a:sp3d>
            <a:bevelT/>
          </a:sp3d>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ja-JP" sz="2400" b="0" i="0" u="none" strike="noStrike" kern="1200" cap="none" spc="0" normalizeH="0" baseline="0" noProof="0" dirty="0">
                <a:ln>
                  <a:noFill/>
                </a:ln>
                <a:solidFill>
                  <a:prstClr val="black"/>
                </a:solidFill>
                <a:effectLst/>
                <a:uLnTx/>
                <a:uFillTx/>
                <a:latin typeface="HGP創英角ｺﾞｼｯｸUB" panose="020B0900000000000000" pitchFamily="50" charset="-128"/>
                <a:ea typeface="HGP創英角ｺﾞｼｯｸUB" panose="020B0900000000000000" pitchFamily="50" charset="-128"/>
                <a:cs typeface="+mn-cs"/>
              </a:rPr>
              <a:t>【</a:t>
            </a:r>
            <a:r>
              <a:rPr kumimoji="0" lang="ja-JP" altLang="en-US" sz="2400" b="0" i="0" u="none" strike="noStrike" kern="1200" cap="none" spc="0" normalizeH="0" baseline="0" noProof="0" dirty="0">
                <a:ln>
                  <a:noFill/>
                </a:ln>
                <a:solidFill>
                  <a:prstClr val="black"/>
                </a:solidFill>
                <a:effectLst/>
                <a:uLnTx/>
                <a:uFillTx/>
                <a:latin typeface="HGP創英角ｺﾞｼｯｸUB" panose="020B0900000000000000" pitchFamily="50" charset="-128"/>
                <a:ea typeface="HGP創英角ｺﾞｼｯｸUB" panose="020B0900000000000000" pitchFamily="50" charset="-128"/>
                <a:cs typeface="+mn-cs"/>
              </a:rPr>
              <a:t>着眼１</a:t>
            </a:r>
            <a:r>
              <a:rPr kumimoji="0" lang="en-US" altLang="ja-JP" sz="2400" b="0" i="0" u="none" strike="noStrike" kern="1200" cap="none" spc="0" normalizeH="0" baseline="0" noProof="0" dirty="0">
                <a:ln>
                  <a:noFill/>
                </a:ln>
                <a:solidFill>
                  <a:prstClr val="black"/>
                </a:solidFill>
                <a:effectLst/>
                <a:uLnTx/>
                <a:uFillTx/>
                <a:latin typeface="HGP創英角ｺﾞｼｯｸUB" panose="020B0900000000000000" pitchFamily="50" charset="-128"/>
                <a:ea typeface="HGP創英角ｺﾞｼｯｸUB" panose="020B0900000000000000" pitchFamily="50" charset="-128"/>
                <a:cs typeface="+mn-cs"/>
              </a:rPr>
              <a:t>】</a:t>
            </a:r>
            <a:r>
              <a:rPr kumimoji="0" lang="ja-JP" altLang="en-US" sz="2400" b="0" i="0" u="none" strike="noStrike" kern="1200" cap="none" spc="0" normalizeH="0" baseline="0" noProof="0" dirty="0">
                <a:ln>
                  <a:noFill/>
                </a:ln>
                <a:solidFill>
                  <a:prstClr val="black"/>
                </a:solidFill>
                <a:effectLst/>
                <a:uLnTx/>
                <a:uFillTx/>
                <a:latin typeface="HGP創英角ｺﾞｼｯｸUB" panose="020B0900000000000000" pitchFamily="50" charset="-128"/>
                <a:ea typeface="HGP創英角ｺﾞｼｯｸUB" panose="020B0900000000000000" pitchFamily="50" charset="-128"/>
                <a:cs typeface="+mn-cs"/>
              </a:rPr>
              <a:t>　追究の連続性を生む単元構成</a:t>
            </a:r>
            <a:endParaRPr kumimoji="0" lang="ja-JP" altLang="en-US" sz="1050" b="0" i="0" u="none" strike="noStrike" kern="1200" cap="none" spc="0" normalizeH="0" baseline="0" noProof="0" dirty="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3" name="吹き出し: 四角形 12">
            <a:extLst>
              <a:ext uri="{FF2B5EF4-FFF2-40B4-BE49-F238E27FC236}">
                <a16:creationId xmlns:a16="http://schemas.microsoft.com/office/drawing/2014/main" id="{39AF22B3-93A8-25BD-2AB9-F17CC90B0646}"/>
              </a:ext>
            </a:extLst>
          </p:cNvPr>
          <p:cNvSpPr/>
          <p:nvPr/>
        </p:nvSpPr>
        <p:spPr>
          <a:xfrm>
            <a:off x="211364" y="941415"/>
            <a:ext cx="1830000" cy="1563347"/>
          </a:xfrm>
          <a:prstGeom prst="wedgeRectCallout">
            <a:avLst>
              <a:gd name="adj1" fmla="val 56000"/>
              <a:gd name="adj2" fmla="val -15321"/>
            </a:avLst>
          </a:prstGeom>
          <a:solidFill>
            <a:srgbClr val="003300"/>
          </a:solidFill>
        </p:spPr>
        <p:style>
          <a:lnRef idx="2">
            <a:schemeClr val="accent1">
              <a:shade val="15000"/>
            </a:schemeClr>
          </a:lnRef>
          <a:fillRef idx="1">
            <a:schemeClr val="accent1"/>
          </a:fillRef>
          <a:effectRef idx="0">
            <a:schemeClr val="accent1"/>
          </a:effectRef>
          <a:fontRef idx="minor">
            <a:schemeClr val="lt1"/>
          </a:fontRef>
        </p:style>
        <p:txBody>
          <a:bodyPr lIns="45720" rIns="4572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a:t>
            </a:r>
            <a:r>
              <a:rPr kumimoji="1" lang="ja-JP" altLang="en-US"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着眼２</a:t>
            </a:r>
            <a:r>
              <a:rPr kumimoji="1" lang="en-US" altLang="ja-JP"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a:t>
            </a:r>
          </a:p>
          <a:p>
            <a:r>
              <a:rPr kumimoji="1" lang="ja-JP" altLang="en-US" sz="1600" b="1" dirty="0">
                <a:latin typeface="UD デジタル 教科書体 NP-B" panose="02020700000000000000" pitchFamily="18" charset="-128"/>
                <a:ea typeface="UD デジタル 教科書体 NP-B" panose="02020700000000000000" pitchFamily="18" charset="-128"/>
              </a:rPr>
              <a:t>第１次と同じ</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器具の中身を</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水に変えた</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実物提示</a:t>
            </a:r>
          </a:p>
        </p:txBody>
      </p:sp>
      <p:sp>
        <p:nvSpPr>
          <p:cNvPr id="5" name="吹き出し: 四角形 4">
            <a:extLst>
              <a:ext uri="{FF2B5EF4-FFF2-40B4-BE49-F238E27FC236}">
                <a16:creationId xmlns:a16="http://schemas.microsoft.com/office/drawing/2014/main" id="{5A2877BE-E524-AA23-802B-BE6E9B7E8ED6}"/>
              </a:ext>
            </a:extLst>
          </p:cNvPr>
          <p:cNvSpPr/>
          <p:nvPr/>
        </p:nvSpPr>
        <p:spPr>
          <a:xfrm>
            <a:off x="165100" y="2721429"/>
            <a:ext cx="1830000" cy="4071453"/>
          </a:xfrm>
          <a:prstGeom prst="wedgeRectCallout">
            <a:avLst>
              <a:gd name="adj1" fmla="val 61423"/>
              <a:gd name="adj2" fmla="val 27958"/>
            </a:avLst>
          </a:prstGeom>
          <a:solidFill>
            <a:srgbClr val="003300"/>
          </a:solidFill>
        </p:spPr>
        <p:style>
          <a:lnRef idx="2">
            <a:schemeClr val="accent1">
              <a:shade val="15000"/>
            </a:schemeClr>
          </a:lnRef>
          <a:fillRef idx="1">
            <a:schemeClr val="accent1"/>
          </a:fillRef>
          <a:effectRef idx="0">
            <a:schemeClr val="accent1"/>
          </a:effectRef>
          <a:fontRef idx="minor">
            <a:schemeClr val="lt1"/>
          </a:fontRef>
        </p:style>
        <p:txBody>
          <a:bodyPr lIns="45720" rIns="4572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a:t>
            </a:r>
            <a:r>
              <a:rPr kumimoji="1" lang="ja-JP" altLang="en-US"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着眼２</a:t>
            </a:r>
            <a:r>
              <a:rPr kumimoji="1" lang="en-US" altLang="ja-JP"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a:t>
            </a:r>
          </a:p>
          <a:p>
            <a:r>
              <a:rPr kumimoji="1" lang="ja-JP" altLang="en-US" sz="1600" b="1" dirty="0">
                <a:latin typeface="UD デジタル 教科書体 NP-B" panose="02020700000000000000" pitchFamily="18" charset="-128"/>
                <a:ea typeface="UD デジタル 教科書体 NP-B" panose="02020700000000000000" pitchFamily="18" charset="-128"/>
              </a:rPr>
              <a:t>第１次の分類表に</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水の結果を</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書き込む</a:t>
            </a:r>
          </a:p>
          <a:p>
            <a:pPr>
              <a:spcBef>
                <a:spcPts val="600"/>
              </a:spcBef>
            </a:pPr>
            <a:r>
              <a:rPr kumimoji="1" lang="ja-JP" altLang="en-US" sz="1600" b="1" dirty="0">
                <a:latin typeface="UD デジタル 教科書体 NP-B" panose="02020700000000000000" pitchFamily="18" charset="-128"/>
                <a:ea typeface="UD デジタル 教科書体 NP-B" panose="02020700000000000000" pitchFamily="18" charset="-128"/>
              </a:rPr>
              <a:t>形のある物へ</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目を向けさせる</a:t>
            </a:r>
          </a:p>
        </p:txBody>
      </p:sp>
      <p:sp>
        <p:nvSpPr>
          <p:cNvPr id="3" name="テキスト ボックス 2">
            <a:extLst>
              <a:ext uri="{FF2B5EF4-FFF2-40B4-BE49-F238E27FC236}">
                <a16:creationId xmlns:a16="http://schemas.microsoft.com/office/drawing/2014/main" id="{5847A7FA-ABD3-0CAF-1F2B-D54A4FBEEB75}"/>
              </a:ext>
            </a:extLst>
          </p:cNvPr>
          <p:cNvSpPr txBox="1"/>
          <p:nvPr/>
        </p:nvSpPr>
        <p:spPr>
          <a:xfrm>
            <a:off x="165100" y="116420"/>
            <a:ext cx="1750786" cy="896112"/>
          </a:xfrm>
          <a:prstGeom prst="rect">
            <a:avLst/>
          </a:prstGeom>
          <a:solidFill>
            <a:schemeClr val="bg1"/>
          </a:solidFill>
          <a:ln w="38100">
            <a:solidFill>
              <a:schemeClr val="accent1"/>
            </a:solid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ja-JP" altLang="en-US" sz="3600" b="0"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rPr>
              <a:t>第２次</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rPr>
              <a:t>（３時間）</a:t>
            </a:r>
          </a:p>
        </p:txBody>
      </p:sp>
    </p:spTree>
    <p:extLst>
      <p:ext uri="{BB962C8B-B14F-4D97-AF65-F5344CB8AC3E}">
        <p14:creationId xmlns:p14="http://schemas.microsoft.com/office/powerpoint/2010/main" val="22602472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793BD187-4D30-589D-06C1-4E249B4E5254}"/>
            </a:ext>
          </a:extLst>
        </p:cNvPr>
        <p:cNvGrpSpPr/>
        <p:nvPr/>
      </p:nvGrpSpPr>
      <p:grpSpPr>
        <a:xfrm>
          <a:off x="0" y="0"/>
          <a:ext cx="0" cy="0"/>
          <a:chOff x="0" y="0"/>
          <a:chExt cx="0" cy="0"/>
        </a:xfrm>
      </p:grpSpPr>
      <p:graphicFrame>
        <p:nvGraphicFramePr>
          <p:cNvPr id="2" name="表 1">
            <a:extLst>
              <a:ext uri="{FF2B5EF4-FFF2-40B4-BE49-F238E27FC236}">
                <a16:creationId xmlns:a16="http://schemas.microsoft.com/office/drawing/2014/main" id="{AEC086F2-AE6F-2486-39F9-70905080C93C}"/>
              </a:ext>
            </a:extLst>
          </p:cNvPr>
          <p:cNvGraphicFramePr>
            <a:graphicFrameLocks noGrp="1"/>
          </p:cNvGraphicFramePr>
          <p:nvPr>
            <p:extLst>
              <p:ext uri="{D42A27DB-BD31-4B8C-83A1-F6EECF244321}">
                <p14:modId xmlns:p14="http://schemas.microsoft.com/office/powerpoint/2010/main" val="823566836"/>
              </p:ext>
            </p:extLst>
          </p:nvPr>
        </p:nvGraphicFramePr>
        <p:xfrm>
          <a:off x="2082965" y="643005"/>
          <a:ext cx="9943935" cy="5670322"/>
        </p:xfrm>
        <a:graphic>
          <a:graphicData uri="http://schemas.openxmlformats.org/drawingml/2006/table">
            <a:tbl>
              <a:tblPr firstRow="1" bandRow="1">
                <a:tableStyleId>{93296810-A885-4BE3-A3E7-6D5BEEA58F35}</a:tableStyleId>
              </a:tblPr>
              <a:tblGrid>
                <a:gridCol w="1302492">
                  <a:extLst>
                    <a:ext uri="{9D8B030D-6E8A-4147-A177-3AD203B41FA5}">
                      <a16:colId xmlns:a16="http://schemas.microsoft.com/office/drawing/2014/main" val="1025654473"/>
                    </a:ext>
                  </a:extLst>
                </a:gridCol>
                <a:gridCol w="3853543">
                  <a:extLst>
                    <a:ext uri="{9D8B030D-6E8A-4147-A177-3AD203B41FA5}">
                      <a16:colId xmlns:a16="http://schemas.microsoft.com/office/drawing/2014/main" val="2360809772"/>
                    </a:ext>
                  </a:extLst>
                </a:gridCol>
                <a:gridCol w="4787900">
                  <a:extLst>
                    <a:ext uri="{9D8B030D-6E8A-4147-A177-3AD203B41FA5}">
                      <a16:colId xmlns:a16="http://schemas.microsoft.com/office/drawing/2014/main" val="3063140589"/>
                    </a:ext>
                  </a:extLst>
                </a:gridCol>
              </a:tblGrid>
              <a:tr h="24938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段階</a:t>
                      </a:r>
                    </a:p>
                  </a:txBody>
                  <a:tcPr anchor="ctr"/>
                </a:tc>
                <a:tc>
                  <a:txBody>
                    <a:bodyPr/>
                    <a:lstStyle/>
                    <a:p>
                      <a:pPr algn="ct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学習活動</a:t>
                      </a:r>
                    </a:p>
                  </a:txBody>
                  <a:tcPr anchor="ctr"/>
                </a:tc>
                <a:tc>
                  <a:txBody>
                    <a:bodyPr/>
                    <a:lstStyle/>
                    <a:p>
                      <a:pPr algn="ctr"/>
                      <a:r>
                        <a:rPr kumimoji="1" lang="ja-JP" altLang="en-US" sz="2000" dirty="0">
                          <a:solidFill>
                            <a:schemeClr val="tx1"/>
                          </a:solidFill>
                          <a:latin typeface="UD デジタル 教科書体 NP-B" panose="02020700000000000000" pitchFamily="18" charset="-128"/>
                          <a:ea typeface="UD デジタル 教科書体 NP-B" panose="02020700000000000000" pitchFamily="18" charset="-128"/>
                        </a:rPr>
                        <a:t>目指す児童の姿</a:t>
                      </a:r>
                    </a:p>
                  </a:txBody>
                  <a:tcPr anchor="ctr"/>
                </a:tc>
                <a:extLst>
                  <a:ext uri="{0D108BD9-81ED-4DB2-BD59-A6C34878D82A}">
                    <a16:rowId xmlns:a16="http://schemas.microsoft.com/office/drawing/2014/main" val="389720348"/>
                  </a:ext>
                </a:extLst>
              </a:tr>
              <a:tr h="991754">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見いだす</a:t>
                      </a:r>
                      <a:endParaRPr kumimoji="1" lang="en-US" altLang="ja-JP" sz="1800" dirty="0">
                        <a:latin typeface="UD デジタル 教科書体 NP-B" panose="02020700000000000000" pitchFamily="18" charset="-128"/>
                        <a:ea typeface="UD デジタル 教科書体 NP-B" panose="02020700000000000000" pitchFamily="18" charset="-128"/>
                      </a:endParaRPr>
                    </a:p>
                    <a:p>
                      <a:pPr algn="ctr"/>
                      <a:endParaRPr kumimoji="1" lang="en-US" altLang="ja-JP" sz="1800" dirty="0">
                        <a:latin typeface="UD デジタル 教科書体 NP-B" panose="02020700000000000000" pitchFamily="18" charset="-128"/>
                        <a:ea typeface="UD デジタル 教科書体 NP-B" panose="02020700000000000000" pitchFamily="18" charset="-128"/>
                      </a:endParaRPr>
                    </a:p>
                    <a:p>
                      <a:pPr algn="ctr"/>
                      <a:r>
                        <a:rPr kumimoji="1" lang="ja-JP" altLang="en-US" sz="1800" dirty="0">
                          <a:latin typeface="UD デジタル 教科書体 NP-B" panose="02020700000000000000" pitchFamily="18" charset="-128"/>
                          <a:ea typeface="UD デジタル 教科書体 NP-B" panose="02020700000000000000" pitchFamily="18" charset="-128"/>
                        </a:rPr>
                        <a:t>つかむ</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・分類表をふり返り、配られた玉にさわって調べる物が金属であることに気づき、問題をつくる。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空気と水について導きだした結論や分類表と関係付け、「金ぞくは、あたためたり冷やしたりすると、体積は変わるのだろうか」という問題を見いだす。</a:t>
                      </a:r>
                    </a:p>
                  </a:txBody>
                  <a:tcPr anchor="ctr"/>
                </a:tc>
                <a:extLst>
                  <a:ext uri="{0D108BD9-81ED-4DB2-BD59-A6C34878D82A}">
                    <a16:rowId xmlns:a16="http://schemas.microsoft.com/office/drawing/2014/main" val="4046529740"/>
                  </a:ext>
                </a:extLst>
              </a:tr>
              <a:tr h="1358946">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見通す</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・空気や水の学習や生活経験を基に予想し、理由を伝え合う。</a:t>
                      </a:r>
                    </a:p>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・空気や水の実験の方法を基に、湯であたためて調べる計画を立てる。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空気や水について導きだした結論や生活経験と関係付けて根拠のある予想を発想し、「大きくなるなら、あたためた玉は輪を通らなくなるはず」と結果を見通して、空気や水と同じ方法で調べる計画を立てている。</a:t>
                      </a:r>
                    </a:p>
                  </a:txBody>
                  <a:tcPr anchor="ctr"/>
                </a:tc>
                <a:extLst>
                  <a:ext uri="{0D108BD9-81ED-4DB2-BD59-A6C34878D82A}">
                    <a16:rowId xmlns:a16="http://schemas.microsoft.com/office/drawing/2014/main" val="1538008851"/>
                  </a:ext>
                </a:extLst>
              </a:tr>
              <a:tr h="1094582">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調べる</a:t>
                      </a:r>
                      <a:endParaRPr kumimoji="1" lang="en-US" altLang="ja-JP" sz="1800" dirty="0">
                        <a:latin typeface="UD デジタル 教科書体 NP-B" panose="02020700000000000000" pitchFamily="18" charset="-128"/>
                        <a:ea typeface="UD デジタル 教科書体 NP-B" panose="02020700000000000000" pitchFamily="18" charset="-128"/>
                      </a:endParaRP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・湯であたためて、玉が輪を通るかを調べる。（本時）</a:t>
                      </a:r>
                    </a:p>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・あたため方を見直し、炎で熱したり冷やしたりする。（実験３）</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湯でも玉が通った結果とレールのつなぎ目のすきまとのずれから、あたため方を見直し、加熱器具を安全に扱いながら結果を記録している。</a:t>
                      </a:r>
                    </a:p>
                  </a:txBody>
                  <a:tcPr anchor="ctr"/>
                </a:tc>
                <a:extLst>
                  <a:ext uri="{0D108BD9-81ED-4DB2-BD59-A6C34878D82A}">
                    <a16:rowId xmlns:a16="http://schemas.microsoft.com/office/drawing/2014/main" val="1448825038"/>
                  </a:ext>
                </a:extLst>
              </a:tr>
              <a:tr h="876300">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まとめる</a:t>
                      </a:r>
                      <a:endParaRPr kumimoji="1" lang="en-US" altLang="ja-JP" sz="1800" dirty="0">
                        <a:latin typeface="UD デジタル 教科書体 NP-B" panose="02020700000000000000" pitchFamily="18" charset="-128"/>
                        <a:ea typeface="UD デジタル 教科書体 NP-B" panose="02020700000000000000" pitchFamily="18" charset="-128"/>
                      </a:endParaRP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・結果を空気や水と比べ、増え方のちがいも合わせてまとめる。</a:t>
                      </a:r>
                    </a:p>
                  </a:txBody>
                  <a:tcPr anchor="ctr"/>
                </a:tc>
                <a:tc>
                  <a:txBody>
                    <a:bodyPr/>
                    <a:lstStyle/>
                    <a:p>
                      <a:r>
                        <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rPr>
                        <a:t>根拠を基に「金ぞくも、あたためると体積が大きくなり、冷やすと小さくなる」という妥当な結論を導きだし、表現している。</a:t>
                      </a:r>
                    </a:p>
                  </a:txBody>
                  <a:tcPr anchor="ctr"/>
                </a:tc>
                <a:extLst>
                  <a:ext uri="{0D108BD9-81ED-4DB2-BD59-A6C34878D82A}">
                    <a16:rowId xmlns:a16="http://schemas.microsoft.com/office/drawing/2014/main" val="2602117394"/>
                  </a:ext>
                </a:extLst>
              </a:tr>
              <a:tr h="876300">
                <a:tc>
                  <a:txBody>
                    <a:bodyPr/>
                    <a:lstStyle/>
                    <a:p>
                      <a:pPr algn="ctr"/>
                      <a:r>
                        <a:rPr kumimoji="1" lang="ja-JP" altLang="en-US" sz="1800" dirty="0">
                          <a:latin typeface="UD デジタル 教科書体 NP-B" panose="02020700000000000000" pitchFamily="18" charset="-128"/>
                          <a:ea typeface="UD デジタル 教科書体 NP-B" panose="02020700000000000000" pitchFamily="18" charset="-128"/>
                        </a:rPr>
                        <a:t>生かす</a:t>
                      </a:r>
                    </a:p>
                  </a:txBody>
                  <a:tcPr anchor="ctr"/>
                </a:tc>
                <a:tc>
                  <a:txBody>
                    <a:bodyPr/>
                    <a:lstStyle/>
                    <a:p>
                      <a:r>
                        <a:rPr kumimoji="1" lang="ja-JP" altLang="en-US" sz="1800">
                          <a:solidFill>
                            <a:schemeClr val="tx1"/>
                          </a:solidFill>
                          <a:latin typeface="UD デジタル 教科書体 NP-B" panose="02020700000000000000" pitchFamily="18" charset="-128"/>
                          <a:ea typeface="UD デジタル 教科書体 NP-B" panose="02020700000000000000" pitchFamily="18" charset="-128"/>
                        </a:rPr>
                        <a:t>・今回の単元で学んだことが、日常生活の中でどのように生かされているのかを考える。</a:t>
                      </a:r>
                      <a:endPar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endParaRPr>
                    </a:p>
                  </a:txBody>
                  <a:tcPr anchor="ctr"/>
                </a:tc>
                <a:tc>
                  <a:txBody>
                    <a:bodyPr/>
                    <a:lstStyle/>
                    <a:p>
                      <a:r>
                        <a:rPr kumimoji="1" lang="ja-JP" altLang="en-US" sz="1800">
                          <a:solidFill>
                            <a:schemeClr val="tx1"/>
                          </a:solidFill>
                          <a:latin typeface="UD デジタル 教科書体 NP-B" panose="02020700000000000000" pitchFamily="18" charset="-128"/>
                          <a:ea typeface="UD デジタル 教科書体 NP-B" panose="02020700000000000000" pitchFamily="18" charset="-128"/>
                        </a:rPr>
                        <a:t>焼きばめの事例について知り、科学によって私たちの生活が支えられていることに気づき、表現している。</a:t>
                      </a:r>
                      <a:endParaRPr kumimoji="1" lang="ja-JP" altLang="en-US" sz="1800" dirty="0">
                        <a:solidFill>
                          <a:schemeClr val="tx1"/>
                        </a:solidFill>
                        <a:latin typeface="UD デジタル 教科書体 NP-B" panose="02020700000000000000" pitchFamily="18" charset="-128"/>
                        <a:ea typeface="UD デジタル 教科書体 NP-B" panose="02020700000000000000" pitchFamily="18" charset="-128"/>
                      </a:endParaRPr>
                    </a:p>
                  </a:txBody>
                  <a:tcPr anchor="ctr"/>
                </a:tc>
                <a:extLst>
                  <a:ext uri="{0D108BD9-81ED-4DB2-BD59-A6C34878D82A}">
                    <a16:rowId xmlns:a16="http://schemas.microsoft.com/office/drawing/2014/main" val="1004026512"/>
                  </a:ext>
                </a:extLst>
              </a:tr>
            </a:tbl>
          </a:graphicData>
        </a:graphic>
      </p:graphicFrame>
      <p:sp>
        <p:nvSpPr>
          <p:cNvPr id="12" name="テキスト ボックス 11">
            <a:extLst>
              <a:ext uri="{FF2B5EF4-FFF2-40B4-BE49-F238E27FC236}">
                <a16:creationId xmlns:a16="http://schemas.microsoft.com/office/drawing/2014/main" id="{1E919D49-90A5-C4BB-12FB-423311047A30}"/>
              </a:ext>
            </a:extLst>
          </p:cNvPr>
          <p:cNvSpPr txBox="1"/>
          <p:nvPr/>
        </p:nvSpPr>
        <p:spPr>
          <a:xfrm>
            <a:off x="2082965" y="116420"/>
            <a:ext cx="9376064" cy="461665"/>
          </a:xfrm>
          <a:prstGeom prst="rect">
            <a:avLst/>
          </a:prstGeom>
          <a:solidFill>
            <a:srgbClr val="CCFFCC"/>
          </a:solidFill>
          <a:scene3d>
            <a:camera prst="orthographicFront"/>
            <a:lightRig rig="threePt" dir="t"/>
          </a:scene3d>
          <a:sp3d>
            <a:bevelT/>
          </a:sp3d>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altLang="ja-JP" sz="2400" b="0" i="0" u="none" strike="noStrike" kern="1200" cap="none" spc="0" normalizeH="0" baseline="0" noProof="0" dirty="0">
                <a:ln>
                  <a:noFill/>
                </a:ln>
                <a:solidFill>
                  <a:prstClr val="black"/>
                </a:solidFill>
                <a:effectLst/>
                <a:uLnTx/>
                <a:uFillTx/>
                <a:latin typeface="HGP創英角ｺﾞｼｯｸUB" panose="020B0900000000000000" pitchFamily="50" charset="-128"/>
                <a:ea typeface="HGP創英角ｺﾞｼｯｸUB" panose="020B0900000000000000" pitchFamily="50" charset="-128"/>
                <a:cs typeface="+mn-cs"/>
              </a:rPr>
              <a:t>【</a:t>
            </a:r>
            <a:r>
              <a:rPr kumimoji="0" lang="ja-JP" altLang="en-US" sz="2400" b="0" i="0" u="none" strike="noStrike" kern="1200" cap="none" spc="0" normalizeH="0" baseline="0" noProof="0" dirty="0">
                <a:ln>
                  <a:noFill/>
                </a:ln>
                <a:solidFill>
                  <a:prstClr val="black"/>
                </a:solidFill>
                <a:effectLst/>
                <a:uLnTx/>
                <a:uFillTx/>
                <a:latin typeface="HGP創英角ｺﾞｼｯｸUB" panose="020B0900000000000000" pitchFamily="50" charset="-128"/>
                <a:ea typeface="HGP創英角ｺﾞｼｯｸUB" panose="020B0900000000000000" pitchFamily="50" charset="-128"/>
                <a:cs typeface="+mn-cs"/>
              </a:rPr>
              <a:t>着眼１</a:t>
            </a:r>
            <a:r>
              <a:rPr kumimoji="0" lang="en-US" altLang="ja-JP" sz="2400" b="0" i="0" u="none" strike="noStrike" kern="1200" cap="none" spc="0" normalizeH="0" baseline="0" noProof="0" dirty="0">
                <a:ln>
                  <a:noFill/>
                </a:ln>
                <a:solidFill>
                  <a:prstClr val="black"/>
                </a:solidFill>
                <a:effectLst/>
                <a:uLnTx/>
                <a:uFillTx/>
                <a:latin typeface="HGP創英角ｺﾞｼｯｸUB" panose="020B0900000000000000" pitchFamily="50" charset="-128"/>
                <a:ea typeface="HGP創英角ｺﾞｼｯｸUB" panose="020B0900000000000000" pitchFamily="50" charset="-128"/>
                <a:cs typeface="+mn-cs"/>
              </a:rPr>
              <a:t>】</a:t>
            </a:r>
            <a:r>
              <a:rPr kumimoji="0" lang="ja-JP" altLang="en-US" sz="2400" b="0" i="0" u="none" strike="noStrike" kern="1200" cap="none" spc="0" normalizeH="0" baseline="0" noProof="0" dirty="0">
                <a:ln>
                  <a:noFill/>
                </a:ln>
                <a:solidFill>
                  <a:prstClr val="black"/>
                </a:solidFill>
                <a:effectLst/>
                <a:uLnTx/>
                <a:uFillTx/>
                <a:latin typeface="HGP創英角ｺﾞｼｯｸUB" panose="020B0900000000000000" pitchFamily="50" charset="-128"/>
                <a:ea typeface="HGP創英角ｺﾞｼｯｸUB" panose="020B0900000000000000" pitchFamily="50" charset="-128"/>
                <a:cs typeface="+mn-cs"/>
              </a:rPr>
              <a:t>　追究の連続性を生む単元構成</a:t>
            </a:r>
            <a:endParaRPr kumimoji="0" lang="ja-JP" altLang="en-US" sz="1050" b="0" i="0" u="none" strike="noStrike" kern="1200" cap="none" spc="0" normalizeH="0" baseline="0" noProof="0" dirty="0">
              <a:ln>
                <a:noFill/>
              </a:ln>
              <a:solidFill>
                <a:prstClr val="black"/>
              </a:solidFill>
              <a:effectLst/>
              <a:uLnTx/>
              <a:uFillTx/>
              <a:latin typeface="Calibri" panose="020F0502020204030204"/>
              <a:ea typeface="游ゴシック" panose="020B0400000000000000" pitchFamily="50" charset="-128"/>
              <a:cs typeface="+mn-cs"/>
            </a:endParaRPr>
          </a:p>
        </p:txBody>
      </p:sp>
      <p:sp>
        <p:nvSpPr>
          <p:cNvPr id="13" name="吹き出し: 四角形 12">
            <a:extLst>
              <a:ext uri="{FF2B5EF4-FFF2-40B4-BE49-F238E27FC236}">
                <a16:creationId xmlns:a16="http://schemas.microsoft.com/office/drawing/2014/main" id="{5466B3A7-4E70-4DA7-D390-A73F7E700B24}"/>
              </a:ext>
            </a:extLst>
          </p:cNvPr>
          <p:cNvSpPr/>
          <p:nvPr/>
        </p:nvSpPr>
        <p:spPr>
          <a:xfrm>
            <a:off x="211364" y="1104900"/>
            <a:ext cx="1830000" cy="1399862"/>
          </a:xfrm>
          <a:prstGeom prst="wedgeRectCallout">
            <a:avLst>
              <a:gd name="adj1" fmla="val 56000"/>
              <a:gd name="adj2" fmla="val 114"/>
            </a:avLst>
          </a:prstGeom>
          <a:solidFill>
            <a:srgbClr val="003300"/>
          </a:solidFill>
        </p:spPr>
        <p:style>
          <a:lnRef idx="2">
            <a:schemeClr val="accent1">
              <a:shade val="15000"/>
            </a:schemeClr>
          </a:lnRef>
          <a:fillRef idx="1">
            <a:schemeClr val="accent1"/>
          </a:fillRef>
          <a:effectRef idx="0">
            <a:schemeClr val="accent1"/>
          </a:effectRef>
          <a:fontRef idx="minor">
            <a:schemeClr val="lt1"/>
          </a:fontRef>
        </p:style>
        <p:txBody>
          <a:bodyPr lIns="45720" rIns="4572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a:t>
            </a:r>
            <a:r>
              <a:rPr kumimoji="1" lang="ja-JP" altLang="en-US"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着眼２</a:t>
            </a:r>
            <a:r>
              <a:rPr kumimoji="1" lang="en-US" altLang="ja-JP"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a:t>
            </a:r>
          </a:p>
          <a:p>
            <a:r>
              <a:rPr kumimoji="1" lang="ja-JP" altLang="en-US" sz="1600" b="1" dirty="0">
                <a:latin typeface="UD デジタル 教科書体 NP-B" panose="02020700000000000000" pitchFamily="18" charset="-128"/>
                <a:ea typeface="UD デジタル 教科書体 NP-B" panose="02020700000000000000" pitchFamily="18" charset="-128"/>
              </a:rPr>
              <a:t>分類表の再提示と</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金属の玉だけを</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配ってさわらせる</a:t>
            </a:r>
          </a:p>
        </p:txBody>
      </p:sp>
      <p:sp>
        <p:nvSpPr>
          <p:cNvPr id="5" name="吹き出し: 四角形 4">
            <a:extLst>
              <a:ext uri="{FF2B5EF4-FFF2-40B4-BE49-F238E27FC236}">
                <a16:creationId xmlns:a16="http://schemas.microsoft.com/office/drawing/2014/main" id="{3D7E83FE-D17D-E556-0B5C-9AB614651767}"/>
              </a:ext>
            </a:extLst>
          </p:cNvPr>
          <p:cNvSpPr/>
          <p:nvPr/>
        </p:nvSpPr>
        <p:spPr>
          <a:xfrm>
            <a:off x="165100" y="2721429"/>
            <a:ext cx="1830000" cy="4071453"/>
          </a:xfrm>
          <a:prstGeom prst="wedgeRectCallout">
            <a:avLst>
              <a:gd name="adj1" fmla="val 61423"/>
              <a:gd name="adj2" fmla="val -53880"/>
            </a:avLst>
          </a:prstGeom>
          <a:solidFill>
            <a:srgbClr val="003300"/>
          </a:solidFill>
        </p:spPr>
        <p:style>
          <a:lnRef idx="2">
            <a:schemeClr val="accent1">
              <a:shade val="15000"/>
            </a:schemeClr>
          </a:lnRef>
          <a:fillRef idx="1">
            <a:schemeClr val="accent1"/>
          </a:fillRef>
          <a:effectRef idx="0">
            <a:schemeClr val="accent1"/>
          </a:effectRef>
          <a:fontRef idx="minor">
            <a:schemeClr val="lt1"/>
          </a:fontRef>
        </p:style>
        <p:txBody>
          <a:bodyPr lIns="45720" rIns="45720" rtlCol="0" anchor="ct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1" lang="en-US" altLang="ja-JP"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a:t>
            </a:r>
            <a:r>
              <a:rPr kumimoji="1" lang="ja-JP" altLang="en-US"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着眼２</a:t>
            </a:r>
            <a:r>
              <a:rPr kumimoji="1" lang="en-US" altLang="ja-JP" sz="2000" b="1" i="0" u="none" strike="noStrike" kern="1200" cap="none" spc="0" normalizeH="0" baseline="0" noProof="0" dirty="0">
                <a:ln>
                  <a:noFill/>
                </a:ln>
                <a:solidFill>
                  <a:prstClr val="white"/>
                </a:solidFill>
                <a:effectLst/>
                <a:uLnTx/>
                <a:uFillTx/>
                <a:latin typeface="UD デジタル 教科書体 NP-B" panose="02020700000000000000" pitchFamily="18" charset="-128"/>
                <a:ea typeface="UD デジタル 教科書体 NP-B" panose="02020700000000000000" pitchFamily="18" charset="-128"/>
                <a:cs typeface="+mn-cs"/>
              </a:rPr>
              <a:t>】</a:t>
            </a:r>
          </a:p>
          <a:p>
            <a:r>
              <a:rPr kumimoji="1" lang="ja-JP" altLang="en-US" sz="1600" b="1" dirty="0">
                <a:latin typeface="UD デジタル 教科書体 NP-B" panose="02020700000000000000" pitchFamily="18" charset="-128"/>
                <a:ea typeface="UD デジタル 教科書体 NP-B" panose="02020700000000000000" pitchFamily="18" charset="-128"/>
              </a:rPr>
              <a:t>予想と理由を</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伝え合い</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考えのずれに</a:t>
            </a:r>
            <a:br>
              <a:rPr kumimoji="1" lang="ja-JP" altLang="en-US" sz="1600" b="1" dirty="0">
                <a:latin typeface="UD デジタル 教科書体 NP-B" panose="02020700000000000000" pitchFamily="18" charset="-128"/>
                <a:ea typeface="UD デジタル 教科書体 NP-B" panose="02020700000000000000" pitchFamily="18" charset="-128"/>
              </a:rPr>
            </a:br>
            <a:r>
              <a:rPr kumimoji="1" lang="ja-JP" altLang="en-US" sz="1600" b="1" dirty="0">
                <a:latin typeface="UD デジタル 教科書体 NP-B" panose="02020700000000000000" pitchFamily="18" charset="-128"/>
                <a:ea typeface="UD デジタル 教科書体 NP-B" panose="02020700000000000000" pitchFamily="18" charset="-128"/>
              </a:rPr>
              <a:t>気づかせる</a:t>
            </a:r>
            <a:endParaRPr kumimoji="1" lang="en-US" altLang="ja-JP" sz="1600" b="1" dirty="0">
              <a:latin typeface="UD デジタル 教科書体 NP-B" panose="02020700000000000000" pitchFamily="18" charset="-128"/>
              <a:ea typeface="UD デジタル 教科書体 NP-B" panose="02020700000000000000" pitchFamily="18" charset="-128"/>
            </a:endParaRPr>
          </a:p>
          <a:p>
            <a:r>
              <a:rPr kumimoji="1" lang="ja-JP" altLang="en-US" sz="1600" b="1">
                <a:latin typeface="UD デジタル 教科書体 NP-B" panose="02020700000000000000" pitchFamily="18" charset="-128"/>
                <a:ea typeface="UD デジタル 教科書体 NP-B" panose="02020700000000000000" pitchFamily="18" charset="-128"/>
              </a:rPr>
              <a:t>湯でも玉が通った</a:t>
            </a:r>
            <a:br>
              <a:rPr kumimoji="1" lang="ja-JP" altLang="en-US" sz="1600" b="1">
                <a:latin typeface="UD デジタル 教科書体 NP-B" panose="02020700000000000000" pitchFamily="18" charset="-128"/>
                <a:ea typeface="UD デジタル 教科書体 NP-B" panose="02020700000000000000" pitchFamily="18" charset="-128"/>
              </a:rPr>
            </a:br>
            <a:r>
              <a:rPr kumimoji="1" lang="ja-JP" altLang="en-US" sz="1600" b="1">
                <a:latin typeface="UD デジタル 教科書体 NP-B" panose="02020700000000000000" pitchFamily="18" charset="-128"/>
                <a:ea typeface="UD デジタル 教科書体 NP-B" panose="02020700000000000000" pitchFamily="18" charset="-128"/>
              </a:rPr>
              <a:t>あとに</a:t>
            </a:r>
            <a:br>
              <a:rPr kumimoji="1" lang="ja-JP" altLang="en-US" sz="1600" b="1">
                <a:latin typeface="UD デジタル 教科書体 NP-B" panose="02020700000000000000" pitchFamily="18" charset="-128"/>
                <a:ea typeface="UD デジタル 教科書体 NP-B" panose="02020700000000000000" pitchFamily="18" charset="-128"/>
              </a:rPr>
            </a:br>
            <a:r>
              <a:rPr kumimoji="1" lang="ja-JP" altLang="en-US" sz="1600" b="1">
                <a:latin typeface="UD デジタル 教科書体 NP-B" panose="02020700000000000000" pitchFamily="18" charset="-128"/>
                <a:ea typeface="UD デジタル 教科書体 NP-B" panose="02020700000000000000" pitchFamily="18" charset="-128"/>
              </a:rPr>
              <a:t>レールのすきまの</a:t>
            </a:r>
            <a:br>
              <a:rPr kumimoji="1" lang="ja-JP" altLang="en-US" sz="1600" b="1">
                <a:latin typeface="UD デジタル 教科書体 NP-B" panose="02020700000000000000" pitchFamily="18" charset="-128"/>
                <a:ea typeface="UD デジタル 教科書体 NP-B" panose="02020700000000000000" pitchFamily="18" charset="-128"/>
              </a:rPr>
            </a:br>
            <a:r>
              <a:rPr kumimoji="1" lang="ja-JP" altLang="en-US" sz="1600" b="1">
                <a:latin typeface="UD デジタル 教科書体 NP-B" panose="02020700000000000000" pitchFamily="18" charset="-128"/>
                <a:ea typeface="UD デジタル 教科書体 NP-B" panose="02020700000000000000" pitchFamily="18" charset="-128"/>
              </a:rPr>
              <a:t>写真を提示し</a:t>
            </a:r>
            <a:br>
              <a:rPr kumimoji="1" lang="ja-JP" altLang="en-US" sz="1600" b="1">
                <a:latin typeface="UD デジタル 教科書体 NP-B" panose="02020700000000000000" pitchFamily="18" charset="-128"/>
                <a:ea typeface="UD デジタル 教科書体 NP-B" panose="02020700000000000000" pitchFamily="18" charset="-128"/>
              </a:rPr>
            </a:br>
            <a:r>
              <a:rPr kumimoji="1" lang="ja-JP" altLang="en-US" sz="1600" b="1">
                <a:latin typeface="UD デジタル 教科書体 NP-B" panose="02020700000000000000" pitchFamily="18" charset="-128"/>
                <a:ea typeface="UD デジタル 教科書体 NP-B" panose="02020700000000000000" pitchFamily="18" charset="-128"/>
              </a:rPr>
              <a:t>結果とのずれに</a:t>
            </a:r>
            <a:br>
              <a:rPr kumimoji="1" lang="ja-JP" altLang="en-US" sz="1600" b="1">
                <a:latin typeface="UD デジタル 教科書体 NP-B" panose="02020700000000000000" pitchFamily="18" charset="-128"/>
                <a:ea typeface="UD デジタル 教科書体 NP-B" panose="02020700000000000000" pitchFamily="18" charset="-128"/>
              </a:rPr>
            </a:br>
            <a:r>
              <a:rPr kumimoji="1" lang="ja-JP" altLang="en-US" sz="1600" b="1">
                <a:latin typeface="UD デジタル 教科書体 NP-B" panose="02020700000000000000" pitchFamily="18" charset="-128"/>
                <a:ea typeface="UD デジタル 教科書体 NP-B" panose="02020700000000000000" pitchFamily="18" charset="-128"/>
              </a:rPr>
              <a:t>気づかせる</a:t>
            </a:r>
            <a:endParaRPr kumimoji="1" lang="ja-JP" altLang="en-US" sz="1600" b="1" dirty="0">
              <a:latin typeface="UD デジタル 教科書体 NP-B" panose="02020700000000000000" pitchFamily="18" charset="-128"/>
              <a:ea typeface="UD デジタル 教科書体 NP-B" panose="02020700000000000000" pitchFamily="18" charset="-128"/>
            </a:endParaRPr>
          </a:p>
        </p:txBody>
      </p:sp>
      <p:sp>
        <p:nvSpPr>
          <p:cNvPr id="3" name="テキスト ボックス 2">
            <a:extLst>
              <a:ext uri="{FF2B5EF4-FFF2-40B4-BE49-F238E27FC236}">
                <a16:creationId xmlns:a16="http://schemas.microsoft.com/office/drawing/2014/main" id="{3C41EEB2-7EEE-33A1-ED51-E64F76DC63A3}"/>
              </a:ext>
            </a:extLst>
          </p:cNvPr>
          <p:cNvSpPr txBox="1"/>
          <p:nvPr/>
        </p:nvSpPr>
        <p:spPr>
          <a:xfrm>
            <a:off x="165100" y="116420"/>
            <a:ext cx="1750786" cy="896112"/>
          </a:xfrm>
          <a:prstGeom prst="rect">
            <a:avLst/>
          </a:prstGeom>
          <a:solidFill>
            <a:schemeClr val="bg1"/>
          </a:solidFill>
          <a:ln w="38100">
            <a:solidFill>
              <a:schemeClr val="accent1"/>
            </a:solidFill>
          </a:ln>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1" lang="ja-JP" altLang="en-US" sz="3600" b="0" i="0" u="none" strike="noStrike" kern="1200" cap="none" spc="0" normalizeH="0" baseline="0" noProof="0">
                <a:ln>
                  <a:noFill/>
                </a:ln>
                <a:solidFill>
                  <a:prstClr val="black"/>
                </a:solidFill>
                <a:effectLst/>
                <a:uLnTx/>
                <a:uFillTx/>
                <a:latin typeface="ＭＳ ゴシック" panose="020B0609070205080204" pitchFamily="49" charset="-128"/>
                <a:ea typeface="ＭＳ ゴシック" panose="020B0609070205080204" pitchFamily="49" charset="-128"/>
                <a:cs typeface="+mn-cs"/>
              </a:rPr>
              <a:t>第３次</a:t>
            </a:r>
            <a:endParaRPr kumimoji="1" lang="ja-JP" altLang="en-US" sz="3600" b="0"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a:ln>
                  <a:noFill/>
                </a:ln>
                <a:solidFill>
                  <a:prstClr val="black"/>
                </a:solidFill>
                <a:effectLst/>
                <a:uLnTx/>
                <a:uFillTx/>
                <a:latin typeface="ＭＳ ゴシック" panose="020B0609070205080204" pitchFamily="49" charset="-128"/>
                <a:ea typeface="ＭＳ ゴシック" panose="020B0609070205080204" pitchFamily="49" charset="-128"/>
                <a:cs typeface="+mn-cs"/>
              </a:rPr>
              <a:t>（３時間）</a:t>
            </a:r>
            <a:endParaRPr kumimoji="1" lang="ja-JP" altLang="en-US" sz="3600" b="0"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endParaRPr>
          </a:p>
        </p:txBody>
      </p:sp>
    </p:spTree>
    <p:extLst>
      <p:ext uri="{BB962C8B-B14F-4D97-AF65-F5344CB8AC3E}">
        <p14:creationId xmlns:p14="http://schemas.microsoft.com/office/powerpoint/2010/main" val="1887432251"/>
      </p:ext>
    </p:extLst>
  </p:cSld>
  <p:clrMapOvr>
    <a:masterClrMapping/>
  </p:clrMapOvr>
</p:sld>
</file>

<file path=ppt/theme/theme1.xml><?xml version="1.0" encoding="utf-8"?>
<a:theme xmlns:a="http://schemas.openxmlformats.org/drawingml/2006/main" name="Office 2013 - 2022 テーマ">
  <a:themeElements>
    <a:clrScheme name="Office 2013 - 2022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1619</TotalTime>
  <Words>1100</Words>
  <Application>Microsoft Macintosh PowerPoint</Application>
  <PresentationFormat>ワイド画面</PresentationFormat>
  <Paragraphs>90</Paragraphs>
  <Slides>3</Slides>
  <Notes>3</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3</vt:i4>
      </vt:variant>
    </vt:vector>
  </HeadingPairs>
  <TitlesOfParts>
    <vt:vector size="11" baseType="lpstr">
      <vt:lpstr>HGP創英角ｺﾞｼｯｸUB</vt:lpstr>
      <vt:lpstr>ＭＳ ゴシック</vt:lpstr>
      <vt:lpstr>UD デジタル 教科書体 NP-B</vt:lpstr>
      <vt:lpstr>游ゴシック</vt:lpstr>
      <vt:lpstr>Arial</vt:lpstr>
      <vt:lpstr>Calibri</vt:lpstr>
      <vt:lpstr>Calibri Light</vt:lpstr>
      <vt:lpstr>Office 2013 - 2022 テーマ</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下村　隆也</dc:creator>
  <cp:lastModifiedBy>Akihiro Tozaki</cp:lastModifiedBy>
  <cp:revision>24</cp:revision>
  <cp:lastPrinted>2026-08-19T04:23:55Z</cp:lastPrinted>
  <dcterms:created xsi:type="dcterms:W3CDTF">2026-07-30T23:48:28Z</dcterms:created>
  <dcterms:modified xsi:type="dcterms:W3CDTF">2026-10-08T07:40:35Z</dcterms:modified>
</cp:coreProperties>
</file>